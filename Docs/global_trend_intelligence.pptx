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Bold" charset="1" panose="020F0702030404030204"/>
      <p:regular r:id="rId23"/>
    </p:embeddedFont>
    <p:embeddedFont>
      <p:font typeface="Trebuchet MS Bold" charset="1" panose="020B0703020202020204"/>
      <p:regular r:id="rId24"/>
    </p:embeddedFont>
    <p:embeddedFont>
      <p:font typeface="Calibri (MS)" charset="1" panose="020F0502020204030204"/>
      <p:regular r:id="rId25"/>
    </p:embeddedFont>
    <p:embeddedFont>
      <p:font typeface="Calibri (MS) Italics" charset="1" panose="020F05020202040A0204"/>
      <p:regular r:id="rId28"/>
    </p:embeddedFont>
    <p:embeddedFont>
      <p:font typeface="Trebuchet MS" charset="1" panose="020B0603020202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fonts/font28.fntdata" Type="http://schemas.openxmlformats.org/officeDocument/2006/relationships/font"/><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4251943" y="-12697"/>
            <a:ext cx="4048763" cy="10312403"/>
            <a:chOff x="0" y="0"/>
            <a:chExt cx="5398351" cy="13749871"/>
          </a:xfrm>
        </p:grpSpPr>
        <p:sp>
          <p:nvSpPr>
            <p:cNvPr name="Freeform 3" id="3"/>
            <p:cNvSpPr/>
            <p:nvPr/>
          </p:nvSpPr>
          <p:spPr>
            <a:xfrm flipH="false" flipV="false" rot="0">
              <a:off x="0" y="0"/>
              <a:ext cx="5398389" cy="13749910"/>
            </a:xfrm>
            <a:custGeom>
              <a:avLst/>
              <a:gdLst/>
              <a:ahLst/>
              <a:cxnLst/>
              <a:rect r="r" b="b" t="t" l="l"/>
              <a:pathLst>
                <a:path h="13749910" w="5398389">
                  <a:moveTo>
                    <a:pt x="0" y="0"/>
                  </a:moveTo>
                  <a:lnTo>
                    <a:pt x="5398389" y="0"/>
                  </a:lnTo>
                  <a:lnTo>
                    <a:pt x="5398389" y="13749910"/>
                  </a:lnTo>
                  <a:lnTo>
                    <a:pt x="0" y="13749910"/>
                  </a:lnTo>
                  <a:close/>
                </a:path>
              </a:pathLst>
            </a:custGeom>
            <a:solidFill>
              <a:srgbClr val="0A7E8C">
                <a:alpha val="1176"/>
              </a:srgbClr>
            </a:solidFill>
            <a:ln w="25400" cap="sq">
              <a:solidFill>
                <a:srgbClr val="0A7E8C"/>
              </a:solidFill>
              <a:prstDash val="solid"/>
              <a:miter/>
            </a:ln>
          </p:spPr>
        </p:sp>
      </p:grpSp>
      <p:grpSp>
        <p:nvGrpSpPr>
          <p:cNvPr name="Group 4" id="4"/>
          <p:cNvGrpSpPr/>
          <p:nvPr/>
        </p:nvGrpSpPr>
        <p:grpSpPr>
          <a:xfrm rot="0">
            <a:off x="16995143" y="-12697"/>
            <a:ext cx="1305563" cy="10312403"/>
            <a:chOff x="0" y="0"/>
            <a:chExt cx="1740751" cy="13749871"/>
          </a:xfrm>
        </p:grpSpPr>
        <p:sp>
          <p:nvSpPr>
            <p:cNvPr name="Freeform 5" id="5"/>
            <p:cNvSpPr/>
            <p:nvPr/>
          </p:nvSpPr>
          <p:spPr>
            <a:xfrm flipH="false" flipV="false" rot="0">
              <a:off x="0" y="0"/>
              <a:ext cx="1740789" cy="13749910"/>
            </a:xfrm>
            <a:custGeom>
              <a:avLst/>
              <a:gdLst/>
              <a:ahLst/>
              <a:cxnLst/>
              <a:rect r="r" b="b" t="t" l="l"/>
              <a:pathLst>
                <a:path h="13749910" w="1740789">
                  <a:moveTo>
                    <a:pt x="0" y="0"/>
                  </a:moveTo>
                  <a:lnTo>
                    <a:pt x="1740789" y="0"/>
                  </a:lnTo>
                  <a:lnTo>
                    <a:pt x="1740789" y="13749910"/>
                  </a:lnTo>
                  <a:lnTo>
                    <a:pt x="0" y="13749910"/>
                  </a:lnTo>
                  <a:close/>
                </a:path>
              </a:pathLst>
            </a:custGeom>
            <a:solidFill>
              <a:srgbClr val="0A7E8C">
                <a:alpha val="15686"/>
              </a:srgbClr>
            </a:solidFill>
            <a:ln w="25400" cap="sq">
              <a:solidFill>
                <a:srgbClr val="0A7E8C"/>
              </a:solidFill>
              <a:prstDash val="solid"/>
              <a:miter/>
            </a:ln>
          </p:spPr>
        </p:sp>
      </p:grpSp>
      <p:grpSp>
        <p:nvGrpSpPr>
          <p:cNvPr name="Group 6" id="6"/>
          <p:cNvGrpSpPr/>
          <p:nvPr/>
        </p:nvGrpSpPr>
        <p:grpSpPr>
          <a:xfrm rot="0">
            <a:off x="1097280" y="914400"/>
            <a:ext cx="12801600" cy="457200"/>
            <a:chOff x="0" y="0"/>
            <a:chExt cx="17068800" cy="609600"/>
          </a:xfrm>
        </p:grpSpPr>
        <p:sp>
          <p:nvSpPr>
            <p:cNvPr name="Freeform 7" id="7"/>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3">
                <a:alphaModFix amt="0"/>
              </a:blip>
              <a:stretch>
                <a:fillRect l="0" t="-495581" r="0" b="-495581"/>
              </a:stretch>
            </a:blipFill>
          </p:spPr>
        </p:sp>
        <p:sp>
          <p:nvSpPr>
            <p:cNvPr name="TextBox 8" id="8"/>
            <p:cNvSpPr txBox="true"/>
            <p:nvPr/>
          </p:nvSpPr>
          <p:spPr>
            <a:xfrm>
              <a:off x="0" y="-38100"/>
              <a:ext cx="17068800" cy="647700"/>
            </a:xfrm>
            <a:prstGeom prst="rect">
              <a:avLst/>
            </a:prstGeom>
          </p:spPr>
          <p:txBody>
            <a:bodyPr anchor="ctr" rtlCol="false" tIns="0" lIns="0" bIns="0" rIns="0"/>
            <a:lstStyle/>
            <a:p>
              <a:pPr algn="l">
                <a:lnSpc>
                  <a:spcPts val="2160"/>
                </a:lnSpc>
              </a:pPr>
              <a:r>
                <a:rPr lang="en-US" b="true" sz="1800" spc="400">
                  <a:solidFill>
                    <a:srgbClr val="12B5C8"/>
                  </a:solidFill>
                  <a:latin typeface="Calibri (MS) Bold"/>
                  <a:ea typeface="Calibri (MS) Bold"/>
                  <a:cs typeface="Calibri (MS) Bold"/>
                  <a:sym typeface="Calibri (MS) Bold"/>
                </a:rPr>
                <a:t>Portfolio Project</a:t>
              </a:r>
            </a:p>
          </p:txBody>
        </p:sp>
      </p:grpSp>
      <p:grpSp>
        <p:nvGrpSpPr>
          <p:cNvPr name="Group 9" id="9"/>
          <p:cNvGrpSpPr/>
          <p:nvPr/>
        </p:nvGrpSpPr>
        <p:grpSpPr>
          <a:xfrm rot="0">
            <a:off x="1097280" y="2011680"/>
            <a:ext cx="12801600" cy="1645920"/>
            <a:chOff x="0" y="0"/>
            <a:chExt cx="17068800" cy="2194560"/>
          </a:xfrm>
        </p:grpSpPr>
        <p:sp>
          <p:nvSpPr>
            <p:cNvPr name="Freeform 10" id="10"/>
            <p:cNvSpPr/>
            <p:nvPr/>
          </p:nvSpPr>
          <p:spPr>
            <a:xfrm flipH="false" flipV="false" rot="0">
              <a:off x="0" y="0"/>
              <a:ext cx="17068800" cy="2194560"/>
            </a:xfrm>
            <a:custGeom>
              <a:avLst/>
              <a:gdLst/>
              <a:ahLst/>
              <a:cxnLst/>
              <a:rect r="r" b="b" t="t" l="l"/>
              <a:pathLst>
                <a:path h="2194560" w="17068800">
                  <a:moveTo>
                    <a:pt x="0" y="0"/>
                  </a:moveTo>
                  <a:lnTo>
                    <a:pt x="17068800" y="0"/>
                  </a:lnTo>
                  <a:lnTo>
                    <a:pt x="17068800" y="2194560"/>
                  </a:lnTo>
                  <a:lnTo>
                    <a:pt x="0" y="2194560"/>
                  </a:lnTo>
                  <a:close/>
                </a:path>
              </a:pathLst>
            </a:custGeom>
            <a:blipFill>
              <a:blip r:embed="rId3">
                <a:alphaModFix amt="0"/>
              </a:blip>
              <a:stretch>
                <a:fillRect l="0" t="-101550" r="0" b="-101550"/>
              </a:stretch>
            </a:blipFill>
          </p:spPr>
        </p:sp>
        <p:sp>
          <p:nvSpPr>
            <p:cNvPr name="TextBox 11" id="11"/>
            <p:cNvSpPr txBox="true"/>
            <p:nvPr/>
          </p:nvSpPr>
          <p:spPr>
            <a:xfrm>
              <a:off x="0" y="-9525"/>
              <a:ext cx="17068800" cy="2204085"/>
            </a:xfrm>
            <a:prstGeom prst="rect">
              <a:avLst/>
            </a:prstGeom>
          </p:spPr>
          <p:txBody>
            <a:bodyPr anchor="ctr" rtlCol="false" tIns="0" lIns="0" bIns="0" rIns="0"/>
            <a:lstStyle/>
            <a:p>
              <a:pPr algn="l">
                <a:lnSpc>
                  <a:spcPts val="9600"/>
                </a:lnSpc>
              </a:pPr>
              <a:r>
                <a:rPr lang="en-US" sz="8000" b="true">
                  <a:solidFill>
                    <a:srgbClr val="FFFFFF"/>
                  </a:solidFill>
                  <a:latin typeface="Trebuchet MS Bold"/>
                  <a:ea typeface="Trebuchet MS Bold"/>
                  <a:cs typeface="Trebuchet MS Bold"/>
                  <a:sym typeface="Trebuchet MS Bold"/>
                </a:rPr>
                <a:t>Global Trend Intelligence</a:t>
              </a:r>
            </a:p>
          </p:txBody>
        </p:sp>
      </p:grpSp>
      <p:grpSp>
        <p:nvGrpSpPr>
          <p:cNvPr name="Group 12" id="12"/>
          <p:cNvGrpSpPr/>
          <p:nvPr/>
        </p:nvGrpSpPr>
        <p:grpSpPr>
          <a:xfrm rot="0">
            <a:off x="1097280" y="3566160"/>
            <a:ext cx="12801600" cy="1463040"/>
            <a:chOff x="0" y="0"/>
            <a:chExt cx="17068800" cy="1950720"/>
          </a:xfrm>
        </p:grpSpPr>
        <p:sp>
          <p:nvSpPr>
            <p:cNvPr name="Freeform 13" id="13"/>
            <p:cNvSpPr/>
            <p:nvPr/>
          </p:nvSpPr>
          <p:spPr>
            <a:xfrm flipH="false" flipV="false" rot="0">
              <a:off x="0" y="0"/>
              <a:ext cx="17068800" cy="1950720"/>
            </a:xfrm>
            <a:custGeom>
              <a:avLst/>
              <a:gdLst/>
              <a:ahLst/>
              <a:cxnLst/>
              <a:rect r="r" b="b" t="t" l="l"/>
              <a:pathLst>
                <a:path h="1950720" w="17068800">
                  <a:moveTo>
                    <a:pt x="0" y="0"/>
                  </a:moveTo>
                  <a:lnTo>
                    <a:pt x="17068800" y="0"/>
                  </a:lnTo>
                  <a:lnTo>
                    <a:pt x="17068800" y="1950720"/>
                  </a:lnTo>
                  <a:lnTo>
                    <a:pt x="0" y="1950720"/>
                  </a:lnTo>
                  <a:close/>
                </a:path>
              </a:pathLst>
            </a:custGeom>
            <a:blipFill>
              <a:blip r:embed="rId3">
                <a:alphaModFix amt="0"/>
              </a:blip>
              <a:stretch>
                <a:fillRect l="0" t="-120494" r="0" b="-120494"/>
              </a:stretch>
            </a:blipFill>
          </p:spPr>
        </p:sp>
        <p:sp>
          <p:nvSpPr>
            <p:cNvPr name="TextBox 14" id="14"/>
            <p:cNvSpPr txBox="true"/>
            <p:nvPr/>
          </p:nvSpPr>
          <p:spPr>
            <a:xfrm>
              <a:off x="0" y="-9525"/>
              <a:ext cx="17068800" cy="1960245"/>
            </a:xfrm>
            <a:prstGeom prst="rect">
              <a:avLst/>
            </a:prstGeom>
          </p:spPr>
          <p:txBody>
            <a:bodyPr anchor="ctr" rtlCol="false" tIns="0" lIns="0" bIns="0" rIns="0"/>
            <a:lstStyle/>
            <a:p>
              <a:pPr algn="l">
                <a:lnSpc>
                  <a:spcPts val="9600"/>
                </a:lnSpc>
              </a:pPr>
              <a:r>
                <a:rPr lang="en-US" sz="8000" b="true">
                  <a:solidFill>
                    <a:srgbClr val="12B5C8"/>
                  </a:solidFill>
                  <a:latin typeface="Trebuchet MS Bold"/>
                  <a:ea typeface="Trebuchet MS Bold"/>
                  <a:cs typeface="Trebuchet MS Bold"/>
                  <a:sym typeface="Trebuchet MS Bold"/>
                </a:rPr>
                <a:t>Dashboard</a:t>
              </a:r>
            </a:p>
          </p:txBody>
        </p:sp>
      </p:grpSp>
      <p:grpSp>
        <p:nvGrpSpPr>
          <p:cNvPr name="Group 15" id="15"/>
          <p:cNvGrpSpPr/>
          <p:nvPr/>
        </p:nvGrpSpPr>
        <p:grpSpPr>
          <a:xfrm rot="0">
            <a:off x="1097280" y="5303520"/>
            <a:ext cx="12435840" cy="1463040"/>
            <a:chOff x="0" y="0"/>
            <a:chExt cx="16581120" cy="1950720"/>
          </a:xfrm>
        </p:grpSpPr>
        <p:sp>
          <p:nvSpPr>
            <p:cNvPr name="Freeform 16" id="16"/>
            <p:cNvSpPr/>
            <p:nvPr/>
          </p:nvSpPr>
          <p:spPr>
            <a:xfrm flipH="false" flipV="false" rot="0">
              <a:off x="0" y="0"/>
              <a:ext cx="16581120" cy="1950720"/>
            </a:xfrm>
            <a:custGeom>
              <a:avLst/>
              <a:gdLst/>
              <a:ahLst/>
              <a:cxnLst/>
              <a:rect r="r" b="b" t="t" l="l"/>
              <a:pathLst>
                <a:path h="1950720" w="16581120">
                  <a:moveTo>
                    <a:pt x="0" y="0"/>
                  </a:moveTo>
                  <a:lnTo>
                    <a:pt x="16581120" y="0"/>
                  </a:lnTo>
                  <a:lnTo>
                    <a:pt x="16581120" y="1950720"/>
                  </a:lnTo>
                  <a:lnTo>
                    <a:pt x="0" y="1950720"/>
                  </a:lnTo>
                  <a:close/>
                </a:path>
              </a:pathLst>
            </a:custGeom>
            <a:blipFill>
              <a:blip r:embed="rId3">
                <a:alphaModFix amt="0"/>
              </a:blip>
              <a:stretch>
                <a:fillRect l="0" t="-115622" r="0" b="-115622"/>
              </a:stretch>
            </a:blipFill>
          </p:spPr>
        </p:sp>
        <p:sp>
          <p:nvSpPr>
            <p:cNvPr name="TextBox 17" id="17"/>
            <p:cNvSpPr txBox="true"/>
            <p:nvPr/>
          </p:nvSpPr>
          <p:spPr>
            <a:xfrm>
              <a:off x="0" y="-142875"/>
              <a:ext cx="16581120" cy="2093595"/>
            </a:xfrm>
            <a:prstGeom prst="rect">
              <a:avLst/>
            </a:prstGeom>
          </p:spPr>
          <p:txBody>
            <a:bodyPr anchor="ctr" rtlCol="false" tIns="0" lIns="0" bIns="0" rIns="0"/>
            <a:lstStyle/>
            <a:p>
              <a:pPr algn="l">
                <a:lnSpc>
                  <a:spcPts val="4056"/>
                </a:lnSpc>
              </a:pPr>
              <a:r>
                <a:rPr lang="en-US" sz="2600">
                  <a:solidFill>
                    <a:srgbClr val="A8C4CC"/>
                  </a:solidFill>
                  <a:latin typeface="Calibri (MS)"/>
                  <a:ea typeface="Calibri (MS)"/>
                  <a:cs typeface="Calibri (MS)"/>
                  <a:sym typeface="Calibri (MS)"/>
                </a:rPr>
                <a:t>Turning 3.1 million Google Trends data points into</a:t>
              </a:r>
            </a:p>
            <a:p>
              <a:pPr algn="l">
                <a:lnSpc>
                  <a:spcPts val="4056"/>
                </a:lnSpc>
              </a:pPr>
              <a:r>
                <a:rPr lang="en-US" sz="2600">
                  <a:solidFill>
                    <a:srgbClr val="A8C4CC"/>
                  </a:solidFill>
                  <a:latin typeface="Calibri (MS)"/>
                  <a:ea typeface="Calibri (MS)"/>
                  <a:cs typeface="Calibri (MS)"/>
                  <a:sym typeface="Calibri (MS)"/>
                </a:rPr>
                <a:t>strategic decisions about where, what, and when to act.</a:t>
              </a:r>
            </a:p>
          </p:txBody>
        </p:sp>
      </p:grpSp>
      <p:grpSp>
        <p:nvGrpSpPr>
          <p:cNvPr name="Group 18" id="18"/>
          <p:cNvGrpSpPr/>
          <p:nvPr/>
        </p:nvGrpSpPr>
        <p:grpSpPr>
          <a:xfrm rot="0">
            <a:off x="1084583" y="7302503"/>
            <a:ext cx="12827003" cy="27232"/>
            <a:chOff x="0" y="0"/>
            <a:chExt cx="17102671" cy="36309"/>
          </a:xfrm>
        </p:grpSpPr>
        <p:sp>
          <p:nvSpPr>
            <p:cNvPr name="Freeform 19" id="19"/>
            <p:cNvSpPr/>
            <p:nvPr/>
          </p:nvSpPr>
          <p:spPr>
            <a:xfrm flipH="false" flipV="false" rot="0">
              <a:off x="0" y="0"/>
              <a:ext cx="17102710" cy="36322"/>
            </a:xfrm>
            <a:custGeom>
              <a:avLst/>
              <a:gdLst/>
              <a:ahLst/>
              <a:cxnLst/>
              <a:rect r="r" b="b" t="t" l="l"/>
              <a:pathLst>
                <a:path h="36322" w="17102710">
                  <a:moveTo>
                    <a:pt x="0" y="0"/>
                  </a:moveTo>
                  <a:lnTo>
                    <a:pt x="17102710" y="0"/>
                  </a:lnTo>
                  <a:lnTo>
                    <a:pt x="17102710" y="36322"/>
                  </a:lnTo>
                  <a:lnTo>
                    <a:pt x="0" y="36322"/>
                  </a:lnTo>
                  <a:close/>
                </a:path>
              </a:pathLst>
            </a:custGeom>
            <a:solidFill>
              <a:srgbClr val="0A7E8C">
                <a:alpha val="35686"/>
              </a:srgbClr>
            </a:solidFill>
            <a:ln w="25400" cap="sq">
              <a:solidFill>
                <a:srgbClr val="0A7E8C"/>
              </a:solidFill>
              <a:prstDash val="solid"/>
              <a:miter/>
            </a:ln>
          </p:spPr>
        </p:sp>
      </p:grpSp>
      <p:grpSp>
        <p:nvGrpSpPr>
          <p:cNvPr name="Group 20" id="20"/>
          <p:cNvGrpSpPr/>
          <p:nvPr/>
        </p:nvGrpSpPr>
        <p:grpSpPr>
          <a:xfrm rot="0">
            <a:off x="1097280" y="7498080"/>
            <a:ext cx="12801600" cy="457200"/>
            <a:chOff x="0" y="0"/>
            <a:chExt cx="17068800" cy="609600"/>
          </a:xfrm>
        </p:grpSpPr>
        <p:sp>
          <p:nvSpPr>
            <p:cNvPr name="Freeform 21" id="21"/>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3">
                <a:alphaModFix amt="0"/>
              </a:blip>
              <a:stretch>
                <a:fillRect l="0" t="-495581" r="0" b="-495581"/>
              </a:stretch>
            </a:blipFill>
          </p:spPr>
        </p:sp>
        <p:sp>
          <p:nvSpPr>
            <p:cNvPr name="TextBox 22" id="22"/>
            <p:cNvSpPr txBox="true"/>
            <p:nvPr/>
          </p:nvSpPr>
          <p:spPr>
            <a:xfrm>
              <a:off x="0" y="-38100"/>
              <a:ext cx="17068800" cy="64770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40 Countries  ·  986 Regions  ·  266 Weeks  ·  23,352 Terms  ·  March 2021 – April 2026</a:t>
              </a:r>
            </a:p>
          </p:txBody>
        </p:sp>
      </p:grpSp>
      <p:grpSp>
        <p:nvGrpSpPr>
          <p:cNvPr name="Group 23" id="23"/>
          <p:cNvGrpSpPr/>
          <p:nvPr/>
        </p:nvGrpSpPr>
        <p:grpSpPr>
          <a:xfrm rot="0">
            <a:off x="1097280" y="9326880"/>
            <a:ext cx="13716000" cy="365760"/>
            <a:chOff x="0" y="0"/>
            <a:chExt cx="18288000" cy="487680"/>
          </a:xfrm>
        </p:grpSpPr>
        <p:sp>
          <p:nvSpPr>
            <p:cNvPr name="Freeform 24" id="24"/>
            <p:cNvSpPr/>
            <p:nvPr/>
          </p:nvSpPr>
          <p:spPr>
            <a:xfrm flipH="false" flipV="false" rot="0">
              <a:off x="0" y="0"/>
              <a:ext cx="18288000" cy="487680"/>
            </a:xfrm>
            <a:custGeom>
              <a:avLst/>
              <a:gdLst/>
              <a:ahLst/>
              <a:cxnLst/>
              <a:rect r="r" b="b" t="t" l="l"/>
              <a:pathLst>
                <a:path h="487680" w="18288000">
                  <a:moveTo>
                    <a:pt x="0" y="0"/>
                  </a:moveTo>
                  <a:lnTo>
                    <a:pt x="18288000" y="0"/>
                  </a:lnTo>
                  <a:lnTo>
                    <a:pt x="18288000" y="487680"/>
                  </a:lnTo>
                  <a:lnTo>
                    <a:pt x="0" y="487680"/>
                  </a:lnTo>
                  <a:close/>
                </a:path>
              </a:pathLst>
            </a:custGeom>
            <a:blipFill>
              <a:blip r:embed="rId3">
                <a:alphaModFix amt="0"/>
              </a:blip>
              <a:stretch>
                <a:fillRect l="0" t="-680688" r="0" b="-680688"/>
              </a:stretch>
            </a:blipFill>
          </p:spPr>
        </p:sp>
        <p:sp>
          <p:nvSpPr>
            <p:cNvPr name="TextBox 25" id="25"/>
            <p:cNvSpPr txBox="true"/>
            <p:nvPr/>
          </p:nvSpPr>
          <p:spPr>
            <a:xfrm>
              <a:off x="0" y="-38100"/>
              <a:ext cx="18288000" cy="525780"/>
            </a:xfrm>
            <a:prstGeom prst="rect">
              <a:avLst/>
            </a:prstGeom>
          </p:spPr>
          <p:txBody>
            <a:bodyPr anchor="ctr" rtlCol="false" tIns="0" lIns="0" bIns="0" rIns="0"/>
            <a:lstStyle/>
            <a:p>
              <a:pPr algn="l">
                <a:lnSpc>
                  <a:spcPts val="2160"/>
                </a:lnSpc>
              </a:pPr>
              <a:r>
                <a:rPr lang="en-US" sz="1800">
                  <a:solidFill>
                    <a:srgbClr val="4A6572"/>
                  </a:solidFill>
                  <a:latin typeface="Calibri (MS)"/>
                  <a:ea typeface="Calibri (MS)"/>
                  <a:cs typeface="Calibri (MS)"/>
                  <a:sym typeface="Calibri (MS)"/>
                </a:rPr>
                <a:t>Data source: Google Trends via BigQuery public dataset (bigquery-public-data.google_trends)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16093440" cy="457200"/>
            <a:chOff x="0" y="0"/>
            <a:chExt cx="21457920" cy="609600"/>
          </a:xfrm>
        </p:grpSpPr>
        <p:sp>
          <p:nvSpPr>
            <p:cNvPr name="Freeform 3" id="3"/>
            <p:cNvSpPr/>
            <p:nvPr/>
          </p:nvSpPr>
          <p:spPr>
            <a:xfrm flipH="false" flipV="false" rot="0">
              <a:off x="0" y="0"/>
              <a:ext cx="21457920" cy="609600"/>
            </a:xfrm>
            <a:custGeom>
              <a:avLst/>
              <a:gdLst/>
              <a:ahLst/>
              <a:cxnLst/>
              <a:rect r="r" b="b" t="t" l="l"/>
              <a:pathLst>
                <a:path h="609600" w="21457920">
                  <a:moveTo>
                    <a:pt x="0" y="0"/>
                  </a:moveTo>
                  <a:lnTo>
                    <a:pt x="21457920" y="0"/>
                  </a:lnTo>
                  <a:lnTo>
                    <a:pt x="21457920" y="609600"/>
                  </a:lnTo>
                  <a:lnTo>
                    <a:pt x="0" y="609600"/>
                  </a:lnTo>
                  <a:close/>
                </a:path>
              </a:pathLst>
            </a:custGeom>
            <a:blipFill>
              <a:blip r:embed="rId3">
                <a:alphaModFix amt="0"/>
              </a:blip>
              <a:stretch>
                <a:fillRect l="0" t="-635873" r="0" b="-635873"/>
              </a:stretch>
            </a:blipFill>
          </p:spPr>
        </p:sp>
        <p:sp>
          <p:nvSpPr>
            <p:cNvPr name="TextBox 4" id="4"/>
            <p:cNvSpPr txBox="true"/>
            <p:nvPr/>
          </p:nvSpPr>
          <p:spPr>
            <a:xfrm>
              <a:off x="0" y="-38100"/>
              <a:ext cx="21457920" cy="647700"/>
            </a:xfrm>
            <a:prstGeom prst="rect">
              <a:avLst/>
            </a:prstGeom>
          </p:spPr>
          <p:txBody>
            <a:bodyPr anchor="ctr" rtlCol="false" tIns="0" lIns="0" bIns="0" rIns="0"/>
            <a:lstStyle/>
            <a:p>
              <a:pPr algn="l">
                <a:lnSpc>
                  <a:spcPts val="2160"/>
                </a:lnSpc>
              </a:pPr>
              <a:r>
                <a:rPr lang="en-US" b="true" sz="1800" spc="599">
                  <a:solidFill>
                    <a:srgbClr val="12B5C8"/>
                  </a:solidFill>
                  <a:latin typeface="Calibri (MS) Bold"/>
                  <a:ea typeface="Calibri (MS) Bold"/>
                  <a:cs typeface="Calibri (MS) Bold"/>
                  <a:sym typeface="Calibri (MS) Bold"/>
                </a:rPr>
                <a:t>HOW THIS STORY IS STRUCTURED</a:t>
              </a:r>
            </a:p>
          </p:txBody>
        </p:sp>
      </p:grpSp>
      <p:grpSp>
        <p:nvGrpSpPr>
          <p:cNvPr name="Group 5" id="5"/>
          <p:cNvGrpSpPr/>
          <p:nvPr/>
        </p:nvGrpSpPr>
        <p:grpSpPr>
          <a:xfrm rot="0">
            <a:off x="1097280" y="1188720"/>
            <a:ext cx="16093440" cy="1005840"/>
            <a:chOff x="0" y="0"/>
            <a:chExt cx="21457920" cy="1341120"/>
          </a:xfrm>
        </p:grpSpPr>
        <p:sp>
          <p:nvSpPr>
            <p:cNvPr name="Freeform 6" id="6"/>
            <p:cNvSpPr/>
            <p:nvPr/>
          </p:nvSpPr>
          <p:spPr>
            <a:xfrm flipH="false" flipV="false" rot="0">
              <a:off x="0" y="0"/>
              <a:ext cx="21457920" cy="1341120"/>
            </a:xfrm>
            <a:custGeom>
              <a:avLst/>
              <a:gdLst/>
              <a:ahLst/>
              <a:cxnLst/>
              <a:rect r="r" b="b" t="t" l="l"/>
              <a:pathLst>
                <a:path h="1341120" w="21457920">
                  <a:moveTo>
                    <a:pt x="0" y="0"/>
                  </a:moveTo>
                  <a:lnTo>
                    <a:pt x="21457920" y="0"/>
                  </a:lnTo>
                  <a:lnTo>
                    <a:pt x="21457920" y="1341120"/>
                  </a:lnTo>
                  <a:lnTo>
                    <a:pt x="0" y="1341120"/>
                  </a:lnTo>
                  <a:close/>
                </a:path>
              </a:pathLst>
            </a:custGeom>
            <a:blipFill>
              <a:blip r:embed="rId3">
                <a:alphaModFix amt="0"/>
              </a:blip>
              <a:stretch>
                <a:fillRect l="0" t="-261760" r="0" b="-261760"/>
              </a:stretch>
            </a:blipFill>
          </p:spPr>
        </p:sp>
        <p:sp>
          <p:nvSpPr>
            <p:cNvPr name="TextBox 7" id="7"/>
            <p:cNvSpPr txBox="true"/>
            <p:nvPr/>
          </p:nvSpPr>
          <p:spPr>
            <a:xfrm>
              <a:off x="0" y="-9525"/>
              <a:ext cx="21457920" cy="1350645"/>
            </a:xfrm>
            <a:prstGeom prst="rect">
              <a:avLst/>
            </a:prstGeom>
          </p:spPr>
          <p:txBody>
            <a:bodyPr anchor="ctr" rtlCol="false" tIns="0" lIns="0" bIns="0" rIns="0"/>
            <a:lstStyle/>
            <a:p>
              <a:pPr algn="l">
                <a:lnSpc>
                  <a:spcPts val="6719"/>
                </a:lnSpc>
              </a:pPr>
              <a:r>
                <a:rPr lang="en-US" sz="5599" b="true">
                  <a:solidFill>
                    <a:srgbClr val="FFFFFF"/>
                  </a:solidFill>
                  <a:latin typeface="Trebuchet MS Bold"/>
                  <a:ea typeface="Trebuchet MS Bold"/>
                  <a:cs typeface="Trebuchet MS Bold"/>
                  <a:sym typeface="Trebuchet MS Bold"/>
                </a:rPr>
                <a:t>The SCQA Framework</a:t>
              </a:r>
            </a:p>
          </p:txBody>
        </p:sp>
      </p:grpSp>
      <p:grpSp>
        <p:nvGrpSpPr>
          <p:cNvPr name="Group 8" id="8"/>
          <p:cNvGrpSpPr/>
          <p:nvPr/>
        </p:nvGrpSpPr>
        <p:grpSpPr>
          <a:xfrm rot="0">
            <a:off x="908047" y="2828287"/>
            <a:ext cx="3853177" cy="6596377"/>
            <a:chOff x="0" y="0"/>
            <a:chExt cx="5137569" cy="8795169"/>
          </a:xfrm>
        </p:grpSpPr>
        <p:sp>
          <p:nvSpPr>
            <p:cNvPr name="Freeform 9" id="9"/>
            <p:cNvSpPr/>
            <p:nvPr/>
          </p:nvSpPr>
          <p:spPr>
            <a:xfrm flipH="false" flipV="false" rot="0">
              <a:off x="0" y="0"/>
              <a:ext cx="5137531" cy="8795131"/>
            </a:xfrm>
            <a:custGeom>
              <a:avLst/>
              <a:gdLst/>
              <a:ahLst/>
              <a:cxnLst/>
              <a:rect r="r" b="b" t="t" l="l"/>
              <a:pathLst>
                <a:path h="8795131" w="5137531">
                  <a:moveTo>
                    <a:pt x="0" y="0"/>
                  </a:moveTo>
                  <a:lnTo>
                    <a:pt x="5137531" y="0"/>
                  </a:lnTo>
                  <a:lnTo>
                    <a:pt x="5137531" y="8795131"/>
                  </a:lnTo>
                  <a:lnTo>
                    <a:pt x="0" y="8795131"/>
                  </a:lnTo>
                  <a:close/>
                </a:path>
              </a:pathLst>
            </a:custGeom>
            <a:solidFill>
              <a:srgbClr val="FFFFFF">
                <a:alpha val="0"/>
              </a:srgbClr>
            </a:solidFill>
            <a:ln w="12700" cap="sq">
              <a:solidFill>
                <a:srgbClr val="E2E8F0"/>
              </a:solidFill>
              <a:prstDash val="solid"/>
              <a:miter/>
            </a:ln>
          </p:spPr>
        </p:sp>
      </p:grpSp>
      <p:grpSp>
        <p:nvGrpSpPr>
          <p:cNvPr name="Group 10" id="10"/>
          <p:cNvGrpSpPr/>
          <p:nvPr/>
        </p:nvGrpSpPr>
        <p:grpSpPr>
          <a:xfrm rot="0">
            <a:off x="901703" y="2821943"/>
            <a:ext cx="3865883" cy="135131"/>
            <a:chOff x="0" y="0"/>
            <a:chExt cx="5154511" cy="180175"/>
          </a:xfrm>
        </p:grpSpPr>
        <p:sp>
          <p:nvSpPr>
            <p:cNvPr name="Freeform 11" id="11"/>
            <p:cNvSpPr/>
            <p:nvPr/>
          </p:nvSpPr>
          <p:spPr>
            <a:xfrm flipH="false" flipV="false" rot="0">
              <a:off x="0" y="0"/>
              <a:ext cx="5154549" cy="180213"/>
            </a:xfrm>
            <a:custGeom>
              <a:avLst/>
              <a:gdLst/>
              <a:ahLst/>
              <a:cxnLst/>
              <a:rect r="r" b="b" t="t" l="l"/>
              <a:pathLst>
                <a:path h="180213" w="5154549">
                  <a:moveTo>
                    <a:pt x="0" y="0"/>
                  </a:moveTo>
                  <a:lnTo>
                    <a:pt x="5154549" y="0"/>
                  </a:lnTo>
                  <a:lnTo>
                    <a:pt x="5154549" y="180213"/>
                  </a:lnTo>
                  <a:lnTo>
                    <a:pt x="0" y="180213"/>
                  </a:lnTo>
                  <a:close/>
                </a:path>
              </a:pathLst>
            </a:custGeom>
            <a:solidFill>
              <a:srgbClr val="0A7E8C"/>
            </a:solidFill>
            <a:ln w="25400" cap="sq">
              <a:solidFill>
                <a:srgbClr val="0A7E8C"/>
              </a:solidFill>
              <a:prstDash val="solid"/>
              <a:miter/>
            </a:ln>
          </p:spPr>
        </p:sp>
      </p:grpSp>
      <p:grpSp>
        <p:nvGrpSpPr>
          <p:cNvPr name="Group 12" id="12"/>
          <p:cNvGrpSpPr/>
          <p:nvPr/>
        </p:nvGrpSpPr>
        <p:grpSpPr>
          <a:xfrm rot="0">
            <a:off x="914400" y="3054096"/>
            <a:ext cx="3840480" cy="1645920"/>
            <a:chOff x="0" y="0"/>
            <a:chExt cx="5120640" cy="2194560"/>
          </a:xfrm>
        </p:grpSpPr>
        <p:sp>
          <p:nvSpPr>
            <p:cNvPr name="Freeform 13" id="13"/>
            <p:cNvSpPr/>
            <p:nvPr/>
          </p:nvSpPr>
          <p:spPr>
            <a:xfrm flipH="false" flipV="false" rot="0">
              <a:off x="0" y="0"/>
              <a:ext cx="5120640" cy="2194560"/>
            </a:xfrm>
            <a:custGeom>
              <a:avLst/>
              <a:gdLst/>
              <a:ahLst/>
              <a:cxnLst/>
              <a:rect r="r" b="b" t="t" l="l"/>
              <a:pathLst>
                <a:path h="2194560" w="5120640">
                  <a:moveTo>
                    <a:pt x="0" y="0"/>
                  </a:moveTo>
                  <a:lnTo>
                    <a:pt x="5120640" y="0"/>
                  </a:lnTo>
                  <a:lnTo>
                    <a:pt x="5120640" y="2194560"/>
                  </a:lnTo>
                  <a:lnTo>
                    <a:pt x="0" y="2194560"/>
                  </a:lnTo>
                  <a:close/>
                </a:path>
              </a:pathLst>
            </a:custGeom>
            <a:blipFill>
              <a:blip r:embed="rId3">
                <a:alphaModFix amt="0"/>
              </a:blip>
              <a:stretch>
                <a:fillRect l="-4987" t="0" r="-4987" b="0"/>
              </a:stretch>
            </a:blipFill>
          </p:spPr>
        </p:sp>
        <p:sp>
          <p:nvSpPr>
            <p:cNvPr name="TextBox 14" id="14"/>
            <p:cNvSpPr txBox="true"/>
            <p:nvPr/>
          </p:nvSpPr>
          <p:spPr>
            <a:xfrm>
              <a:off x="0" y="0"/>
              <a:ext cx="5120640" cy="2194560"/>
            </a:xfrm>
            <a:prstGeom prst="rect">
              <a:avLst/>
            </a:prstGeom>
          </p:spPr>
          <p:txBody>
            <a:bodyPr anchor="ctr" rtlCol="false" tIns="0" lIns="0" bIns="0" rIns="0"/>
            <a:lstStyle/>
            <a:p>
              <a:pPr algn="ctr">
                <a:lnSpc>
                  <a:spcPts val="12480"/>
                </a:lnSpc>
              </a:pPr>
              <a:r>
                <a:rPr lang="en-US" sz="10400" b="true">
                  <a:solidFill>
                    <a:srgbClr val="0A7E8C"/>
                  </a:solidFill>
                  <a:latin typeface="Trebuchet MS Bold"/>
                  <a:ea typeface="Trebuchet MS Bold"/>
                  <a:cs typeface="Trebuchet MS Bold"/>
                  <a:sym typeface="Trebuchet MS Bold"/>
                </a:rPr>
                <a:t>S</a:t>
              </a:r>
            </a:p>
          </p:txBody>
        </p:sp>
      </p:grpSp>
      <p:grpSp>
        <p:nvGrpSpPr>
          <p:cNvPr name="Group 15" id="15"/>
          <p:cNvGrpSpPr/>
          <p:nvPr/>
        </p:nvGrpSpPr>
        <p:grpSpPr>
          <a:xfrm rot="0">
            <a:off x="914400" y="4663440"/>
            <a:ext cx="3840480" cy="640080"/>
            <a:chOff x="0" y="0"/>
            <a:chExt cx="5120640" cy="853440"/>
          </a:xfrm>
        </p:grpSpPr>
        <p:sp>
          <p:nvSpPr>
            <p:cNvPr name="Freeform 16" id="16"/>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17" id="17"/>
            <p:cNvSpPr txBox="true"/>
            <p:nvPr/>
          </p:nvSpPr>
          <p:spPr>
            <a:xfrm>
              <a:off x="0" y="-9525"/>
              <a:ext cx="5120640" cy="862965"/>
            </a:xfrm>
            <a:prstGeom prst="rect">
              <a:avLst/>
            </a:prstGeom>
          </p:spPr>
          <p:txBody>
            <a:bodyPr anchor="ctr" rtlCol="false" tIns="0" lIns="0" bIns="0" rIns="0"/>
            <a:lstStyle/>
            <a:p>
              <a:pPr algn="ctr">
                <a:lnSpc>
                  <a:spcPts val="2879"/>
                </a:lnSpc>
              </a:pPr>
              <a:r>
                <a:rPr lang="en-US" sz="2400" b="true">
                  <a:solidFill>
                    <a:srgbClr val="FFFFFF"/>
                  </a:solidFill>
                  <a:latin typeface="Trebuchet MS Bold"/>
                  <a:ea typeface="Trebuchet MS Bold"/>
                  <a:cs typeface="Trebuchet MS Bold"/>
                  <a:sym typeface="Trebuchet MS Bold"/>
                </a:rPr>
                <a:t>Situation</a:t>
              </a:r>
            </a:p>
          </p:txBody>
        </p:sp>
      </p:grpSp>
      <p:sp>
        <p:nvSpPr>
          <p:cNvPr name="TextBox 18" id="18"/>
          <p:cNvSpPr txBox="true"/>
          <p:nvPr/>
        </p:nvSpPr>
        <p:spPr>
          <a:xfrm rot="0">
            <a:off x="1225296" y="5372481"/>
            <a:ext cx="3218688" cy="1965960"/>
          </a:xfrm>
          <a:prstGeom prst="rect">
            <a:avLst/>
          </a:prstGeom>
        </p:spPr>
        <p:txBody>
          <a:bodyPr anchor="t" rtlCol="false" tIns="0" lIns="0" bIns="0" rIns="0">
            <a:spAutoFit/>
          </a:bodyPr>
          <a:lstStyle/>
          <a:p>
            <a:pPr algn="l">
              <a:lnSpc>
                <a:spcPts val="3120"/>
              </a:lnSpc>
            </a:pPr>
            <a:r>
              <a:rPr lang="en-US" sz="2000">
                <a:solidFill>
                  <a:srgbClr val="A8C4CC"/>
                </a:solidFill>
                <a:latin typeface="Calibri (MS)"/>
                <a:ea typeface="Calibri (MS)"/>
                <a:cs typeface="Calibri (MS)"/>
                <a:sym typeface="Calibri (MS)"/>
              </a:rPr>
              <a:t>What is the business context?</a:t>
            </a:r>
          </a:p>
          <a:p>
            <a:pPr algn="l">
              <a:lnSpc>
                <a:spcPts val="3120"/>
              </a:lnSpc>
            </a:pPr>
            <a:r>
              <a:rPr lang="en-US" sz="2000">
                <a:solidFill>
                  <a:srgbClr val="A8C4CC"/>
                </a:solidFill>
                <a:latin typeface="Calibri (MS)"/>
                <a:ea typeface="Calibri (MS)"/>
                <a:cs typeface="Calibri (MS)"/>
                <a:sym typeface="Calibri (MS)"/>
              </a:rPr>
              <a:t>Content teams are making trend decisions at global scale every week, but without systematic intelligence.</a:t>
            </a:r>
          </a:p>
        </p:txBody>
      </p:sp>
      <p:grpSp>
        <p:nvGrpSpPr>
          <p:cNvPr name="Group 19" id="19"/>
          <p:cNvGrpSpPr/>
          <p:nvPr/>
        </p:nvGrpSpPr>
        <p:grpSpPr>
          <a:xfrm rot="0">
            <a:off x="5150863" y="2828287"/>
            <a:ext cx="3853177" cy="6596377"/>
            <a:chOff x="0" y="0"/>
            <a:chExt cx="5137569" cy="8795169"/>
          </a:xfrm>
        </p:grpSpPr>
        <p:sp>
          <p:nvSpPr>
            <p:cNvPr name="Freeform 20" id="20"/>
            <p:cNvSpPr/>
            <p:nvPr/>
          </p:nvSpPr>
          <p:spPr>
            <a:xfrm flipH="false" flipV="false" rot="0">
              <a:off x="0" y="0"/>
              <a:ext cx="5137531" cy="8795131"/>
            </a:xfrm>
            <a:custGeom>
              <a:avLst/>
              <a:gdLst/>
              <a:ahLst/>
              <a:cxnLst/>
              <a:rect r="r" b="b" t="t" l="l"/>
              <a:pathLst>
                <a:path h="8795131" w="5137531">
                  <a:moveTo>
                    <a:pt x="0" y="0"/>
                  </a:moveTo>
                  <a:lnTo>
                    <a:pt x="5137531" y="0"/>
                  </a:lnTo>
                  <a:lnTo>
                    <a:pt x="5137531" y="8795131"/>
                  </a:lnTo>
                  <a:lnTo>
                    <a:pt x="0" y="8795131"/>
                  </a:lnTo>
                  <a:close/>
                </a:path>
              </a:pathLst>
            </a:custGeom>
            <a:solidFill>
              <a:srgbClr val="FFFFFF">
                <a:alpha val="0"/>
              </a:srgbClr>
            </a:solidFill>
            <a:ln w="12700" cap="sq">
              <a:solidFill>
                <a:srgbClr val="E2E8F0"/>
              </a:solidFill>
              <a:prstDash val="solid"/>
              <a:miter/>
            </a:ln>
          </p:spPr>
        </p:sp>
      </p:grpSp>
      <p:grpSp>
        <p:nvGrpSpPr>
          <p:cNvPr name="Group 21" id="21"/>
          <p:cNvGrpSpPr/>
          <p:nvPr/>
        </p:nvGrpSpPr>
        <p:grpSpPr>
          <a:xfrm rot="0">
            <a:off x="5144519" y="2821943"/>
            <a:ext cx="3865883" cy="135131"/>
            <a:chOff x="0" y="0"/>
            <a:chExt cx="5154511" cy="180175"/>
          </a:xfrm>
        </p:grpSpPr>
        <p:sp>
          <p:nvSpPr>
            <p:cNvPr name="Freeform 22" id="22"/>
            <p:cNvSpPr/>
            <p:nvPr/>
          </p:nvSpPr>
          <p:spPr>
            <a:xfrm flipH="false" flipV="false" rot="0">
              <a:off x="0" y="0"/>
              <a:ext cx="5154549" cy="180213"/>
            </a:xfrm>
            <a:custGeom>
              <a:avLst/>
              <a:gdLst/>
              <a:ahLst/>
              <a:cxnLst/>
              <a:rect r="r" b="b" t="t" l="l"/>
              <a:pathLst>
                <a:path h="180213" w="5154549">
                  <a:moveTo>
                    <a:pt x="0" y="0"/>
                  </a:moveTo>
                  <a:lnTo>
                    <a:pt x="5154549" y="0"/>
                  </a:lnTo>
                  <a:lnTo>
                    <a:pt x="5154549" y="180213"/>
                  </a:lnTo>
                  <a:lnTo>
                    <a:pt x="0" y="180213"/>
                  </a:lnTo>
                  <a:close/>
                </a:path>
              </a:pathLst>
            </a:custGeom>
            <a:solidFill>
              <a:srgbClr val="E05C45"/>
            </a:solidFill>
            <a:ln w="25400" cap="sq">
              <a:solidFill>
                <a:srgbClr val="E05C45"/>
              </a:solidFill>
              <a:prstDash val="solid"/>
              <a:miter/>
            </a:ln>
          </p:spPr>
        </p:sp>
      </p:grpSp>
      <p:grpSp>
        <p:nvGrpSpPr>
          <p:cNvPr name="Group 23" id="23"/>
          <p:cNvGrpSpPr/>
          <p:nvPr/>
        </p:nvGrpSpPr>
        <p:grpSpPr>
          <a:xfrm rot="0">
            <a:off x="5157216" y="3054096"/>
            <a:ext cx="3840480" cy="1645920"/>
            <a:chOff x="0" y="0"/>
            <a:chExt cx="5120640" cy="2194560"/>
          </a:xfrm>
        </p:grpSpPr>
        <p:sp>
          <p:nvSpPr>
            <p:cNvPr name="Freeform 24" id="24"/>
            <p:cNvSpPr/>
            <p:nvPr/>
          </p:nvSpPr>
          <p:spPr>
            <a:xfrm flipH="false" flipV="false" rot="0">
              <a:off x="0" y="0"/>
              <a:ext cx="5120640" cy="2194560"/>
            </a:xfrm>
            <a:custGeom>
              <a:avLst/>
              <a:gdLst/>
              <a:ahLst/>
              <a:cxnLst/>
              <a:rect r="r" b="b" t="t" l="l"/>
              <a:pathLst>
                <a:path h="2194560" w="5120640">
                  <a:moveTo>
                    <a:pt x="0" y="0"/>
                  </a:moveTo>
                  <a:lnTo>
                    <a:pt x="5120640" y="0"/>
                  </a:lnTo>
                  <a:lnTo>
                    <a:pt x="5120640" y="2194560"/>
                  </a:lnTo>
                  <a:lnTo>
                    <a:pt x="0" y="2194560"/>
                  </a:lnTo>
                  <a:close/>
                </a:path>
              </a:pathLst>
            </a:custGeom>
            <a:blipFill>
              <a:blip r:embed="rId3">
                <a:alphaModFix amt="0"/>
              </a:blip>
              <a:stretch>
                <a:fillRect l="-4987" t="0" r="-4987" b="0"/>
              </a:stretch>
            </a:blipFill>
          </p:spPr>
        </p:sp>
        <p:sp>
          <p:nvSpPr>
            <p:cNvPr name="TextBox 25" id="25"/>
            <p:cNvSpPr txBox="true"/>
            <p:nvPr/>
          </p:nvSpPr>
          <p:spPr>
            <a:xfrm>
              <a:off x="0" y="0"/>
              <a:ext cx="5120640" cy="2194560"/>
            </a:xfrm>
            <a:prstGeom prst="rect">
              <a:avLst/>
            </a:prstGeom>
          </p:spPr>
          <p:txBody>
            <a:bodyPr anchor="ctr" rtlCol="false" tIns="0" lIns="0" bIns="0" rIns="0"/>
            <a:lstStyle/>
            <a:p>
              <a:pPr algn="ctr">
                <a:lnSpc>
                  <a:spcPts val="12480"/>
                </a:lnSpc>
              </a:pPr>
              <a:r>
                <a:rPr lang="en-US" sz="10400" b="true">
                  <a:solidFill>
                    <a:srgbClr val="E05C45"/>
                  </a:solidFill>
                  <a:latin typeface="Trebuchet MS Bold"/>
                  <a:ea typeface="Trebuchet MS Bold"/>
                  <a:cs typeface="Trebuchet MS Bold"/>
                  <a:sym typeface="Trebuchet MS Bold"/>
                </a:rPr>
                <a:t>C</a:t>
              </a:r>
            </a:p>
          </p:txBody>
        </p:sp>
      </p:grpSp>
      <p:grpSp>
        <p:nvGrpSpPr>
          <p:cNvPr name="Group 26" id="26"/>
          <p:cNvGrpSpPr/>
          <p:nvPr/>
        </p:nvGrpSpPr>
        <p:grpSpPr>
          <a:xfrm rot="0">
            <a:off x="5157216" y="4663440"/>
            <a:ext cx="3840480" cy="640080"/>
            <a:chOff x="0" y="0"/>
            <a:chExt cx="5120640" cy="853440"/>
          </a:xfrm>
        </p:grpSpPr>
        <p:sp>
          <p:nvSpPr>
            <p:cNvPr name="Freeform 27" id="27"/>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28" id="28"/>
            <p:cNvSpPr txBox="true"/>
            <p:nvPr/>
          </p:nvSpPr>
          <p:spPr>
            <a:xfrm>
              <a:off x="0" y="-9525"/>
              <a:ext cx="5120640" cy="862965"/>
            </a:xfrm>
            <a:prstGeom prst="rect">
              <a:avLst/>
            </a:prstGeom>
          </p:spPr>
          <p:txBody>
            <a:bodyPr anchor="ctr" rtlCol="false" tIns="0" lIns="0" bIns="0" rIns="0"/>
            <a:lstStyle/>
            <a:p>
              <a:pPr algn="ctr">
                <a:lnSpc>
                  <a:spcPts val="2879"/>
                </a:lnSpc>
              </a:pPr>
              <a:r>
                <a:rPr lang="en-US" sz="2400" b="true">
                  <a:solidFill>
                    <a:srgbClr val="FFFFFF"/>
                  </a:solidFill>
                  <a:latin typeface="Trebuchet MS Bold"/>
                  <a:ea typeface="Trebuchet MS Bold"/>
                  <a:cs typeface="Trebuchet MS Bold"/>
                  <a:sym typeface="Trebuchet MS Bold"/>
                </a:rPr>
                <a:t>Complication</a:t>
              </a:r>
            </a:p>
          </p:txBody>
        </p:sp>
      </p:grpSp>
      <p:sp>
        <p:nvSpPr>
          <p:cNvPr name="TextBox 29" id="29"/>
          <p:cNvSpPr txBox="true"/>
          <p:nvPr/>
        </p:nvSpPr>
        <p:spPr>
          <a:xfrm rot="0">
            <a:off x="5468112" y="5372481"/>
            <a:ext cx="3218688" cy="2356485"/>
          </a:xfrm>
          <a:prstGeom prst="rect">
            <a:avLst/>
          </a:prstGeom>
        </p:spPr>
        <p:txBody>
          <a:bodyPr anchor="t" rtlCol="false" tIns="0" lIns="0" bIns="0" rIns="0">
            <a:spAutoFit/>
          </a:bodyPr>
          <a:lstStyle/>
          <a:p>
            <a:pPr algn="l">
              <a:lnSpc>
                <a:spcPts val="3120"/>
              </a:lnSpc>
            </a:pPr>
            <a:r>
              <a:rPr lang="en-US" sz="2000">
                <a:solidFill>
                  <a:srgbClr val="A8C4CC"/>
                </a:solidFill>
                <a:latin typeface="Calibri (MS)"/>
                <a:ea typeface="Calibri (MS)"/>
                <a:cs typeface="Calibri (MS)"/>
                <a:sym typeface="Calibri (MS)"/>
              </a:rPr>
              <a:t>What is changing or broken?</a:t>
            </a:r>
          </a:p>
          <a:p>
            <a:pPr algn="l">
              <a:lnSpc>
                <a:spcPts val="3120"/>
              </a:lnSpc>
            </a:pPr>
            <a:r>
              <a:rPr lang="en-US" sz="2000">
                <a:solidFill>
                  <a:srgbClr val="A8C4CC"/>
                </a:solidFill>
                <a:latin typeface="Calibri (MS)"/>
                <a:ea typeface="Calibri (MS)"/>
                <a:cs typeface="Calibri (MS)"/>
                <a:sym typeface="Calibri (MS)"/>
              </a:rPr>
              <a:t>The assumption that trending topics are global and therefore actionable across all markets turns out to be structurally wrong.</a:t>
            </a:r>
          </a:p>
        </p:txBody>
      </p:sp>
      <p:grpSp>
        <p:nvGrpSpPr>
          <p:cNvPr name="Group 30" id="30"/>
          <p:cNvGrpSpPr/>
          <p:nvPr/>
        </p:nvGrpSpPr>
        <p:grpSpPr>
          <a:xfrm rot="0">
            <a:off x="9393679" y="2828287"/>
            <a:ext cx="3853177" cy="6596377"/>
            <a:chOff x="0" y="0"/>
            <a:chExt cx="5137569" cy="8795169"/>
          </a:xfrm>
        </p:grpSpPr>
        <p:sp>
          <p:nvSpPr>
            <p:cNvPr name="Freeform 31" id="31"/>
            <p:cNvSpPr/>
            <p:nvPr/>
          </p:nvSpPr>
          <p:spPr>
            <a:xfrm flipH="false" flipV="false" rot="0">
              <a:off x="0" y="0"/>
              <a:ext cx="5137531" cy="8795131"/>
            </a:xfrm>
            <a:custGeom>
              <a:avLst/>
              <a:gdLst/>
              <a:ahLst/>
              <a:cxnLst/>
              <a:rect r="r" b="b" t="t" l="l"/>
              <a:pathLst>
                <a:path h="8795131" w="5137531">
                  <a:moveTo>
                    <a:pt x="0" y="0"/>
                  </a:moveTo>
                  <a:lnTo>
                    <a:pt x="5137531" y="0"/>
                  </a:lnTo>
                  <a:lnTo>
                    <a:pt x="5137531" y="8795131"/>
                  </a:lnTo>
                  <a:lnTo>
                    <a:pt x="0" y="8795131"/>
                  </a:lnTo>
                  <a:close/>
                </a:path>
              </a:pathLst>
            </a:custGeom>
            <a:solidFill>
              <a:srgbClr val="FFFFFF">
                <a:alpha val="0"/>
              </a:srgbClr>
            </a:solidFill>
            <a:ln w="12700" cap="sq">
              <a:solidFill>
                <a:srgbClr val="E2E8F0"/>
              </a:solidFill>
              <a:prstDash val="solid"/>
              <a:miter/>
            </a:ln>
          </p:spPr>
        </p:sp>
      </p:grpSp>
      <p:grpSp>
        <p:nvGrpSpPr>
          <p:cNvPr name="Group 32" id="32"/>
          <p:cNvGrpSpPr/>
          <p:nvPr/>
        </p:nvGrpSpPr>
        <p:grpSpPr>
          <a:xfrm rot="0">
            <a:off x="9387335" y="2821943"/>
            <a:ext cx="3865883" cy="135131"/>
            <a:chOff x="0" y="0"/>
            <a:chExt cx="5154511" cy="180175"/>
          </a:xfrm>
        </p:grpSpPr>
        <p:sp>
          <p:nvSpPr>
            <p:cNvPr name="Freeform 33" id="33"/>
            <p:cNvSpPr/>
            <p:nvPr/>
          </p:nvSpPr>
          <p:spPr>
            <a:xfrm flipH="false" flipV="false" rot="0">
              <a:off x="0" y="0"/>
              <a:ext cx="5154549" cy="180213"/>
            </a:xfrm>
            <a:custGeom>
              <a:avLst/>
              <a:gdLst/>
              <a:ahLst/>
              <a:cxnLst/>
              <a:rect r="r" b="b" t="t" l="l"/>
              <a:pathLst>
                <a:path h="180213" w="5154549">
                  <a:moveTo>
                    <a:pt x="0" y="0"/>
                  </a:moveTo>
                  <a:lnTo>
                    <a:pt x="5154549" y="0"/>
                  </a:lnTo>
                  <a:lnTo>
                    <a:pt x="5154549" y="180213"/>
                  </a:lnTo>
                  <a:lnTo>
                    <a:pt x="0" y="180213"/>
                  </a:lnTo>
                  <a:close/>
                </a:path>
              </a:pathLst>
            </a:custGeom>
            <a:solidFill>
              <a:srgbClr val="D4A017"/>
            </a:solidFill>
            <a:ln w="25400" cap="sq">
              <a:solidFill>
                <a:srgbClr val="D4A017"/>
              </a:solidFill>
              <a:prstDash val="solid"/>
              <a:miter/>
            </a:ln>
          </p:spPr>
        </p:sp>
      </p:grpSp>
      <p:grpSp>
        <p:nvGrpSpPr>
          <p:cNvPr name="Group 34" id="34"/>
          <p:cNvGrpSpPr/>
          <p:nvPr/>
        </p:nvGrpSpPr>
        <p:grpSpPr>
          <a:xfrm rot="0">
            <a:off x="9400032" y="3054096"/>
            <a:ext cx="3840480" cy="1645920"/>
            <a:chOff x="0" y="0"/>
            <a:chExt cx="5120640" cy="2194560"/>
          </a:xfrm>
        </p:grpSpPr>
        <p:sp>
          <p:nvSpPr>
            <p:cNvPr name="Freeform 35" id="35"/>
            <p:cNvSpPr/>
            <p:nvPr/>
          </p:nvSpPr>
          <p:spPr>
            <a:xfrm flipH="false" flipV="false" rot="0">
              <a:off x="0" y="0"/>
              <a:ext cx="5120640" cy="2194560"/>
            </a:xfrm>
            <a:custGeom>
              <a:avLst/>
              <a:gdLst/>
              <a:ahLst/>
              <a:cxnLst/>
              <a:rect r="r" b="b" t="t" l="l"/>
              <a:pathLst>
                <a:path h="2194560" w="5120640">
                  <a:moveTo>
                    <a:pt x="0" y="0"/>
                  </a:moveTo>
                  <a:lnTo>
                    <a:pt x="5120640" y="0"/>
                  </a:lnTo>
                  <a:lnTo>
                    <a:pt x="5120640" y="2194560"/>
                  </a:lnTo>
                  <a:lnTo>
                    <a:pt x="0" y="2194560"/>
                  </a:lnTo>
                  <a:close/>
                </a:path>
              </a:pathLst>
            </a:custGeom>
            <a:blipFill>
              <a:blip r:embed="rId3">
                <a:alphaModFix amt="0"/>
              </a:blip>
              <a:stretch>
                <a:fillRect l="-4987" t="0" r="-4987" b="0"/>
              </a:stretch>
            </a:blipFill>
          </p:spPr>
        </p:sp>
        <p:sp>
          <p:nvSpPr>
            <p:cNvPr name="TextBox 36" id="36"/>
            <p:cNvSpPr txBox="true"/>
            <p:nvPr/>
          </p:nvSpPr>
          <p:spPr>
            <a:xfrm>
              <a:off x="0" y="0"/>
              <a:ext cx="5120640" cy="2194560"/>
            </a:xfrm>
            <a:prstGeom prst="rect">
              <a:avLst/>
            </a:prstGeom>
          </p:spPr>
          <p:txBody>
            <a:bodyPr anchor="ctr" rtlCol="false" tIns="0" lIns="0" bIns="0" rIns="0"/>
            <a:lstStyle/>
            <a:p>
              <a:pPr algn="ctr">
                <a:lnSpc>
                  <a:spcPts val="12480"/>
                </a:lnSpc>
              </a:pPr>
              <a:r>
                <a:rPr lang="en-US" sz="10400" b="true">
                  <a:solidFill>
                    <a:srgbClr val="D4A017"/>
                  </a:solidFill>
                  <a:latin typeface="Trebuchet MS Bold"/>
                  <a:ea typeface="Trebuchet MS Bold"/>
                  <a:cs typeface="Trebuchet MS Bold"/>
                  <a:sym typeface="Trebuchet MS Bold"/>
                </a:rPr>
                <a:t>Q</a:t>
              </a:r>
            </a:p>
          </p:txBody>
        </p:sp>
      </p:grpSp>
      <p:grpSp>
        <p:nvGrpSpPr>
          <p:cNvPr name="Group 37" id="37"/>
          <p:cNvGrpSpPr/>
          <p:nvPr/>
        </p:nvGrpSpPr>
        <p:grpSpPr>
          <a:xfrm rot="0">
            <a:off x="9400032" y="4663440"/>
            <a:ext cx="3840480" cy="640080"/>
            <a:chOff x="0" y="0"/>
            <a:chExt cx="5120640" cy="853440"/>
          </a:xfrm>
        </p:grpSpPr>
        <p:sp>
          <p:nvSpPr>
            <p:cNvPr name="Freeform 38" id="38"/>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39" id="39"/>
            <p:cNvSpPr txBox="true"/>
            <p:nvPr/>
          </p:nvSpPr>
          <p:spPr>
            <a:xfrm>
              <a:off x="0" y="-9525"/>
              <a:ext cx="5120640" cy="862965"/>
            </a:xfrm>
            <a:prstGeom prst="rect">
              <a:avLst/>
            </a:prstGeom>
          </p:spPr>
          <p:txBody>
            <a:bodyPr anchor="ctr" rtlCol="false" tIns="0" lIns="0" bIns="0" rIns="0"/>
            <a:lstStyle/>
            <a:p>
              <a:pPr algn="ctr">
                <a:lnSpc>
                  <a:spcPts val="2879"/>
                </a:lnSpc>
              </a:pPr>
              <a:r>
                <a:rPr lang="en-US" sz="2400" b="true">
                  <a:solidFill>
                    <a:srgbClr val="FFFFFF"/>
                  </a:solidFill>
                  <a:latin typeface="Trebuchet MS Bold"/>
                  <a:ea typeface="Trebuchet MS Bold"/>
                  <a:cs typeface="Trebuchet MS Bold"/>
                  <a:sym typeface="Trebuchet MS Bold"/>
                </a:rPr>
                <a:t>Question</a:t>
              </a:r>
            </a:p>
          </p:txBody>
        </p:sp>
      </p:grpSp>
      <p:sp>
        <p:nvSpPr>
          <p:cNvPr name="TextBox 40" id="40"/>
          <p:cNvSpPr txBox="true"/>
          <p:nvPr/>
        </p:nvSpPr>
        <p:spPr>
          <a:xfrm rot="0">
            <a:off x="9710928" y="5372481"/>
            <a:ext cx="3218688" cy="2356485"/>
          </a:xfrm>
          <a:prstGeom prst="rect">
            <a:avLst/>
          </a:prstGeom>
        </p:spPr>
        <p:txBody>
          <a:bodyPr anchor="t" rtlCol="false" tIns="0" lIns="0" bIns="0" rIns="0">
            <a:spAutoFit/>
          </a:bodyPr>
          <a:lstStyle/>
          <a:p>
            <a:pPr algn="l">
              <a:lnSpc>
                <a:spcPts val="3120"/>
              </a:lnSpc>
            </a:pPr>
            <a:r>
              <a:rPr lang="en-US" sz="2000">
                <a:solidFill>
                  <a:srgbClr val="A8C4CC"/>
                </a:solidFill>
                <a:latin typeface="Calibri (MS)"/>
                <a:ea typeface="Calibri (MS)"/>
                <a:cs typeface="Calibri (MS)"/>
                <a:sym typeface="Calibri (MS)"/>
              </a:rPr>
              <a:t>What do executives need to know?</a:t>
            </a:r>
          </a:p>
          <a:p>
            <a:pPr algn="l">
              <a:lnSpc>
                <a:spcPts val="3120"/>
              </a:lnSpc>
            </a:pPr>
            <a:r>
              <a:rPr lang="en-US" sz="2000">
                <a:solidFill>
                  <a:srgbClr val="A8C4CC"/>
                </a:solidFill>
                <a:latin typeface="Calibri (MS)"/>
                <a:ea typeface="Calibri (MS)"/>
                <a:cs typeface="Calibri (MS)"/>
                <a:sym typeface="Calibri (MS)"/>
              </a:rPr>
              <a:t>Which trends actually matter, in which markets, at which stage  and how do we act before the window closes?</a:t>
            </a:r>
          </a:p>
        </p:txBody>
      </p:sp>
      <p:grpSp>
        <p:nvGrpSpPr>
          <p:cNvPr name="Group 41" id="41"/>
          <p:cNvGrpSpPr/>
          <p:nvPr/>
        </p:nvGrpSpPr>
        <p:grpSpPr>
          <a:xfrm rot="0">
            <a:off x="13636495" y="2828287"/>
            <a:ext cx="3853177" cy="6596377"/>
            <a:chOff x="0" y="0"/>
            <a:chExt cx="5137569" cy="8795169"/>
          </a:xfrm>
        </p:grpSpPr>
        <p:sp>
          <p:nvSpPr>
            <p:cNvPr name="Freeform 42" id="42"/>
            <p:cNvSpPr/>
            <p:nvPr/>
          </p:nvSpPr>
          <p:spPr>
            <a:xfrm flipH="false" flipV="false" rot="0">
              <a:off x="0" y="0"/>
              <a:ext cx="5137531" cy="8795131"/>
            </a:xfrm>
            <a:custGeom>
              <a:avLst/>
              <a:gdLst/>
              <a:ahLst/>
              <a:cxnLst/>
              <a:rect r="r" b="b" t="t" l="l"/>
              <a:pathLst>
                <a:path h="8795131" w="5137531">
                  <a:moveTo>
                    <a:pt x="0" y="0"/>
                  </a:moveTo>
                  <a:lnTo>
                    <a:pt x="5137531" y="0"/>
                  </a:lnTo>
                  <a:lnTo>
                    <a:pt x="5137531" y="8795131"/>
                  </a:lnTo>
                  <a:lnTo>
                    <a:pt x="0" y="8795131"/>
                  </a:lnTo>
                  <a:close/>
                </a:path>
              </a:pathLst>
            </a:custGeom>
            <a:solidFill>
              <a:srgbClr val="FFFFFF">
                <a:alpha val="0"/>
              </a:srgbClr>
            </a:solidFill>
            <a:ln w="12700" cap="sq">
              <a:solidFill>
                <a:srgbClr val="E2E8F0"/>
              </a:solidFill>
              <a:prstDash val="solid"/>
              <a:miter/>
            </a:ln>
          </p:spPr>
        </p:sp>
      </p:grpSp>
      <p:grpSp>
        <p:nvGrpSpPr>
          <p:cNvPr name="Group 43" id="43"/>
          <p:cNvGrpSpPr/>
          <p:nvPr/>
        </p:nvGrpSpPr>
        <p:grpSpPr>
          <a:xfrm rot="0">
            <a:off x="13630151" y="2821943"/>
            <a:ext cx="3865883" cy="135131"/>
            <a:chOff x="0" y="0"/>
            <a:chExt cx="5154511" cy="180175"/>
          </a:xfrm>
        </p:grpSpPr>
        <p:sp>
          <p:nvSpPr>
            <p:cNvPr name="Freeform 44" id="44"/>
            <p:cNvSpPr/>
            <p:nvPr/>
          </p:nvSpPr>
          <p:spPr>
            <a:xfrm flipH="false" flipV="false" rot="0">
              <a:off x="0" y="0"/>
              <a:ext cx="5154549" cy="180213"/>
            </a:xfrm>
            <a:custGeom>
              <a:avLst/>
              <a:gdLst/>
              <a:ahLst/>
              <a:cxnLst/>
              <a:rect r="r" b="b" t="t" l="l"/>
              <a:pathLst>
                <a:path h="180213" w="5154549">
                  <a:moveTo>
                    <a:pt x="0" y="0"/>
                  </a:moveTo>
                  <a:lnTo>
                    <a:pt x="5154549" y="0"/>
                  </a:lnTo>
                  <a:lnTo>
                    <a:pt x="5154549" y="180213"/>
                  </a:lnTo>
                  <a:lnTo>
                    <a:pt x="0" y="180213"/>
                  </a:lnTo>
                  <a:close/>
                </a:path>
              </a:pathLst>
            </a:custGeom>
            <a:solidFill>
              <a:srgbClr val="2E7D52"/>
            </a:solidFill>
            <a:ln w="25400" cap="sq">
              <a:solidFill>
                <a:srgbClr val="2E7D52"/>
              </a:solidFill>
              <a:prstDash val="solid"/>
              <a:miter/>
            </a:ln>
          </p:spPr>
        </p:sp>
      </p:grpSp>
      <p:grpSp>
        <p:nvGrpSpPr>
          <p:cNvPr name="Group 45" id="45"/>
          <p:cNvGrpSpPr/>
          <p:nvPr/>
        </p:nvGrpSpPr>
        <p:grpSpPr>
          <a:xfrm rot="0">
            <a:off x="13642848" y="3054096"/>
            <a:ext cx="3840480" cy="1645920"/>
            <a:chOff x="0" y="0"/>
            <a:chExt cx="5120640" cy="2194560"/>
          </a:xfrm>
        </p:grpSpPr>
        <p:sp>
          <p:nvSpPr>
            <p:cNvPr name="Freeform 46" id="46"/>
            <p:cNvSpPr/>
            <p:nvPr/>
          </p:nvSpPr>
          <p:spPr>
            <a:xfrm flipH="false" flipV="false" rot="0">
              <a:off x="0" y="0"/>
              <a:ext cx="5120640" cy="2194560"/>
            </a:xfrm>
            <a:custGeom>
              <a:avLst/>
              <a:gdLst/>
              <a:ahLst/>
              <a:cxnLst/>
              <a:rect r="r" b="b" t="t" l="l"/>
              <a:pathLst>
                <a:path h="2194560" w="5120640">
                  <a:moveTo>
                    <a:pt x="0" y="0"/>
                  </a:moveTo>
                  <a:lnTo>
                    <a:pt x="5120640" y="0"/>
                  </a:lnTo>
                  <a:lnTo>
                    <a:pt x="5120640" y="2194560"/>
                  </a:lnTo>
                  <a:lnTo>
                    <a:pt x="0" y="2194560"/>
                  </a:lnTo>
                  <a:close/>
                </a:path>
              </a:pathLst>
            </a:custGeom>
            <a:blipFill>
              <a:blip r:embed="rId3">
                <a:alphaModFix amt="0"/>
              </a:blip>
              <a:stretch>
                <a:fillRect l="-4987" t="0" r="-4987" b="0"/>
              </a:stretch>
            </a:blipFill>
          </p:spPr>
        </p:sp>
        <p:sp>
          <p:nvSpPr>
            <p:cNvPr name="TextBox 47" id="47"/>
            <p:cNvSpPr txBox="true"/>
            <p:nvPr/>
          </p:nvSpPr>
          <p:spPr>
            <a:xfrm>
              <a:off x="0" y="0"/>
              <a:ext cx="5120640" cy="2194560"/>
            </a:xfrm>
            <a:prstGeom prst="rect">
              <a:avLst/>
            </a:prstGeom>
          </p:spPr>
          <p:txBody>
            <a:bodyPr anchor="ctr" rtlCol="false" tIns="0" lIns="0" bIns="0" rIns="0"/>
            <a:lstStyle/>
            <a:p>
              <a:pPr algn="ctr">
                <a:lnSpc>
                  <a:spcPts val="12480"/>
                </a:lnSpc>
              </a:pPr>
              <a:r>
                <a:rPr lang="en-US" sz="10400" b="true">
                  <a:solidFill>
                    <a:srgbClr val="2E7D52"/>
                  </a:solidFill>
                  <a:latin typeface="Trebuchet MS Bold"/>
                  <a:ea typeface="Trebuchet MS Bold"/>
                  <a:cs typeface="Trebuchet MS Bold"/>
                  <a:sym typeface="Trebuchet MS Bold"/>
                </a:rPr>
                <a:t>A</a:t>
              </a:r>
            </a:p>
          </p:txBody>
        </p:sp>
      </p:grpSp>
      <p:grpSp>
        <p:nvGrpSpPr>
          <p:cNvPr name="Group 48" id="48"/>
          <p:cNvGrpSpPr/>
          <p:nvPr/>
        </p:nvGrpSpPr>
        <p:grpSpPr>
          <a:xfrm rot="0">
            <a:off x="13642848" y="4663440"/>
            <a:ext cx="3840480" cy="640080"/>
            <a:chOff x="0" y="0"/>
            <a:chExt cx="5120640" cy="853440"/>
          </a:xfrm>
        </p:grpSpPr>
        <p:sp>
          <p:nvSpPr>
            <p:cNvPr name="Freeform 49" id="49"/>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50" id="50"/>
            <p:cNvSpPr txBox="true"/>
            <p:nvPr/>
          </p:nvSpPr>
          <p:spPr>
            <a:xfrm>
              <a:off x="0" y="-9525"/>
              <a:ext cx="5120640" cy="862965"/>
            </a:xfrm>
            <a:prstGeom prst="rect">
              <a:avLst/>
            </a:prstGeom>
          </p:spPr>
          <p:txBody>
            <a:bodyPr anchor="ctr" rtlCol="false" tIns="0" lIns="0" bIns="0" rIns="0"/>
            <a:lstStyle/>
            <a:p>
              <a:pPr algn="ctr">
                <a:lnSpc>
                  <a:spcPts val="2879"/>
                </a:lnSpc>
              </a:pPr>
              <a:r>
                <a:rPr lang="en-US" sz="2400" b="true">
                  <a:solidFill>
                    <a:srgbClr val="FFFFFF"/>
                  </a:solidFill>
                  <a:latin typeface="Trebuchet MS Bold"/>
                  <a:ea typeface="Trebuchet MS Bold"/>
                  <a:cs typeface="Trebuchet MS Bold"/>
                  <a:sym typeface="Trebuchet MS Bold"/>
                </a:rPr>
                <a:t>Answer</a:t>
              </a:r>
            </a:p>
          </p:txBody>
        </p:sp>
      </p:grpSp>
      <p:sp>
        <p:nvSpPr>
          <p:cNvPr name="TextBox 51" id="51"/>
          <p:cNvSpPr txBox="true"/>
          <p:nvPr/>
        </p:nvSpPr>
        <p:spPr>
          <a:xfrm rot="0">
            <a:off x="13953744" y="5372481"/>
            <a:ext cx="3218688" cy="3488055"/>
          </a:xfrm>
          <a:prstGeom prst="rect">
            <a:avLst/>
          </a:prstGeom>
        </p:spPr>
        <p:txBody>
          <a:bodyPr anchor="t" rtlCol="false" tIns="0" lIns="0" bIns="0" rIns="0">
            <a:spAutoFit/>
          </a:bodyPr>
          <a:lstStyle/>
          <a:p>
            <a:pPr algn="l">
              <a:lnSpc>
                <a:spcPts val="3120"/>
              </a:lnSpc>
            </a:pPr>
            <a:r>
              <a:rPr lang="en-US" sz="2000">
                <a:solidFill>
                  <a:srgbClr val="A8C4CC"/>
                </a:solidFill>
                <a:latin typeface="Calibri (MS)"/>
                <a:ea typeface="Calibri (MS)"/>
                <a:cs typeface="Calibri (MS)"/>
                <a:sym typeface="Calibri (MS)"/>
              </a:rPr>
              <a:t>What the data tells us</a:t>
            </a:r>
          </a:p>
          <a:p>
            <a:pPr algn="l">
              <a:lnSpc>
                <a:spcPts val="3120"/>
              </a:lnSpc>
            </a:pPr>
            <a:r>
              <a:rPr lang="en-US" sz="2000">
                <a:solidFill>
                  <a:srgbClr val="A8C4CC"/>
                </a:solidFill>
                <a:latin typeface="Calibri (MS)"/>
                <a:ea typeface="Calibri (MS)"/>
                <a:cs typeface="Calibri (MS)"/>
                <a:sym typeface="Calibri (MS)"/>
              </a:rPr>
              <a:t>6 findings that redefine how we approach trend-led strategy, market investment, and campaign timing.</a:t>
            </a:r>
          </a:p>
        </p:txBody>
      </p:sp>
      <p:grpSp>
        <p:nvGrpSpPr>
          <p:cNvPr name="Group 52" id="52"/>
          <p:cNvGrpSpPr/>
          <p:nvPr/>
        </p:nvGrpSpPr>
        <p:grpSpPr>
          <a:xfrm rot="0">
            <a:off x="16093440" y="9692640"/>
            <a:ext cx="1828800" cy="365760"/>
            <a:chOff x="0" y="0"/>
            <a:chExt cx="2438400" cy="487680"/>
          </a:xfrm>
        </p:grpSpPr>
        <p:sp>
          <p:nvSpPr>
            <p:cNvPr name="Freeform 53" id="53"/>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54" id="54"/>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2 / 14</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9144000" cy="402336"/>
            <a:chOff x="0" y="0"/>
            <a:chExt cx="12192000" cy="536448"/>
          </a:xfrm>
        </p:grpSpPr>
        <p:sp>
          <p:nvSpPr>
            <p:cNvPr name="Freeform 3" id="3"/>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4" id="4"/>
            <p:cNvSpPr txBox="true"/>
            <p:nvPr/>
          </p:nvSpPr>
          <p:spPr>
            <a:xfrm>
              <a:off x="0" y="-38100"/>
              <a:ext cx="12192000" cy="574548"/>
            </a:xfrm>
            <a:prstGeom prst="rect">
              <a:avLst/>
            </a:prstGeom>
          </p:spPr>
          <p:txBody>
            <a:bodyPr anchor="ctr" rtlCol="false" tIns="0" lIns="0" bIns="0" rIns="0"/>
            <a:lstStyle/>
            <a:p>
              <a:pPr algn="l">
                <a:lnSpc>
                  <a:spcPts val="2160"/>
                </a:lnSpc>
              </a:pPr>
              <a:r>
                <a:rPr lang="en-US" b="true" sz="1800" spc="599">
                  <a:solidFill>
                    <a:srgbClr val="0A7E8C"/>
                  </a:solidFill>
                  <a:latin typeface="Calibri (MS) Bold"/>
                  <a:ea typeface="Calibri (MS) Bold"/>
                  <a:cs typeface="Calibri (MS) Bold"/>
                  <a:sym typeface="Calibri (MS) Bold"/>
                </a:rPr>
                <a:t>SITUATION</a:t>
              </a:r>
            </a:p>
          </p:txBody>
        </p:sp>
      </p:grpSp>
      <p:grpSp>
        <p:nvGrpSpPr>
          <p:cNvPr name="Group 5" id="5"/>
          <p:cNvGrpSpPr/>
          <p:nvPr/>
        </p:nvGrpSpPr>
        <p:grpSpPr>
          <a:xfrm rot="0">
            <a:off x="1084583" y="1121159"/>
            <a:ext cx="135131" cy="1305563"/>
            <a:chOff x="0" y="0"/>
            <a:chExt cx="180175" cy="1740751"/>
          </a:xfrm>
        </p:grpSpPr>
        <p:sp>
          <p:nvSpPr>
            <p:cNvPr name="Freeform 6" id="6"/>
            <p:cNvSpPr/>
            <p:nvPr/>
          </p:nvSpPr>
          <p:spPr>
            <a:xfrm flipH="false" flipV="false" rot="0">
              <a:off x="0" y="0"/>
              <a:ext cx="180213" cy="1740789"/>
            </a:xfrm>
            <a:custGeom>
              <a:avLst/>
              <a:gdLst/>
              <a:ahLst/>
              <a:cxnLst/>
              <a:rect r="r" b="b" t="t" l="l"/>
              <a:pathLst>
                <a:path h="1740789" w="180213">
                  <a:moveTo>
                    <a:pt x="0" y="0"/>
                  </a:moveTo>
                  <a:lnTo>
                    <a:pt x="180213" y="0"/>
                  </a:lnTo>
                  <a:lnTo>
                    <a:pt x="180213" y="1740789"/>
                  </a:lnTo>
                  <a:lnTo>
                    <a:pt x="0" y="1740789"/>
                  </a:lnTo>
                  <a:close/>
                </a:path>
              </a:pathLst>
            </a:custGeom>
            <a:solidFill>
              <a:srgbClr val="0A7E8C"/>
            </a:solidFill>
            <a:ln w="25400" cap="sq">
              <a:solidFill>
                <a:srgbClr val="0A7E8C"/>
              </a:solidFill>
              <a:prstDash val="solid"/>
              <a:miter/>
            </a:ln>
          </p:spPr>
        </p:sp>
      </p:grpSp>
      <p:grpSp>
        <p:nvGrpSpPr>
          <p:cNvPr name="Group 7" id="7"/>
          <p:cNvGrpSpPr/>
          <p:nvPr/>
        </p:nvGrpSpPr>
        <p:grpSpPr>
          <a:xfrm rot="0">
            <a:off x="1371600" y="1005840"/>
            <a:ext cx="15544800" cy="1554480"/>
            <a:chOff x="0" y="0"/>
            <a:chExt cx="20726400" cy="2072640"/>
          </a:xfrm>
        </p:grpSpPr>
        <p:sp>
          <p:nvSpPr>
            <p:cNvPr name="Freeform 8" id="8"/>
            <p:cNvSpPr/>
            <p:nvPr/>
          </p:nvSpPr>
          <p:spPr>
            <a:xfrm flipH="false" flipV="false" rot="0">
              <a:off x="0" y="0"/>
              <a:ext cx="20726400" cy="2072640"/>
            </a:xfrm>
            <a:custGeom>
              <a:avLst/>
              <a:gdLst/>
              <a:ahLst/>
              <a:cxnLst/>
              <a:rect r="r" b="b" t="t" l="l"/>
              <a:pathLst>
                <a:path h="2072640" w="20726400">
                  <a:moveTo>
                    <a:pt x="0" y="0"/>
                  </a:moveTo>
                  <a:lnTo>
                    <a:pt x="20726400" y="0"/>
                  </a:lnTo>
                  <a:lnTo>
                    <a:pt x="20726400" y="2072640"/>
                  </a:lnTo>
                  <a:lnTo>
                    <a:pt x="0" y="2072640"/>
                  </a:lnTo>
                  <a:close/>
                </a:path>
              </a:pathLst>
            </a:custGeom>
            <a:blipFill>
              <a:blip r:embed="rId3">
                <a:alphaModFix amt="0"/>
              </a:blip>
              <a:stretch>
                <a:fillRect l="0" t="-144850" r="0" b="-144850"/>
              </a:stretch>
            </a:blipFill>
          </p:spPr>
        </p:sp>
        <p:sp>
          <p:nvSpPr>
            <p:cNvPr name="TextBox 9" id="9"/>
            <p:cNvSpPr txBox="true"/>
            <p:nvPr/>
          </p:nvSpPr>
          <p:spPr>
            <a:xfrm>
              <a:off x="0" y="-114300"/>
              <a:ext cx="20726400" cy="2186940"/>
            </a:xfrm>
            <a:prstGeom prst="rect">
              <a:avLst/>
            </a:prstGeom>
          </p:spPr>
          <p:txBody>
            <a:bodyPr anchor="ctr" rtlCol="false" tIns="0" lIns="0" bIns="0" rIns="0"/>
            <a:lstStyle/>
            <a:p>
              <a:pPr algn="l">
                <a:lnSpc>
                  <a:spcPts val="6336"/>
                </a:lnSpc>
              </a:pPr>
              <a:r>
                <a:rPr lang="en-US" sz="4400" b="true">
                  <a:solidFill>
                    <a:srgbClr val="1E293B"/>
                  </a:solidFill>
                  <a:latin typeface="Trebuchet MS Bold"/>
                  <a:ea typeface="Trebuchet MS Bold"/>
                  <a:cs typeface="Trebuchet MS Bold"/>
                  <a:sym typeface="Trebuchet MS Bold"/>
                </a:rPr>
                <a:t>Content teams are navigating trend decisions</a:t>
              </a:r>
            </a:p>
            <a:p>
              <a:pPr algn="l">
                <a:lnSpc>
                  <a:spcPts val="6336"/>
                </a:lnSpc>
              </a:pPr>
              <a:r>
                <a:rPr lang="en-US" sz="4400" b="true">
                  <a:solidFill>
                    <a:srgbClr val="1E293B"/>
                  </a:solidFill>
                  <a:latin typeface="Trebuchet MS Bold"/>
                  <a:ea typeface="Trebuchet MS Bold"/>
                  <a:cs typeface="Trebuchet MS Bold"/>
                  <a:sym typeface="Trebuchet MS Bold"/>
                </a:rPr>
                <a:t>without systematic intelligence.</a:t>
              </a:r>
            </a:p>
          </p:txBody>
        </p:sp>
      </p:grpSp>
      <p:sp>
        <p:nvSpPr>
          <p:cNvPr name="TextBox 10" id="10"/>
          <p:cNvSpPr txBox="true"/>
          <p:nvPr/>
        </p:nvSpPr>
        <p:spPr>
          <a:xfrm rot="0">
            <a:off x="1188720" y="2673096"/>
            <a:ext cx="10058400" cy="2621280"/>
          </a:xfrm>
          <a:prstGeom prst="rect">
            <a:avLst/>
          </a:prstGeom>
        </p:spPr>
        <p:txBody>
          <a:bodyPr anchor="t" rtlCol="false" tIns="0" lIns="0" bIns="0" rIns="0">
            <a:spAutoFit/>
          </a:bodyPr>
          <a:lstStyle/>
          <a:p>
            <a:pPr algn="l">
              <a:lnSpc>
                <a:spcPts val="4032"/>
              </a:lnSpc>
            </a:pPr>
            <a:r>
              <a:rPr lang="en-US" sz="2400">
                <a:solidFill>
                  <a:srgbClr val="1E293B"/>
                </a:solidFill>
                <a:latin typeface="Calibri (MS)"/>
                <a:ea typeface="Calibri (MS)"/>
                <a:cs typeface="Calibri (MS)"/>
                <a:sym typeface="Calibri (MS)"/>
              </a:rPr>
              <a:t>Every week, marketing, content, and strategy teams make decisions based on what is trending. They monitor social feeds, read industry newsletters, and make educated guesses about which topics deserve budget and attention. The problem is not effort — it is the absence of a structured, evidence-based intelligence layer beneath those decisions.</a:t>
            </a:r>
          </a:p>
        </p:txBody>
      </p:sp>
      <p:grpSp>
        <p:nvGrpSpPr>
          <p:cNvPr name="Group 11" id="11"/>
          <p:cNvGrpSpPr/>
          <p:nvPr/>
        </p:nvGrpSpPr>
        <p:grpSpPr>
          <a:xfrm rot="0">
            <a:off x="11880847" y="2736847"/>
            <a:ext cx="5681977" cy="1841497"/>
            <a:chOff x="0" y="0"/>
            <a:chExt cx="7575969" cy="2455329"/>
          </a:xfrm>
        </p:grpSpPr>
        <p:sp>
          <p:nvSpPr>
            <p:cNvPr name="Freeform 12" id="12"/>
            <p:cNvSpPr/>
            <p:nvPr/>
          </p:nvSpPr>
          <p:spPr>
            <a:xfrm flipH="false" flipV="false" rot="0">
              <a:off x="0" y="0"/>
              <a:ext cx="7575931" cy="2455291"/>
            </a:xfrm>
            <a:custGeom>
              <a:avLst/>
              <a:gdLst/>
              <a:ahLst/>
              <a:cxnLst/>
              <a:rect r="r" b="b" t="t" l="l"/>
              <a:pathLst>
                <a:path h="2455291" w="7575931">
                  <a:moveTo>
                    <a:pt x="0" y="0"/>
                  </a:moveTo>
                  <a:lnTo>
                    <a:pt x="7575931" y="0"/>
                  </a:lnTo>
                  <a:lnTo>
                    <a:pt x="7575931" y="2455291"/>
                  </a:lnTo>
                  <a:lnTo>
                    <a:pt x="0" y="2455291"/>
                  </a:lnTo>
                  <a:close/>
                </a:path>
              </a:pathLst>
            </a:custGeom>
            <a:solidFill>
              <a:srgbClr val="FFFFFF"/>
            </a:solidFill>
            <a:ln w="12700" cap="sq">
              <a:solidFill>
                <a:srgbClr val="E2E8F0"/>
              </a:solidFill>
              <a:prstDash val="solid"/>
              <a:miter/>
            </a:ln>
          </p:spPr>
        </p:sp>
      </p:grpSp>
      <p:grpSp>
        <p:nvGrpSpPr>
          <p:cNvPr name="Group 13" id="13"/>
          <p:cNvGrpSpPr/>
          <p:nvPr/>
        </p:nvGrpSpPr>
        <p:grpSpPr>
          <a:xfrm rot="0">
            <a:off x="11978640" y="2834640"/>
            <a:ext cx="5486400" cy="1005840"/>
            <a:chOff x="0" y="0"/>
            <a:chExt cx="7315200" cy="1341120"/>
          </a:xfrm>
        </p:grpSpPr>
        <p:sp>
          <p:nvSpPr>
            <p:cNvPr name="Freeform 14" id="14"/>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3">
                <a:alphaModFix amt="0"/>
              </a:blip>
              <a:stretch>
                <a:fillRect l="0" t="-56282" r="0" b="-56282"/>
              </a:stretch>
            </a:blipFill>
          </p:spPr>
        </p:sp>
        <p:sp>
          <p:nvSpPr>
            <p:cNvPr name="TextBox 15" id="15"/>
            <p:cNvSpPr txBox="true"/>
            <p:nvPr/>
          </p:nvSpPr>
          <p:spPr>
            <a:xfrm>
              <a:off x="0" y="-9525"/>
              <a:ext cx="7315200" cy="1350645"/>
            </a:xfrm>
            <a:prstGeom prst="rect">
              <a:avLst/>
            </a:prstGeom>
          </p:spPr>
          <p:txBody>
            <a:bodyPr anchor="ctr" rtlCol="false" tIns="0" lIns="0" bIns="0" rIns="0"/>
            <a:lstStyle/>
            <a:p>
              <a:pPr algn="ctr">
                <a:lnSpc>
                  <a:spcPts val="6240"/>
                </a:lnSpc>
              </a:pPr>
              <a:r>
                <a:rPr lang="en-US" sz="5200" b="true">
                  <a:solidFill>
                    <a:srgbClr val="0A7E8C"/>
                  </a:solidFill>
                  <a:latin typeface="Trebuchet MS Bold"/>
                  <a:ea typeface="Trebuchet MS Bold"/>
                  <a:cs typeface="Trebuchet MS Bold"/>
                  <a:sym typeface="Trebuchet MS Bold"/>
                </a:rPr>
                <a:t>3.1M</a:t>
              </a:r>
            </a:p>
          </p:txBody>
        </p:sp>
      </p:grpSp>
      <p:grpSp>
        <p:nvGrpSpPr>
          <p:cNvPr name="Group 16" id="16"/>
          <p:cNvGrpSpPr/>
          <p:nvPr/>
        </p:nvGrpSpPr>
        <p:grpSpPr>
          <a:xfrm rot="0">
            <a:off x="11978640" y="3749040"/>
            <a:ext cx="5486400" cy="640080"/>
            <a:chOff x="0" y="0"/>
            <a:chExt cx="7315200" cy="853440"/>
          </a:xfrm>
        </p:grpSpPr>
        <p:sp>
          <p:nvSpPr>
            <p:cNvPr name="Freeform 17" id="17"/>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18" id="18"/>
            <p:cNvSpPr txBox="true"/>
            <p:nvPr/>
          </p:nvSpPr>
          <p:spPr>
            <a:xfrm>
              <a:off x="0" y="-38100"/>
              <a:ext cx="7315200" cy="89154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data points processed</a:t>
              </a:r>
            </a:p>
          </p:txBody>
        </p:sp>
      </p:grpSp>
      <p:grpSp>
        <p:nvGrpSpPr>
          <p:cNvPr name="Group 19" id="19"/>
          <p:cNvGrpSpPr/>
          <p:nvPr/>
        </p:nvGrpSpPr>
        <p:grpSpPr>
          <a:xfrm rot="0">
            <a:off x="11880847" y="4894831"/>
            <a:ext cx="5681977" cy="1841497"/>
            <a:chOff x="0" y="0"/>
            <a:chExt cx="7575969" cy="2455329"/>
          </a:xfrm>
        </p:grpSpPr>
        <p:sp>
          <p:nvSpPr>
            <p:cNvPr name="Freeform 20" id="20"/>
            <p:cNvSpPr/>
            <p:nvPr/>
          </p:nvSpPr>
          <p:spPr>
            <a:xfrm flipH="false" flipV="false" rot="0">
              <a:off x="0" y="0"/>
              <a:ext cx="7575931" cy="2455291"/>
            </a:xfrm>
            <a:custGeom>
              <a:avLst/>
              <a:gdLst/>
              <a:ahLst/>
              <a:cxnLst/>
              <a:rect r="r" b="b" t="t" l="l"/>
              <a:pathLst>
                <a:path h="2455291" w="7575931">
                  <a:moveTo>
                    <a:pt x="0" y="0"/>
                  </a:moveTo>
                  <a:lnTo>
                    <a:pt x="7575931" y="0"/>
                  </a:lnTo>
                  <a:lnTo>
                    <a:pt x="7575931" y="2455291"/>
                  </a:lnTo>
                  <a:lnTo>
                    <a:pt x="0" y="2455291"/>
                  </a:lnTo>
                  <a:close/>
                </a:path>
              </a:pathLst>
            </a:custGeom>
            <a:solidFill>
              <a:srgbClr val="FFFFFF"/>
            </a:solidFill>
            <a:ln w="12700" cap="sq">
              <a:solidFill>
                <a:srgbClr val="E2E8F0"/>
              </a:solidFill>
              <a:prstDash val="solid"/>
              <a:miter/>
            </a:ln>
          </p:spPr>
        </p:sp>
      </p:grpSp>
      <p:grpSp>
        <p:nvGrpSpPr>
          <p:cNvPr name="Group 21" id="21"/>
          <p:cNvGrpSpPr/>
          <p:nvPr/>
        </p:nvGrpSpPr>
        <p:grpSpPr>
          <a:xfrm rot="0">
            <a:off x="11978640" y="4992624"/>
            <a:ext cx="5486400" cy="1005840"/>
            <a:chOff x="0" y="0"/>
            <a:chExt cx="7315200" cy="1341120"/>
          </a:xfrm>
        </p:grpSpPr>
        <p:sp>
          <p:nvSpPr>
            <p:cNvPr name="Freeform 22" id="22"/>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3">
                <a:alphaModFix amt="0"/>
              </a:blip>
              <a:stretch>
                <a:fillRect l="0" t="-56282" r="0" b="-56282"/>
              </a:stretch>
            </a:blipFill>
          </p:spPr>
        </p:sp>
        <p:sp>
          <p:nvSpPr>
            <p:cNvPr name="TextBox 23" id="23"/>
            <p:cNvSpPr txBox="true"/>
            <p:nvPr/>
          </p:nvSpPr>
          <p:spPr>
            <a:xfrm>
              <a:off x="0" y="-9525"/>
              <a:ext cx="7315200" cy="1350645"/>
            </a:xfrm>
            <a:prstGeom prst="rect">
              <a:avLst/>
            </a:prstGeom>
          </p:spPr>
          <p:txBody>
            <a:bodyPr anchor="ctr" rtlCol="false" tIns="0" lIns="0" bIns="0" rIns="0"/>
            <a:lstStyle/>
            <a:p>
              <a:pPr algn="ctr">
                <a:lnSpc>
                  <a:spcPts val="6240"/>
                </a:lnSpc>
              </a:pPr>
              <a:r>
                <a:rPr lang="en-US" sz="5200" b="true">
                  <a:solidFill>
                    <a:srgbClr val="0A7E8C"/>
                  </a:solidFill>
                  <a:latin typeface="Trebuchet MS Bold"/>
                  <a:ea typeface="Trebuchet MS Bold"/>
                  <a:cs typeface="Trebuchet MS Bold"/>
                  <a:sym typeface="Trebuchet MS Bold"/>
                </a:rPr>
                <a:t>5 years</a:t>
              </a:r>
            </a:p>
          </p:txBody>
        </p:sp>
      </p:grpSp>
      <p:grpSp>
        <p:nvGrpSpPr>
          <p:cNvPr name="Group 24" id="24"/>
          <p:cNvGrpSpPr/>
          <p:nvPr/>
        </p:nvGrpSpPr>
        <p:grpSpPr>
          <a:xfrm rot="0">
            <a:off x="11978640" y="5907024"/>
            <a:ext cx="5486400" cy="640080"/>
            <a:chOff x="0" y="0"/>
            <a:chExt cx="7315200" cy="853440"/>
          </a:xfrm>
        </p:grpSpPr>
        <p:sp>
          <p:nvSpPr>
            <p:cNvPr name="Freeform 25" id="25"/>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26" id="26"/>
            <p:cNvSpPr txBox="true"/>
            <p:nvPr/>
          </p:nvSpPr>
          <p:spPr>
            <a:xfrm>
              <a:off x="0" y="-38100"/>
              <a:ext cx="7315200" cy="89154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of weekly tracking</a:t>
              </a:r>
            </a:p>
          </p:txBody>
        </p:sp>
      </p:grpSp>
      <p:grpSp>
        <p:nvGrpSpPr>
          <p:cNvPr name="Group 27" id="27"/>
          <p:cNvGrpSpPr/>
          <p:nvPr/>
        </p:nvGrpSpPr>
        <p:grpSpPr>
          <a:xfrm rot="0">
            <a:off x="11880847" y="7052815"/>
            <a:ext cx="5681977" cy="1841497"/>
            <a:chOff x="0" y="0"/>
            <a:chExt cx="7575969" cy="2455329"/>
          </a:xfrm>
        </p:grpSpPr>
        <p:sp>
          <p:nvSpPr>
            <p:cNvPr name="Freeform 28" id="28"/>
            <p:cNvSpPr/>
            <p:nvPr/>
          </p:nvSpPr>
          <p:spPr>
            <a:xfrm flipH="false" flipV="false" rot="0">
              <a:off x="0" y="0"/>
              <a:ext cx="7575931" cy="2455291"/>
            </a:xfrm>
            <a:custGeom>
              <a:avLst/>
              <a:gdLst/>
              <a:ahLst/>
              <a:cxnLst/>
              <a:rect r="r" b="b" t="t" l="l"/>
              <a:pathLst>
                <a:path h="2455291" w="7575931">
                  <a:moveTo>
                    <a:pt x="0" y="0"/>
                  </a:moveTo>
                  <a:lnTo>
                    <a:pt x="7575931" y="0"/>
                  </a:lnTo>
                  <a:lnTo>
                    <a:pt x="7575931" y="2455291"/>
                  </a:lnTo>
                  <a:lnTo>
                    <a:pt x="0" y="2455291"/>
                  </a:lnTo>
                  <a:close/>
                </a:path>
              </a:pathLst>
            </a:custGeom>
            <a:solidFill>
              <a:srgbClr val="FFFFFF"/>
            </a:solidFill>
            <a:ln w="12700" cap="sq">
              <a:solidFill>
                <a:srgbClr val="E2E8F0"/>
              </a:solidFill>
              <a:prstDash val="solid"/>
              <a:miter/>
            </a:ln>
          </p:spPr>
        </p:sp>
      </p:grpSp>
      <p:grpSp>
        <p:nvGrpSpPr>
          <p:cNvPr name="Group 29" id="29"/>
          <p:cNvGrpSpPr/>
          <p:nvPr/>
        </p:nvGrpSpPr>
        <p:grpSpPr>
          <a:xfrm rot="0">
            <a:off x="11978640" y="7150608"/>
            <a:ext cx="5486400" cy="1005840"/>
            <a:chOff x="0" y="0"/>
            <a:chExt cx="7315200" cy="1341120"/>
          </a:xfrm>
        </p:grpSpPr>
        <p:sp>
          <p:nvSpPr>
            <p:cNvPr name="Freeform 30" id="30"/>
            <p:cNvSpPr/>
            <p:nvPr/>
          </p:nvSpPr>
          <p:spPr>
            <a:xfrm flipH="false" flipV="false" rot="0">
              <a:off x="0" y="0"/>
              <a:ext cx="7315200" cy="1341120"/>
            </a:xfrm>
            <a:custGeom>
              <a:avLst/>
              <a:gdLst/>
              <a:ahLst/>
              <a:cxnLst/>
              <a:rect r="r" b="b" t="t" l="l"/>
              <a:pathLst>
                <a:path h="1341120" w="7315200">
                  <a:moveTo>
                    <a:pt x="0" y="0"/>
                  </a:moveTo>
                  <a:lnTo>
                    <a:pt x="7315200" y="0"/>
                  </a:lnTo>
                  <a:lnTo>
                    <a:pt x="7315200" y="1341120"/>
                  </a:lnTo>
                  <a:lnTo>
                    <a:pt x="0" y="1341120"/>
                  </a:lnTo>
                  <a:close/>
                </a:path>
              </a:pathLst>
            </a:custGeom>
            <a:blipFill>
              <a:blip r:embed="rId3">
                <a:alphaModFix amt="0"/>
              </a:blip>
              <a:stretch>
                <a:fillRect l="0" t="-56282" r="0" b="-56282"/>
              </a:stretch>
            </a:blipFill>
          </p:spPr>
        </p:sp>
        <p:sp>
          <p:nvSpPr>
            <p:cNvPr name="TextBox 31" id="31"/>
            <p:cNvSpPr txBox="true"/>
            <p:nvPr/>
          </p:nvSpPr>
          <p:spPr>
            <a:xfrm>
              <a:off x="0" y="-9525"/>
              <a:ext cx="7315200" cy="1350645"/>
            </a:xfrm>
            <a:prstGeom prst="rect">
              <a:avLst/>
            </a:prstGeom>
          </p:spPr>
          <p:txBody>
            <a:bodyPr anchor="ctr" rtlCol="false" tIns="0" lIns="0" bIns="0" rIns="0"/>
            <a:lstStyle/>
            <a:p>
              <a:pPr algn="ctr">
                <a:lnSpc>
                  <a:spcPts val="6240"/>
                </a:lnSpc>
              </a:pPr>
              <a:r>
                <a:rPr lang="en-US" sz="5200" b="true">
                  <a:solidFill>
                    <a:srgbClr val="0A7E8C"/>
                  </a:solidFill>
                  <a:latin typeface="Trebuchet MS Bold"/>
                  <a:ea typeface="Trebuchet MS Bold"/>
                  <a:cs typeface="Trebuchet MS Bold"/>
                  <a:sym typeface="Trebuchet MS Bold"/>
                </a:rPr>
                <a:t>40 countries</a:t>
              </a:r>
            </a:p>
          </p:txBody>
        </p:sp>
      </p:grpSp>
      <p:grpSp>
        <p:nvGrpSpPr>
          <p:cNvPr name="Group 32" id="32"/>
          <p:cNvGrpSpPr/>
          <p:nvPr/>
        </p:nvGrpSpPr>
        <p:grpSpPr>
          <a:xfrm rot="0">
            <a:off x="11978640" y="8065008"/>
            <a:ext cx="5486400" cy="640080"/>
            <a:chOff x="0" y="0"/>
            <a:chExt cx="7315200" cy="853440"/>
          </a:xfrm>
        </p:grpSpPr>
        <p:sp>
          <p:nvSpPr>
            <p:cNvPr name="Freeform 33" id="33"/>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34" id="34"/>
            <p:cNvSpPr txBox="true"/>
            <p:nvPr/>
          </p:nvSpPr>
          <p:spPr>
            <a:xfrm>
              <a:off x="0" y="-38100"/>
              <a:ext cx="7315200" cy="89154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986 sub-national regions</a:t>
              </a:r>
            </a:p>
          </p:txBody>
        </p:sp>
      </p:grpSp>
      <p:grpSp>
        <p:nvGrpSpPr>
          <p:cNvPr name="Group 35" id="35"/>
          <p:cNvGrpSpPr/>
          <p:nvPr/>
        </p:nvGrpSpPr>
        <p:grpSpPr>
          <a:xfrm rot="0">
            <a:off x="1097280" y="8970512"/>
            <a:ext cx="16093440" cy="1097280"/>
            <a:chOff x="0" y="0"/>
            <a:chExt cx="21457920" cy="1463040"/>
          </a:xfrm>
        </p:grpSpPr>
        <p:sp>
          <p:nvSpPr>
            <p:cNvPr name="Freeform 36" id="36"/>
            <p:cNvSpPr/>
            <p:nvPr/>
          </p:nvSpPr>
          <p:spPr>
            <a:xfrm flipH="false" flipV="false" rot="0">
              <a:off x="0" y="0"/>
              <a:ext cx="21457920" cy="1463040"/>
            </a:xfrm>
            <a:custGeom>
              <a:avLst/>
              <a:gdLst/>
              <a:ahLst/>
              <a:cxnLst/>
              <a:rect r="r" b="b" t="t" l="l"/>
              <a:pathLst>
                <a:path h="1463040" w="21457920">
                  <a:moveTo>
                    <a:pt x="0" y="0"/>
                  </a:moveTo>
                  <a:lnTo>
                    <a:pt x="21457920" y="0"/>
                  </a:lnTo>
                  <a:lnTo>
                    <a:pt x="21457920" y="1463040"/>
                  </a:lnTo>
                  <a:lnTo>
                    <a:pt x="0" y="1463040"/>
                  </a:lnTo>
                  <a:close/>
                </a:path>
              </a:pathLst>
            </a:custGeom>
            <a:blipFill>
              <a:blip r:embed="rId3">
                <a:alphaModFix amt="0"/>
              </a:blip>
              <a:stretch>
                <a:fillRect l="0" t="-235780" r="0" b="-235780"/>
              </a:stretch>
            </a:blipFill>
          </p:spPr>
        </p:sp>
        <p:sp>
          <p:nvSpPr>
            <p:cNvPr name="TextBox 37" id="37"/>
            <p:cNvSpPr txBox="true"/>
            <p:nvPr/>
          </p:nvSpPr>
          <p:spPr>
            <a:xfrm>
              <a:off x="0" y="-123825"/>
              <a:ext cx="21457920" cy="1586865"/>
            </a:xfrm>
            <a:prstGeom prst="rect">
              <a:avLst/>
            </a:prstGeom>
          </p:spPr>
          <p:txBody>
            <a:bodyPr anchor="ctr" rtlCol="false" tIns="0" lIns="0" bIns="0" rIns="0"/>
            <a:lstStyle/>
            <a:p>
              <a:pPr algn="l">
                <a:lnSpc>
                  <a:spcPts val="3432"/>
                </a:lnSpc>
              </a:pPr>
              <a:r>
                <a:rPr lang="en-US" sz="2200" i="true">
                  <a:solidFill>
                    <a:srgbClr val="64748B"/>
                  </a:solidFill>
                  <a:latin typeface="Calibri (MS) Italics"/>
                  <a:ea typeface="Calibri (MS) Italics"/>
                  <a:cs typeface="Calibri (MS) Italics"/>
                  <a:sym typeface="Calibri (MS) Italics"/>
                </a:rPr>
                <a:t>This analysis was built to replace guesswork with evidence.  Tracking 23,352 distinct search terms through a structured Power BI data model with 24 custom DAX measures.</a:t>
              </a:r>
            </a:p>
          </p:txBody>
        </p:sp>
      </p:grpSp>
      <p:grpSp>
        <p:nvGrpSpPr>
          <p:cNvPr name="Group 38" id="38"/>
          <p:cNvGrpSpPr/>
          <p:nvPr/>
        </p:nvGrpSpPr>
        <p:grpSpPr>
          <a:xfrm rot="0">
            <a:off x="16093440" y="9692640"/>
            <a:ext cx="1828800" cy="365760"/>
            <a:chOff x="0" y="0"/>
            <a:chExt cx="2438400" cy="487680"/>
          </a:xfrm>
        </p:grpSpPr>
        <p:sp>
          <p:nvSpPr>
            <p:cNvPr name="Freeform 39" id="39"/>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40" id="40"/>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3 / 14</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9144000" cy="402336"/>
            <a:chOff x="0" y="0"/>
            <a:chExt cx="12192000" cy="536448"/>
          </a:xfrm>
        </p:grpSpPr>
        <p:sp>
          <p:nvSpPr>
            <p:cNvPr name="Freeform 3" id="3"/>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4" id="4"/>
            <p:cNvSpPr txBox="true"/>
            <p:nvPr/>
          </p:nvSpPr>
          <p:spPr>
            <a:xfrm>
              <a:off x="0" y="-38100"/>
              <a:ext cx="12192000" cy="574548"/>
            </a:xfrm>
            <a:prstGeom prst="rect">
              <a:avLst/>
            </a:prstGeom>
          </p:spPr>
          <p:txBody>
            <a:bodyPr anchor="ctr" rtlCol="false" tIns="0" lIns="0" bIns="0" rIns="0"/>
            <a:lstStyle/>
            <a:p>
              <a:pPr algn="l">
                <a:lnSpc>
                  <a:spcPts val="2160"/>
                </a:lnSpc>
              </a:pPr>
              <a:r>
                <a:rPr lang="en-US" b="true" sz="1800" spc="599">
                  <a:solidFill>
                    <a:srgbClr val="0A7E8C"/>
                  </a:solidFill>
                  <a:latin typeface="Calibri (MS) Bold"/>
                  <a:ea typeface="Calibri (MS) Bold"/>
                  <a:cs typeface="Calibri (MS) Bold"/>
                  <a:sym typeface="Calibri (MS) Bold"/>
                </a:rPr>
                <a:t>COMPLICATION</a:t>
              </a:r>
            </a:p>
          </p:txBody>
        </p:sp>
      </p:grpSp>
      <p:grpSp>
        <p:nvGrpSpPr>
          <p:cNvPr name="Group 5" id="5"/>
          <p:cNvGrpSpPr/>
          <p:nvPr/>
        </p:nvGrpSpPr>
        <p:grpSpPr>
          <a:xfrm rot="0">
            <a:off x="1084583" y="1121159"/>
            <a:ext cx="135131" cy="1305563"/>
            <a:chOff x="0" y="0"/>
            <a:chExt cx="180175" cy="1740751"/>
          </a:xfrm>
        </p:grpSpPr>
        <p:sp>
          <p:nvSpPr>
            <p:cNvPr name="Freeform 6" id="6"/>
            <p:cNvSpPr/>
            <p:nvPr/>
          </p:nvSpPr>
          <p:spPr>
            <a:xfrm flipH="false" flipV="false" rot="0">
              <a:off x="0" y="0"/>
              <a:ext cx="180213" cy="1740789"/>
            </a:xfrm>
            <a:custGeom>
              <a:avLst/>
              <a:gdLst/>
              <a:ahLst/>
              <a:cxnLst/>
              <a:rect r="r" b="b" t="t" l="l"/>
              <a:pathLst>
                <a:path h="1740789" w="180213">
                  <a:moveTo>
                    <a:pt x="0" y="0"/>
                  </a:moveTo>
                  <a:lnTo>
                    <a:pt x="180213" y="0"/>
                  </a:lnTo>
                  <a:lnTo>
                    <a:pt x="180213" y="1740789"/>
                  </a:lnTo>
                  <a:lnTo>
                    <a:pt x="0" y="1740789"/>
                  </a:lnTo>
                  <a:close/>
                </a:path>
              </a:pathLst>
            </a:custGeom>
            <a:solidFill>
              <a:srgbClr val="0A7E8C"/>
            </a:solidFill>
            <a:ln w="25400" cap="sq">
              <a:solidFill>
                <a:srgbClr val="0A7E8C"/>
              </a:solidFill>
              <a:prstDash val="solid"/>
              <a:miter/>
            </a:ln>
          </p:spPr>
        </p:sp>
      </p:grpSp>
      <p:grpSp>
        <p:nvGrpSpPr>
          <p:cNvPr name="Group 7" id="7"/>
          <p:cNvGrpSpPr/>
          <p:nvPr/>
        </p:nvGrpSpPr>
        <p:grpSpPr>
          <a:xfrm rot="0">
            <a:off x="1371600" y="1005840"/>
            <a:ext cx="15544800" cy="1188720"/>
            <a:chOff x="0" y="0"/>
            <a:chExt cx="20726400" cy="1584960"/>
          </a:xfrm>
        </p:grpSpPr>
        <p:sp>
          <p:nvSpPr>
            <p:cNvPr name="Freeform 8" id="8"/>
            <p:cNvSpPr/>
            <p:nvPr/>
          </p:nvSpPr>
          <p:spPr>
            <a:xfrm flipH="false" flipV="false" rot="0">
              <a:off x="0" y="0"/>
              <a:ext cx="20726400" cy="1584960"/>
            </a:xfrm>
            <a:custGeom>
              <a:avLst/>
              <a:gdLst/>
              <a:ahLst/>
              <a:cxnLst/>
              <a:rect r="r" b="b" t="t" l="l"/>
              <a:pathLst>
                <a:path h="1584960" w="20726400">
                  <a:moveTo>
                    <a:pt x="0" y="0"/>
                  </a:moveTo>
                  <a:lnTo>
                    <a:pt x="20726400" y="0"/>
                  </a:lnTo>
                  <a:lnTo>
                    <a:pt x="20726400" y="1584960"/>
                  </a:lnTo>
                  <a:lnTo>
                    <a:pt x="0" y="1584960"/>
                  </a:lnTo>
                  <a:close/>
                </a:path>
              </a:pathLst>
            </a:custGeom>
            <a:blipFill>
              <a:blip r:embed="rId3">
                <a:alphaModFix amt="0"/>
              </a:blip>
              <a:stretch>
                <a:fillRect l="0" t="-204804" r="0" b="-204804"/>
              </a:stretch>
            </a:blipFill>
          </p:spPr>
        </p:sp>
        <p:sp>
          <p:nvSpPr>
            <p:cNvPr name="TextBox 9" id="9"/>
            <p:cNvSpPr txBox="true"/>
            <p:nvPr/>
          </p:nvSpPr>
          <p:spPr>
            <a:xfrm>
              <a:off x="0" y="-9525"/>
              <a:ext cx="20726400" cy="1594485"/>
            </a:xfrm>
            <a:prstGeom prst="rect">
              <a:avLst/>
            </a:prstGeom>
          </p:spPr>
          <p:txBody>
            <a:bodyPr anchor="ctr" rtlCol="false" tIns="0" lIns="0" bIns="0" rIns="0"/>
            <a:lstStyle/>
            <a:p>
              <a:pPr algn="l">
                <a:lnSpc>
                  <a:spcPts val="6719"/>
                </a:lnSpc>
              </a:pPr>
              <a:r>
                <a:rPr lang="en-US" sz="5599" b="true">
                  <a:solidFill>
                    <a:srgbClr val="FFFFFF"/>
                  </a:solidFill>
                  <a:latin typeface="Trebuchet MS Bold"/>
                  <a:ea typeface="Trebuchet MS Bold"/>
                  <a:cs typeface="Trebuchet MS Bold"/>
                  <a:sym typeface="Trebuchet MS Bold"/>
                </a:rPr>
                <a:t>The core assumption is wrong.</a:t>
              </a:r>
            </a:p>
          </p:txBody>
        </p:sp>
      </p:grpSp>
      <p:grpSp>
        <p:nvGrpSpPr>
          <p:cNvPr name="Group 10" id="10"/>
          <p:cNvGrpSpPr/>
          <p:nvPr/>
        </p:nvGrpSpPr>
        <p:grpSpPr>
          <a:xfrm rot="0">
            <a:off x="1097280" y="2468880"/>
            <a:ext cx="8229600" cy="2560320"/>
            <a:chOff x="0" y="0"/>
            <a:chExt cx="10972800" cy="3413760"/>
          </a:xfrm>
        </p:grpSpPr>
        <p:sp>
          <p:nvSpPr>
            <p:cNvPr name="Freeform 11" id="11"/>
            <p:cNvSpPr/>
            <p:nvPr/>
          </p:nvSpPr>
          <p:spPr>
            <a:xfrm flipH="false" flipV="false" rot="0">
              <a:off x="0" y="0"/>
              <a:ext cx="10972800" cy="3413760"/>
            </a:xfrm>
            <a:custGeom>
              <a:avLst/>
              <a:gdLst/>
              <a:ahLst/>
              <a:cxnLst/>
              <a:rect r="r" b="b" t="t" l="l"/>
              <a:pathLst>
                <a:path h="3413760" w="10972800">
                  <a:moveTo>
                    <a:pt x="0" y="0"/>
                  </a:moveTo>
                  <a:lnTo>
                    <a:pt x="10972800" y="0"/>
                  </a:lnTo>
                  <a:lnTo>
                    <a:pt x="10972800" y="3413760"/>
                  </a:lnTo>
                  <a:lnTo>
                    <a:pt x="0" y="3413760"/>
                  </a:lnTo>
                  <a:close/>
                </a:path>
              </a:pathLst>
            </a:custGeom>
            <a:blipFill>
              <a:blip r:embed="rId3">
                <a:alphaModFix amt="0"/>
              </a:blip>
              <a:stretch>
                <a:fillRect l="0" t="-12630" r="0" b="-12630"/>
              </a:stretch>
            </a:blipFill>
          </p:spPr>
        </p:sp>
        <p:sp>
          <p:nvSpPr>
            <p:cNvPr name="TextBox 12" id="12"/>
            <p:cNvSpPr txBox="true"/>
            <p:nvPr/>
          </p:nvSpPr>
          <p:spPr>
            <a:xfrm>
              <a:off x="0" y="-9525"/>
              <a:ext cx="10972800" cy="3423285"/>
            </a:xfrm>
            <a:prstGeom prst="rect">
              <a:avLst/>
            </a:prstGeom>
          </p:spPr>
          <p:txBody>
            <a:bodyPr anchor="ctr" rtlCol="false" tIns="0" lIns="0" bIns="0" rIns="0"/>
            <a:lstStyle/>
            <a:p>
              <a:pPr algn="ctr">
                <a:lnSpc>
                  <a:spcPts val="19200"/>
                </a:lnSpc>
              </a:pPr>
              <a:r>
                <a:rPr lang="en-US" sz="16000" b="true">
                  <a:solidFill>
                    <a:srgbClr val="E05C45"/>
                  </a:solidFill>
                  <a:latin typeface="Trebuchet MS Bold"/>
                  <a:ea typeface="Trebuchet MS Bold"/>
                  <a:cs typeface="Trebuchet MS Bold"/>
                  <a:sym typeface="Trebuchet MS Bold"/>
                </a:rPr>
                <a:t>99.3%</a:t>
              </a:r>
            </a:p>
          </p:txBody>
        </p:sp>
      </p:grpSp>
      <p:grpSp>
        <p:nvGrpSpPr>
          <p:cNvPr name="Group 13" id="13"/>
          <p:cNvGrpSpPr/>
          <p:nvPr/>
        </p:nvGrpSpPr>
        <p:grpSpPr>
          <a:xfrm rot="0">
            <a:off x="1097280" y="4846320"/>
            <a:ext cx="8229600" cy="2194560"/>
            <a:chOff x="0" y="0"/>
            <a:chExt cx="10972800" cy="2926080"/>
          </a:xfrm>
        </p:grpSpPr>
        <p:sp>
          <p:nvSpPr>
            <p:cNvPr name="Freeform 14" id="14"/>
            <p:cNvSpPr/>
            <p:nvPr/>
          </p:nvSpPr>
          <p:spPr>
            <a:xfrm flipH="false" flipV="false" rot="0">
              <a:off x="0" y="0"/>
              <a:ext cx="10972800" cy="2926080"/>
            </a:xfrm>
            <a:custGeom>
              <a:avLst/>
              <a:gdLst/>
              <a:ahLst/>
              <a:cxnLst/>
              <a:rect r="r" b="b" t="t" l="l"/>
              <a:pathLst>
                <a:path h="2926080" w="10972800">
                  <a:moveTo>
                    <a:pt x="0" y="0"/>
                  </a:moveTo>
                  <a:lnTo>
                    <a:pt x="10972800" y="0"/>
                  </a:lnTo>
                  <a:lnTo>
                    <a:pt x="10972800" y="2926080"/>
                  </a:lnTo>
                  <a:lnTo>
                    <a:pt x="0" y="2926080"/>
                  </a:lnTo>
                  <a:close/>
                </a:path>
              </a:pathLst>
            </a:custGeom>
            <a:blipFill>
              <a:blip r:embed="rId3">
                <a:alphaModFix amt="0"/>
              </a:blip>
              <a:stretch>
                <a:fillRect l="0" t="-23068" r="0" b="-23068"/>
              </a:stretch>
            </a:blipFill>
          </p:spPr>
        </p:sp>
        <p:sp>
          <p:nvSpPr>
            <p:cNvPr name="TextBox 15" id="15"/>
            <p:cNvSpPr txBox="true"/>
            <p:nvPr/>
          </p:nvSpPr>
          <p:spPr>
            <a:xfrm>
              <a:off x="0" y="-200025"/>
              <a:ext cx="10972800" cy="3126105"/>
            </a:xfrm>
            <a:prstGeom prst="rect">
              <a:avLst/>
            </a:prstGeom>
          </p:spPr>
          <p:txBody>
            <a:bodyPr anchor="ctr" rtlCol="false" tIns="0" lIns="0" bIns="0" rIns="0"/>
            <a:lstStyle/>
            <a:p>
              <a:pPr algn="ctr">
                <a:lnSpc>
                  <a:spcPts val="5376"/>
                </a:lnSpc>
              </a:pPr>
              <a:r>
                <a:rPr lang="en-US" sz="3200">
                  <a:solidFill>
                    <a:srgbClr val="FFFFFF"/>
                  </a:solidFill>
                  <a:latin typeface="Calibri (MS)"/>
                  <a:ea typeface="Calibri (MS)"/>
                  <a:cs typeface="Calibri (MS)"/>
                  <a:sym typeface="Calibri (MS)"/>
                </a:rPr>
                <a:t>of trending topics are</a:t>
              </a:r>
            </a:p>
            <a:p>
              <a:pPr algn="ctr">
                <a:lnSpc>
                  <a:spcPts val="5376"/>
                </a:lnSpc>
              </a:pPr>
              <a:r>
                <a:rPr lang="en-US" sz="3200">
                  <a:solidFill>
                    <a:srgbClr val="FFFFFF"/>
                  </a:solidFill>
                  <a:latin typeface="Calibri (MS)"/>
                  <a:ea typeface="Calibri (MS)"/>
                  <a:cs typeface="Calibri (MS)"/>
                  <a:sym typeface="Calibri (MS)"/>
                </a:rPr>
                <a:t>geographically isolated</a:t>
              </a:r>
            </a:p>
            <a:p>
              <a:pPr algn="ctr">
                <a:lnSpc>
                  <a:spcPts val="5376"/>
                </a:lnSpc>
              </a:pPr>
              <a:r>
                <a:rPr lang="en-US" sz="3200">
                  <a:solidFill>
                    <a:srgbClr val="FFFFFF"/>
                  </a:solidFill>
                  <a:latin typeface="Calibri (MS)"/>
                  <a:ea typeface="Calibri (MS)"/>
                  <a:cs typeface="Calibri (MS)"/>
                  <a:sym typeface="Calibri (MS)"/>
                </a:rPr>
                <a:t>to a single country.</a:t>
              </a:r>
            </a:p>
          </p:txBody>
        </p:sp>
      </p:grpSp>
      <p:grpSp>
        <p:nvGrpSpPr>
          <p:cNvPr name="Group 16" id="16"/>
          <p:cNvGrpSpPr/>
          <p:nvPr/>
        </p:nvGrpSpPr>
        <p:grpSpPr>
          <a:xfrm rot="0">
            <a:off x="9869167" y="2188207"/>
            <a:ext cx="7876537" cy="6962137"/>
            <a:chOff x="0" y="0"/>
            <a:chExt cx="10502049" cy="9282849"/>
          </a:xfrm>
        </p:grpSpPr>
        <p:sp>
          <p:nvSpPr>
            <p:cNvPr name="Freeform 17" id="17"/>
            <p:cNvSpPr/>
            <p:nvPr/>
          </p:nvSpPr>
          <p:spPr>
            <a:xfrm flipH="false" flipV="false" rot="0">
              <a:off x="0" y="0"/>
              <a:ext cx="10502011" cy="9282811"/>
            </a:xfrm>
            <a:custGeom>
              <a:avLst/>
              <a:gdLst/>
              <a:ahLst/>
              <a:cxnLst/>
              <a:rect r="r" b="b" t="t" l="l"/>
              <a:pathLst>
                <a:path h="9282811" w="10502011">
                  <a:moveTo>
                    <a:pt x="0" y="0"/>
                  </a:moveTo>
                  <a:lnTo>
                    <a:pt x="10502011" y="0"/>
                  </a:lnTo>
                  <a:lnTo>
                    <a:pt x="10502011" y="9282811"/>
                  </a:lnTo>
                  <a:lnTo>
                    <a:pt x="0" y="9282811"/>
                  </a:lnTo>
                  <a:close/>
                </a:path>
              </a:pathLst>
            </a:custGeom>
            <a:solidFill>
              <a:srgbClr val="FFFFFF">
                <a:alpha val="0"/>
              </a:srgbClr>
            </a:solidFill>
            <a:ln w="12700" cap="sq">
              <a:solidFill>
                <a:srgbClr val="0A7E8C"/>
              </a:solidFill>
              <a:prstDash val="solid"/>
              <a:miter/>
            </a:ln>
          </p:spPr>
        </p:sp>
      </p:grpSp>
      <p:grpSp>
        <p:nvGrpSpPr>
          <p:cNvPr name="Group 18" id="18"/>
          <p:cNvGrpSpPr/>
          <p:nvPr/>
        </p:nvGrpSpPr>
        <p:grpSpPr>
          <a:xfrm rot="0">
            <a:off x="10149840" y="2468880"/>
            <a:ext cx="7315200" cy="640080"/>
            <a:chOff x="0" y="0"/>
            <a:chExt cx="9753600" cy="853440"/>
          </a:xfrm>
        </p:grpSpPr>
        <p:sp>
          <p:nvSpPr>
            <p:cNvPr name="Freeform 19" id="19"/>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20" id="20"/>
            <p:cNvSpPr txBox="true"/>
            <p:nvPr/>
          </p:nvSpPr>
          <p:spPr>
            <a:xfrm>
              <a:off x="0" y="-9525"/>
              <a:ext cx="9753600" cy="862965"/>
            </a:xfrm>
            <a:prstGeom prst="rect">
              <a:avLst/>
            </a:prstGeom>
          </p:spPr>
          <p:txBody>
            <a:bodyPr anchor="ctr" rtlCol="false" tIns="0" lIns="0" bIns="0" rIns="0"/>
            <a:lstStyle/>
            <a:p>
              <a:pPr algn="l">
                <a:lnSpc>
                  <a:spcPts val="2879"/>
                </a:lnSpc>
              </a:pPr>
              <a:r>
                <a:rPr lang="en-US" sz="2400" b="true">
                  <a:solidFill>
                    <a:srgbClr val="12B5C8"/>
                  </a:solidFill>
                  <a:latin typeface="Trebuchet MS Bold"/>
                  <a:ea typeface="Trebuchet MS Bold"/>
                  <a:cs typeface="Trebuchet MS Bold"/>
                  <a:sym typeface="Trebuchet MS Bold"/>
                </a:rPr>
                <a:t>What this means for strategy</a:t>
              </a:r>
            </a:p>
          </p:txBody>
        </p:sp>
      </p:grpSp>
      <p:grpSp>
        <p:nvGrpSpPr>
          <p:cNvPr name="Group 21" id="21"/>
          <p:cNvGrpSpPr/>
          <p:nvPr/>
        </p:nvGrpSpPr>
        <p:grpSpPr>
          <a:xfrm rot="0">
            <a:off x="10137143" y="3370583"/>
            <a:ext cx="391163" cy="391163"/>
            <a:chOff x="0" y="0"/>
            <a:chExt cx="521551" cy="521551"/>
          </a:xfrm>
        </p:grpSpPr>
        <p:sp>
          <p:nvSpPr>
            <p:cNvPr name="Freeform 22" id="22"/>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A7E8C"/>
            </a:solidFill>
            <a:ln w="25400" cap="sq">
              <a:solidFill>
                <a:srgbClr val="0A7E8C"/>
              </a:solidFill>
              <a:prstDash val="solid"/>
              <a:miter/>
            </a:ln>
          </p:spPr>
        </p:sp>
      </p:grpSp>
      <p:sp>
        <p:nvSpPr>
          <p:cNvPr name="TextBox 23" id="23"/>
          <p:cNvSpPr txBox="true"/>
          <p:nvPr/>
        </p:nvSpPr>
        <p:spPr>
          <a:xfrm rot="0">
            <a:off x="10735056" y="3278886"/>
            <a:ext cx="6583680" cy="781050"/>
          </a:xfrm>
          <a:prstGeom prst="rect">
            <a:avLst/>
          </a:prstGeom>
        </p:spPr>
        <p:txBody>
          <a:bodyPr anchor="t" rtlCol="false" tIns="0" lIns="0" bIns="0" rIns="0">
            <a:spAutoFit/>
          </a:bodyPr>
          <a:lstStyle/>
          <a:p>
            <a:pPr algn="l">
              <a:lnSpc>
                <a:spcPts val="3000"/>
              </a:lnSpc>
            </a:pPr>
            <a:r>
              <a:rPr lang="en-US" sz="2000">
                <a:solidFill>
                  <a:srgbClr val="A8C4CC"/>
                </a:solidFill>
                <a:latin typeface="Calibri (MS)"/>
                <a:ea typeface="Calibri (MS)"/>
                <a:cs typeface="Calibri (MS)"/>
                <a:sym typeface="Calibri (MS)"/>
              </a:rPr>
              <a:t>A campaign built on a topic trending in India is invisible in Germany, by data, not by chance.</a:t>
            </a:r>
          </a:p>
        </p:txBody>
      </p:sp>
      <p:grpSp>
        <p:nvGrpSpPr>
          <p:cNvPr name="Group 24" id="24"/>
          <p:cNvGrpSpPr/>
          <p:nvPr/>
        </p:nvGrpSpPr>
        <p:grpSpPr>
          <a:xfrm rot="0">
            <a:off x="10137143" y="4742183"/>
            <a:ext cx="391163" cy="391163"/>
            <a:chOff x="0" y="0"/>
            <a:chExt cx="521551" cy="521551"/>
          </a:xfrm>
        </p:grpSpPr>
        <p:sp>
          <p:nvSpPr>
            <p:cNvPr name="Freeform 25" id="25"/>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A7E8C"/>
            </a:solidFill>
            <a:ln w="25400" cap="sq">
              <a:solidFill>
                <a:srgbClr val="0A7E8C"/>
              </a:solidFill>
              <a:prstDash val="solid"/>
              <a:miter/>
            </a:ln>
          </p:spPr>
        </p:sp>
      </p:grpSp>
      <p:sp>
        <p:nvSpPr>
          <p:cNvPr name="TextBox 26" id="26"/>
          <p:cNvSpPr txBox="true"/>
          <p:nvPr/>
        </p:nvSpPr>
        <p:spPr>
          <a:xfrm rot="0">
            <a:off x="10735056" y="4650486"/>
            <a:ext cx="6583680" cy="1101090"/>
          </a:xfrm>
          <a:prstGeom prst="rect">
            <a:avLst/>
          </a:prstGeom>
        </p:spPr>
        <p:txBody>
          <a:bodyPr anchor="t" rtlCol="false" tIns="0" lIns="0" bIns="0" rIns="0">
            <a:spAutoFit/>
          </a:bodyPr>
          <a:lstStyle/>
          <a:p>
            <a:pPr algn="l">
              <a:lnSpc>
                <a:spcPts val="3000"/>
              </a:lnSpc>
            </a:pPr>
            <a:r>
              <a:rPr lang="en-US" sz="2000">
                <a:solidFill>
                  <a:srgbClr val="A8C4CC"/>
                </a:solidFill>
                <a:latin typeface="Calibri (MS)"/>
                <a:ea typeface="Calibri (MS)"/>
                <a:cs typeface="Calibri (MS)"/>
                <a:sym typeface="Calibri (MS)"/>
              </a:rPr>
              <a:t>Teams chasing "trending topics" without geographic scope filters are acting on noise 99% of the time.</a:t>
            </a:r>
          </a:p>
        </p:txBody>
      </p:sp>
      <p:grpSp>
        <p:nvGrpSpPr>
          <p:cNvPr name="Group 27" id="27"/>
          <p:cNvGrpSpPr/>
          <p:nvPr/>
        </p:nvGrpSpPr>
        <p:grpSpPr>
          <a:xfrm rot="0">
            <a:off x="10137143" y="6113783"/>
            <a:ext cx="391163" cy="391163"/>
            <a:chOff x="0" y="0"/>
            <a:chExt cx="521551" cy="521551"/>
          </a:xfrm>
        </p:grpSpPr>
        <p:sp>
          <p:nvSpPr>
            <p:cNvPr name="Freeform 28" id="28"/>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A7E8C"/>
            </a:solidFill>
            <a:ln w="25400" cap="sq">
              <a:solidFill>
                <a:srgbClr val="0A7E8C"/>
              </a:solidFill>
              <a:prstDash val="solid"/>
              <a:miter/>
            </a:ln>
          </p:spPr>
        </p:sp>
      </p:grpSp>
      <p:sp>
        <p:nvSpPr>
          <p:cNvPr name="TextBox 29" id="29"/>
          <p:cNvSpPr txBox="true"/>
          <p:nvPr/>
        </p:nvSpPr>
        <p:spPr>
          <a:xfrm rot="0">
            <a:off x="10735056" y="6022086"/>
            <a:ext cx="6583680" cy="781050"/>
          </a:xfrm>
          <a:prstGeom prst="rect">
            <a:avLst/>
          </a:prstGeom>
        </p:spPr>
        <p:txBody>
          <a:bodyPr anchor="t" rtlCol="false" tIns="0" lIns="0" bIns="0" rIns="0">
            <a:spAutoFit/>
          </a:bodyPr>
          <a:lstStyle/>
          <a:p>
            <a:pPr algn="l">
              <a:lnSpc>
                <a:spcPts val="3000"/>
              </a:lnSpc>
            </a:pPr>
            <a:r>
              <a:rPr lang="en-US" sz="2000">
                <a:solidFill>
                  <a:srgbClr val="A8C4CC"/>
                </a:solidFill>
                <a:latin typeface="Calibri (MS)"/>
                <a:ea typeface="Calibri (MS)"/>
                <a:cs typeface="Calibri (MS)"/>
                <a:sym typeface="Calibri (MS)"/>
              </a:rPr>
              <a:t>Only 164 of 23,352 terms crossed into 2+ markets. These are the only legitimate global plays.</a:t>
            </a:r>
          </a:p>
        </p:txBody>
      </p:sp>
      <p:grpSp>
        <p:nvGrpSpPr>
          <p:cNvPr name="Group 30" id="30"/>
          <p:cNvGrpSpPr/>
          <p:nvPr/>
        </p:nvGrpSpPr>
        <p:grpSpPr>
          <a:xfrm rot="0">
            <a:off x="10137143" y="7485383"/>
            <a:ext cx="391163" cy="391163"/>
            <a:chOff x="0" y="0"/>
            <a:chExt cx="521551" cy="521551"/>
          </a:xfrm>
        </p:grpSpPr>
        <p:sp>
          <p:nvSpPr>
            <p:cNvPr name="Freeform 31" id="31"/>
            <p:cNvSpPr/>
            <p:nvPr/>
          </p:nvSpPr>
          <p:spPr>
            <a:xfrm flipH="false" flipV="false" rot="0">
              <a:off x="0" y="0"/>
              <a:ext cx="521589" cy="521589"/>
            </a:xfrm>
            <a:custGeom>
              <a:avLst/>
              <a:gdLst/>
              <a:ahLst/>
              <a:cxnLst/>
              <a:rect r="r" b="b" t="t" l="l"/>
              <a:pathLst>
                <a:path h="521589" w="521589">
                  <a:moveTo>
                    <a:pt x="0" y="260731"/>
                  </a:moveTo>
                  <a:cubicBezTo>
                    <a:pt x="0" y="116713"/>
                    <a:pt x="116713" y="0"/>
                    <a:pt x="260731" y="0"/>
                  </a:cubicBezTo>
                  <a:cubicBezTo>
                    <a:pt x="404749" y="0"/>
                    <a:pt x="521589" y="116713"/>
                    <a:pt x="521589" y="260731"/>
                  </a:cubicBezTo>
                  <a:cubicBezTo>
                    <a:pt x="521589" y="404749"/>
                    <a:pt x="404749" y="521589"/>
                    <a:pt x="260731" y="521589"/>
                  </a:cubicBezTo>
                  <a:cubicBezTo>
                    <a:pt x="116713" y="521589"/>
                    <a:pt x="0" y="404749"/>
                    <a:pt x="0" y="260731"/>
                  </a:cubicBezTo>
                  <a:close/>
                </a:path>
              </a:pathLst>
            </a:custGeom>
            <a:solidFill>
              <a:srgbClr val="0A7E8C"/>
            </a:solidFill>
            <a:ln w="25400" cap="sq">
              <a:solidFill>
                <a:srgbClr val="0A7E8C"/>
              </a:solidFill>
              <a:prstDash val="solid"/>
              <a:miter/>
            </a:ln>
          </p:spPr>
        </p:sp>
      </p:grpSp>
      <p:sp>
        <p:nvSpPr>
          <p:cNvPr name="TextBox 32" id="32"/>
          <p:cNvSpPr txBox="true"/>
          <p:nvPr/>
        </p:nvSpPr>
        <p:spPr>
          <a:xfrm rot="0">
            <a:off x="10735056" y="7393686"/>
            <a:ext cx="6583680" cy="1101090"/>
          </a:xfrm>
          <a:prstGeom prst="rect">
            <a:avLst/>
          </a:prstGeom>
        </p:spPr>
        <p:txBody>
          <a:bodyPr anchor="t" rtlCol="false" tIns="0" lIns="0" bIns="0" rIns="0">
            <a:spAutoFit/>
          </a:bodyPr>
          <a:lstStyle/>
          <a:p>
            <a:pPr algn="l">
              <a:lnSpc>
                <a:spcPts val="3000"/>
              </a:lnSpc>
            </a:pPr>
            <a:r>
              <a:rPr lang="en-US" sz="2000">
                <a:solidFill>
                  <a:srgbClr val="A8C4CC"/>
                </a:solidFill>
                <a:latin typeface="Calibri (MS)"/>
                <a:ea typeface="Calibri (MS)"/>
                <a:cs typeface="Calibri (MS)"/>
                <a:sym typeface="Calibri (MS)"/>
              </a:rPr>
              <a:t>The most widely-reaching term in 5 years of data spans 34 countries. Most span 1.</a:t>
            </a:r>
          </a:p>
        </p:txBody>
      </p:sp>
      <p:grpSp>
        <p:nvGrpSpPr>
          <p:cNvPr name="Group 33" id="33"/>
          <p:cNvGrpSpPr/>
          <p:nvPr/>
        </p:nvGrpSpPr>
        <p:grpSpPr>
          <a:xfrm rot="0">
            <a:off x="16093440" y="9692640"/>
            <a:ext cx="1828800" cy="365760"/>
            <a:chOff x="0" y="0"/>
            <a:chExt cx="2438400" cy="487680"/>
          </a:xfrm>
        </p:grpSpPr>
        <p:sp>
          <p:nvSpPr>
            <p:cNvPr name="Freeform 34" id="34"/>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35" id="35"/>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4 / 14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9144000" cy="402336"/>
            <a:chOff x="0" y="0"/>
            <a:chExt cx="12192000" cy="536448"/>
          </a:xfrm>
        </p:grpSpPr>
        <p:sp>
          <p:nvSpPr>
            <p:cNvPr name="Freeform 3" id="3"/>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4" id="4"/>
            <p:cNvSpPr txBox="true"/>
            <p:nvPr/>
          </p:nvSpPr>
          <p:spPr>
            <a:xfrm>
              <a:off x="0" y="-38100"/>
              <a:ext cx="12192000" cy="574548"/>
            </a:xfrm>
            <a:prstGeom prst="rect">
              <a:avLst/>
            </a:prstGeom>
          </p:spPr>
          <p:txBody>
            <a:bodyPr anchor="ctr" rtlCol="false" tIns="0" lIns="0" bIns="0" rIns="0"/>
            <a:lstStyle/>
            <a:p>
              <a:pPr algn="l">
                <a:lnSpc>
                  <a:spcPts val="2160"/>
                </a:lnSpc>
              </a:pPr>
              <a:r>
                <a:rPr lang="en-US" b="true" sz="1800" spc="599">
                  <a:solidFill>
                    <a:srgbClr val="0A7E8C"/>
                  </a:solidFill>
                  <a:latin typeface="Calibri (MS) Bold"/>
                  <a:ea typeface="Calibri (MS) Bold"/>
                  <a:cs typeface="Calibri (MS) Bold"/>
                  <a:sym typeface="Calibri (MS) Bold"/>
                </a:rPr>
                <a:t>QUESTION</a:t>
              </a:r>
            </a:p>
          </p:txBody>
        </p:sp>
      </p:grpSp>
      <p:grpSp>
        <p:nvGrpSpPr>
          <p:cNvPr name="Group 5" id="5"/>
          <p:cNvGrpSpPr/>
          <p:nvPr/>
        </p:nvGrpSpPr>
        <p:grpSpPr>
          <a:xfrm rot="0">
            <a:off x="1084583" y="1121159"/>
            <a:ext cx="135131" cy="1305563"/>
            <a:chOff x="0" y="0"/>
            <a:chExt cx="180175" cy="1740751"/>
          </a:xfrm>
        </p:grpSpPr>
        <p:sp>
          <p:nvSpPr>
            <p:cNvPr name="Freeform 6" id="6"/>
            <p:cNvSpPr/>
            <p:nvPr/>
          </p:nvSpPr>
          <p:spPr>
            <a:xfrm flipH="false" flipV="false" rot="0">
              <a:off x="0" y="0"/>
              <a:ext cx="180213" cy="1740789"/>
            </a:xfrm>
            <a:custGeom>
              <a:avLst/>
              <a:gdLst/>
              <a:ahLst/>
              <a:cxnLst/>
              <a:rect r="r" b="b" t="t" l="l"/>
              <a:pathLst>
                <a:path h="1740789" w="180213">
                  <a:moveTo>
                    <a:pt x="0" y="0"/>
                  </a:moveTo>
                  <a:lnTo>
                    <a:pt x="180213" y="0"/>
                  </a:lnTo>
                  <a:lnTo>
                    <a:pt x="180213" y="1740789"/>
                  </a:lnTo>
                  <a:lnTo>
                    <a:pt x="0" y="1740789"/>
                  </a:lnTo>
                  <a:close/>
                </a:path>
              </a:pathLst>
            </a:custGeom>
            <a:solidFill>
              <a:srgbClr val="0A7E8C"/>
            </a:solidFill>
            <a:ln w="25400" cap="sq">
              <a:solidFill>
                <a:srgbClr val="0A7E8C"/>
              </a:solidFill>
              <a:prstDash val="solid"/>
              <a:miter/>
            </a:ln>
          </p:spPr>
        </p:sp>
      </p:grpSp>
      <p:grpSp>
        <p:nvGrpSpPr>
          <p:cNvPr name="Group 7" id="7"/>
          <p:cNvGrpSpPr/>
          <p:nvPr/>
        </p:nvGrpSpPr>
        <p:grpSpPr>
          <a:xfrm rot="0">
            <a:off x="1371600" y="1005840"/>
            <a:ext cx="15727680" cy="1645920"/>
            <a:chOff x="0" y="0"/>
            <a:chExt cx="20970240" cy="2194560"/>
          </a:xfrm>
        </p:grpSpPr>
        <p:sp>
          <p:nvSpPr>
            <p:cNvPr name="Freeform 8" id="8"/>
            <p:cNvSpPr/>
            <p:nvPr/>
          </p:nvSpPr>
          <p:spPr>
            <a:xfrm flipH="false" flipV="false" rot="0">
              <a:off x="0" y="0"/>
              <a:ext cx="20970239" cy="2194560"/>
            </a:xfrm>
            <a:custGeom>
              <a:avLst/>
              <a:gdLst/>
              <a:ahLst/>
              <a:cxnLst/>
              <a:rect r="r" b="b" t="t" l="l"/>
              <a:pathLst>
                <a:path h="2194560" w="20970239">
                  <a:moveTo>
                    <a:pt x="0" y="0"/>
                  </a:moveTo>
                  <a:lnTo>
                    <a:pt x="20970239" y="0"/>
                  </a:lnTo>
                  <a:lnTo>
                    <a:pt x="20970239" y="2194560"/>
                  </a:lnTo>
                  <a:lnTo>
                    <a:pt x="0" y="2194560"/>
                  </a:lnTo>
                  <a:close/>
                </a:path>
              </a:pathLst>
            </a:custGeom>
            <a:blipFill>
              <a:blip r:embed="rId3">
                <a:alphaModFix amt="0"/>
              </a:blip>
              <a:stretch>
                <a:fillRect l="0" t="-136190" r="0" b="-136190"/>
              </a:stretch>
            </a:blipFill>
          </p:spPr>
        </p:sp>
        <p:sp>
          <p:nvSpPr>
            <p:cNvPr name="TextBox 9" id="9"/>
            <p:cNvSpPr txBox="true"/>
            <p:nvPr/>
          </p:nvSpPr>
          <p:spPr>
            <a:xfrm>
              <a:off x="0" y="-114300"/>
              <a:ext cx="20970240" cy="2308860"/>
            </a:xfrm>
            <a:prstGeom prst="rect">
              <a:avLst/>
            </a:prstGeom>
          </p:spPr>
          <p:txBody>
            <a:bodyPr anchor="ctr" rtlCol="false" tIns="0" lIns="0" bIns="0" rIns="0"/>
            <a:lstStyle/>
            <a:p>
              <a:pPr algn="l">
                <a:lnSpc>
                  <a:spcPts val="6336"/>
                </a:lnSpc>
              </a:pPr>
              <a:r>
                <a:rPr lang="en-US" sz="4400" b="true">
                  <a:solidFill>
                    <a:srgbClr val="1E293B"/>
                  </a:solidFill>
                  <a:latin typeface="Trebuchet MS Bold"/>
                  <a:ea typeface="Trebuchet MS Bold"/>
                  <a:cs typeface="Trebuchet MS Bold"/>
                  <a:sym typeface="Trebuchet MS Bold"/>
                </a:rPr>
                <a:t>Three questions every strategist</a:t>
              </a:r>
            </a:p>
            <a:p>
              <a:pPr algn="l">
                <a:lnSpc>
                  <a:spcPts val="6336"/>
                </a:lnSpc>
              </a:pPr>
              <a:r>
                <a:rPr lang="en-US" sz="4400" b="true">
                  <a:solidFill>
                    <a:srgbClr val="1E293B"/>
                  </a:solidFill>
                  <a:latin typeface="Trebuchet MS Bold"/>
                  <a:ea typeface="Trebuchet MS Bold"/>
                  <a:cs typeface="Trebuchet MS Bold"/>
                  <a:sym typeface="Trebuchet MS Bold"/>
                </a:rPr>
                <a:t>needs answered from this data.</a:t>
              </a:r>
            </a:p>
          </p:txBody>
        </p:sp>
      </p:grpSp>
      <p:grpSp>
        <p:nvGrpSpPr>
          <p:cNvPr name="Group 10" id="10"/>
          <p:cNvGrpSpPr/>
          <p:nvPr/>
        </p:nvGrpSpPr>
        <p:grpSpPr>
          <a:xfrm rot="0">
            <a:off x="1090927" y="2919727"/>
            <a:ext cx="16471897" cy="2024377"/>
            <a:chOff x="0" y="0"/>
            <a:chExt cx="21962529" cy="2699169"/>
          </a:xfrm>
        </p:grpSpPr>
        <p:sp>
          <p:nvSpPr>
            <p:cNvPr name="Freeform 11" id="11"/>
            <p:cNvSpPr/>
            <p:nvPr/>
          </p:nvSpPr>
          <p:spPr>
            <a:xfrm flipH="false" flipV="false" rot="0">
              <a:off x="0" y="0"/>
              <a:ext cx="21962490" cy="2699131"/>
            </a:xfrm>
            <a:custGeom>
              <a:avLst/>
              <a:gdLst/>
              <a:ahLst/>
              <a:cxnLst/>
              <a:rect r="r" b="b" t="t" l="l"/>
              <a:pathLst>
                <a:path h="2699131" w="21962490">
                  <a:moveTo>
                    <a:pt x="0" y="0"/>
                  </a:moveTo>
                  <a:lnTo>
                    <a:pt x="21962490" y="0"/>
                  </a:lnTo>
                  <a:lnTo>
                    <a:pt x="21962490" y="2699131"/>
                  </a:lnTo>
                  <a:lnTo>
                    <a:pt x="0" y="2699131"/>
                  </a:lnTo>
                  <a:close/>
                </a:path>
              </a:pathLst>
            </a:custGeom>
            <a:solidFill>
              <a:srgbClr val="FFFFFF"/>
            </a:solidFill>
            <a:ln w="12700" cap="sq">
              <a:solidFill>
                <a:srgbClr val="E2E8F0"/>
              </a:solidFill>
              <a:prstDash val="solid"/>
              <a:miter/>
            </a:ln>
          </p:spPr>
        </p:sp>
      </p:grpSp>
      <p:grpSp>
        <p:nvGrpSpPr>
          <p:cNvPr name="Group 12" id="12"/>
          <p:cNvGrpSpPr/>
          <p:nvPr/>
        </p:nvGrpSpPr>
        <p:grpSpPr>
          <a:xfrm rot="0">
            <a:off x="1084583" y="2913383"/>
            <a:ext cx="1488443" cy="2037083"/>
            <a:chOff x="0" y="0"/>
            <a:chExt cx="1984591" cy="2716111"/>
          </a:xfrm>
        </p:grpSpPr>
        <p:sp>
          <p:nvSpPr>
            <p:cNvPr name="Freeform 13" id="13"/>
            <p:cNvSpPr/>
            <p:nvPr/>
          </p:nvSpPr>
          <p:spPr>
            <a:xfrm flipH="false" flipV="false" rot="0">
              <a:off x="0" y="0"/>
              <a:ext cx="1984629" cy="2716149"/>
            </a:xfrm>
            <a:custGeom>
              <a:avLst/>
              <a:gdLst/>
              <a:ahLst/>
              <a:cxnLst/>
              <a:rect r="r" b="b" t="t" l="l"/>
              <a:pathLst>
                <a:path h="2716149" w="1984629">
                  <a:moveTo>
                    <a:pt x="0" y="0"/>
                  </a:moveTo>
                  <a:lnTo>
                    <a:pt x="1984629" y="0"/>
                  </a:lnTo>
                  <a:lnTo>
                    <a:pt x="1984629" y="2716149"/>
                  </a:lnTo>
                  <a:lnTo>
                    <a:pt x="0" y="2716149"/>
                  </a:lnTo>
                  <a:close/>
                </a:path>
              </a:pathLst>
            </a:custGeom>
            <a:solidFill>
              <a:srgbClr val="0D1B2A"/>
            </a:solidFill>
            <a:ln w="25400" cap="sq">
              <a:solidFill>
                <a:srgbClr val="0D1B2A"/>
              </a:solidFill>
              <a:prstDash val="solid"/>
              <a:miter/>
            </a:ln>
          </p:spPr>
        </p:sp>
      </p:grpSp>
      <p:grpSp>
        <p:nvGrpSpPr>
          <p:cNvPr name="Group 14" id="14"/>
          <p:cNvGrpSpPr/>
          <p:nvPr/>
        </p:nvGrpSpPr>
        <p:grpSpPr>
          <a:xfrm rot="0">
            <a:off x="1097280" y="2926080"/>
            <a:ext cx="1463040" cy="2011680"/>
            <a:chOff x="0" y="0"/>
            <a:chExt cx="1950720" cy="2682240"/>
          </a:xfrm>
        </p:grpSpPr>
        <p:sp>
          <p:nvSpPr>
            <p:cNvPr name="Freeform 15" id="15"/>
            <p:cNvSpPr/>
            <p:nvPr/>
          </p:nvSpPr>
          <p:spPr>
            <a:xfrm flipH="false" flipV="false" rot="0">
              <a:off x="0" y="0"/>
              <a:ext cx="1950720" cy="2682240"/>
            </a:xfrm>
            <a:custGeom>
              <a:avLst/>
              <a:gdLst/>
              <a:ahLst/>
              <a:cxnLst/>
              <a:rect r="r" b="b" t="t" l="l"/>
              <a:pathLst>
                <a:path h="2682240" w="1950720">
                  <a:moveTo>
                    <a:pt x="0" y="0"/>
                  </a:moveTo>
                  <a:lnTo>
                    <a:pt x="1950720" y="0"/>
                  </a:lnTo>
                  <a:lnTo>
                    <a:pt x="1950720" y="2682240"/>
                  </a:lnTo>
                  <a:lnTo>
                    <a:pt x="0" y="2682240"/>
                  </a:lnTo>
                  <a:close/>
                </a:path>
              </a:pathLst>
            </a:custGeom>
            <a:blipFill>
              <a:blip r:embed="rId3">
                <a:alphaModFix amt="0"/>
              </a:blip>
              <a:stretch>
                <a:fillRect l="-126417" t="0" r="-126417" b="0"/>
              </a:stretch>
            </a:blipFill>
          </p:spPr>
        </p:sp>
        <p:sp>
          <p:nvSpPr>
            <p:cNvPr name="TextBox 16" id="16"/>
            <p:cNvSpPr txBox="true"/>
            <p:nvPr/>
          </p:nvSpPr>
          <p:spPr>
            <a:xfrm>
              <a:off x="0" y="-9525"/>
              <a:ext cx="1950720" cy="2691765"/>
            </a:xfrm>
            <a:prstGeom prst="rect">
              <a:avLst/>
            </a:prstGeom>
          </p:spPr>
          <p:txBody>
            <a:bodyPr anchor="ctr" rtlCol="false" tIns="0" lIns="0" bIns="0" rIns="0"/>
            <a:lstStyle/>
            <a:p>
              <a:pPr algn="ctr">
                <a:lnSpc>
                  <a:spcPts val="5280"/>
                </a:lnSpc>
              </a:pPr>
              <a:r>
                <a:rPr lang="en-US" sz="4400" b="true">
                  <a:solidFill>
                    <a:srgbClr val="12B5C8"/>
                  </a:solidFill>
                  <a:latin typeface="Trebuchet MS Bold"/>
                  <a:ea typeface="Trebuchet MS Bold"/>
                  <a:cs typeface="Trebuchet MS Bold"/>
                  <a:sym typeface="Trebuchet MS Bold"/>
                </a:rPr>
                <a:t>01</a:t>
              </a:r>
            </a:p>
          </p:txBody>
        </p:sp>
      </p:grpSp>
      <p:grpSp>
        <p:nvGrpSpPr>
          <p:cNvPr name="Group 17" id="17"/>
          <p:cNvGrpSpPr/>
          <p:nvPr/>
        </p:nvGrpSpPr>
        <p:grpSpPr>
          <a:xfrm rot="0">
            <a:off x="2834640" y="3108960"/>
            <a:ext cx="14447520" cy="694944"/>
            <a:chOff x="0" y="0"/>
            <a:chExt cx="19263360" cy="926592"/>
          </a:xfrm>
        </p:grpSpPr>
        <p:sp>
          <p:nvSpPr>
            <p:cNvPr name="Freeform 18" id="18"/>
            <p:cNvSpPr/>
            <p:nvPr/>
          </p:nvSpPr>
          <p:spPr>
            <a:xfrm flipH="false" flipV="false" rot="0">
              <a:off x="0" y="0"/>
              <a:ext cx="19263361" cy="926592"/>
            </a:xfrm>
            <a:custGeom>
              <a:avLst/>
              <a:gdLst/>
              <a:ahLst/>
              <a:cxnLst/>
              <a:rect r="r" b="b" t="t" l="l"/>
              <a:pathLst>
                <a:path h="926592" w="19263361">
                  <a:moveTo>
                    <a:pt x="0" y="0"/>
                  </a:moveTo>
                  <a:lnTo>
                    <a:pt x="19263361" y="0"/>
                  </a:lnTo>
                  <a:lnTo>
                    <a:pt x="19263361" y="926592"/>
                  </a:lnTo>
                  <a:lnTo>
                    <a:pt x="0" y="926592"/>
                  </a:lnTo>
                  <a:close/>
                </a:path>
              </a:pathLst>
            </a:custGeom>
            <a:blipFill>
              <a:blip r:embed="rId3">
                <a:alphaModFix amt="0"/>
              </a:blip>
              <a:stretch>
                <a:fillRect l="0" t="-355083" r="0" b="-355083"/>
              </a:stretch>
            </a:blipFill>
          </p:spPr>
        </p:sp>
        <p:sp>
          <p:nvSpPr>
            <p:cNvPr name="TextBox 19" id="19"/>
            <p:cNvSpPr txBox="true"/>
            <p:nvPr/>
          </p:nvSpPr>
          <p:spPr>
            <a:xfrm>
              <a:off x="0" y="0"/>
              <a:ext cx="19263360" cy="926592"/>
            </a:xfrm>
            <a:prstGeom prst="rect">
              <a:avLst/>
            </a:prstGeom>
          </p:spPr>
          <p:txBody>
            <a:bodyPr anchor="ctr" rtlCol="false" tIns="0" lIns="0" bIns="0" rIns="0"/>
            <a:lstStyle/>
            <a:p>
              <a:pPr algn="l">
                <a:lnSpc>
                  <a:spcPts val="3359"/>
                </a:lnSpc>
              </a:pPr>
              <a:r>
                <a:rPr lang="en-US" sz="2799" b="true">
                  <a:solidFill>
                    <a:srgbClr val="1E293B"/>
                  </a:solidFill>
                  <a:latin typeface="Trebuchet MS Bold"/>
                  <a:ea typeface="Trebuchet MS Bold"/>
                  <a:cs typeface="Trebuchet MS Bold"/>
                  <a:sym typeface="Trebuchet MS Bold"/>
                </a:rPr>
                <a:t>Which trends actually matter?</a:t>
              </a:r>
            </a:p>
          </p:txBody>
        </p:sp>
      </p:grpSp>
      <p:grpSp>
        <p:nvGrpSpPr>
          <p:cNvPr name="Group 20" id="20"/>
          <p:cNvGrpSpPr/>
          <p:nvPr/>
        </p:nvGrpSpPr>
        <p:grpSpPr>
          <a:xfrm rot="0">
            <a:off x="2834640" y="3803904"/>
            <a:ext cx="14447520" cy="914400"/>
            <a:chOff x="0" y="0"/>
            <a:chExt cx="19263360" cy="1219200"/>
          </a:xfrm>
        </p:grpSpPr>
        <p:sp>
          <p:nvSpPr>
            <p:cNvPr name="Freeform 21" id="21"/>
            <p:cNvSpPr/>
            <p:nvPr/>
          </p:nvSpPr>
          <p:spPr>
            <a:xfrm flipH="false" flipV="false" rot="0">
              <a:off x="0" y="0"/>
              <a:ext cx="19263361" cy="1219200"/>
            </a:xfrm>
            <a:custGeom>
              <a:avLst/>
              <a:gdLst/>
              <a:ahLst/>
              <a:cxnLst/>
              <a:rect r="r" b="b" t="t" l="l"/>
              <a:pathLst>
                <a:path h="1219200" w="19263361">
                  <a:moveTo>
                    <a:pt x="0" y="0"/>
                  </a:moveTo>
                  <a:lnTo>
                    <a:pt x="19263361" y="0"/>
                  </a:lnTo>
                  <a:lnTo>
                    <a:pt x="19263361" y="1219200"/>
                  </a:lnTo>
                  <a:lnTo>
                    <a:pt x="0" y="1219200"/>
                  </a:lnTo>
                  <a:close/>
                </a:path>
              </a:pathLst>
            </a:custGeom>
            <a:blipFill>
              <a:blip r:embed="rId3">
                <a:alphaModFix amt="0"/>
              </a:blip>
              <a:stretch>
                <a:fillRect l="0" t="-257863" r="0" b="-257863"/>
              </a:stretch>
            </a:blipFill>
          </p:spPr>
        </p:sp>
        <p:sp>
          <p:nvSpPr>
            <p:cNvPr name="TextBox 22" id="22"/>
            <p:cNvSpPr txBox="true"/>
            <p:nvPr/>
          </p:nvSpPr>
          <p:spPr>
            <a:xfrm>
              <a:off x="0" y="-114300"/>
              <a:ext cx="19263360" cy="1333500"/>
            </a:xfrm>
            <a:prstGeom prst="rect">
              <a:avLst/>
            </a:prstGeom>
          </p:spPr>
          <p:txBody>
            <a:bodyPr anchor="ctr" rtlCol="false" tIns="0" lIns="0" bIns="0" rIns="0"/>
            <a:lstStyle/>
            <a:p>
              <a:pPr algn="l">
                <a:lnSpc>
                  <a:spcPts val="3300"/>
                </a:lnSpc>
              </a:pPr>
              <a:r>
                <a:rPr lang="en-US" sz="2200">
                  <a:solidFill>
                    <a:srgbClr val="64748B"/>
                  </a:solidFill>
                  <a:latin typeface="Calibri (MS)"/>
                  <a:ea typeface="Calibri (MS)"/>
                  <a:cs typeface="Calibri (MS)"/>
                  <a:sym typeface="Calibri (MS)"/>
                </a:rPr>
                <a:t>Not all trending terms are equal. Is this term viral and unmeasurable or fast-rising with a measurable 2-week runway to act?</a:t>
              </a:r>
            </a:p>
          </p:txBody>
        </p:sp>
      </p:grpSp>
      <p:grpSp>
        <p:nvGrpSpPr>
          <p:cNvPr name="Group 23" id="23"/>
          <p:cNvGrpSpPr/>
          <p:nvPr/>
        </p:nvGrpSpPr>
        <p:grpSpPr>
          <a:xfrm rot="0">
            <a:off x="1090927" y="5205727"/>
            <a:ext cx="16471897" cy="2024377"/>
            <a:chOff x="0" y="0"/>
            <a:chExt cx="21962529" cy="2699169"/>
          </a:xfrm>
        </p:grpSpPr>
        <p:sp>
          <p:nvSpPr>
            <p:cNvPr name="Freeform 24" id="24"/>
            <p:cNvSpPr/>
            <p:nvPr/>
          </p:nvSpPr>
          <p:spPr>
            <a:xfrm flipH="false" flipV="false" rot="0">
              <a:off x="0" y="0"/>
              <a:ext cx="21962490" cy="2699131"/>
            </a:xfrm>
            <a:custGeom>
              <a:avLst/>
              <a:gdLst/>
              <a:ahLst/>
              <a:cxnLst/>
              <a:rect r="r" b="b" t="t" l="l"/>
              <a:pathLst>
                <a:path h="2699131" w="21962490">
                  <a:moveTo>
                    <a:pt x="0" y="0"/>
                  </a:moveTo>
                  <a:lnTo>
                    <a:pt x="21962490" y="0"/>
                  </a:lnTo>
                  <a:lnTo>
                    <a:pt x="21962490" y="2699131"/>
                  </a:lnTo>
                  <a:lnTo>
                    <a:pt x="0" y="2699131"/>
                  </a:lnTo>
                  <a:close/>
                </a:path>
              </a:pathLst>
            </a:custGeom>
            <a:solidFill>
              <a:srgbClr val="FFFFFF"/>
            </a:solidFill>
            <a:ln w="12700" cap="sq">
              <a:solidFill>
                <a:srgbClr val="E2E8F0"/>
              </a:solidFill>
              <a:prstDash val="solid"/>
              <a:miter/>
            </a:ln>
          </p:spPr>
        </p:sp>
      </p:grpSp>
      <p:grpSp>
        <p:nvGrpSpPr>
          <p:cNvPr name="Group 25" id="25"/>
          <p:cNvGrpSpPr/>
          <p:nvPr/>
        </p:nvGrpSpPr>
        <p:grpSpPr>
          <a:xfrm rot="0">
            <a:off x="1084583" y="5199383"/>
            <a:ext cx="1488443" cy="2037083"/>
            <a:chOff x="0" y="0"/>
            <a:chExt cx="1984591" cy="2716111"/>
          </a:xfrm>
        </p:grpSpPr>
        <p:sp>
          <p:nvSpPr>
            <p:cNvPr name="Freeform 26" id="26"/>
            <p:cNvSpPr/>
            <p:nvPr/>
          </p:nvSpPr>
          <p:spPr>
            <a:xfrm flipH="false" flipV="false" rot="0">
              <a:off x="0" y="0"/>
              <a:ext cx="1984629" cy="2716149"/>
            </a:xfrm>
            <a:custGeom>
              <a:avLst/>
              <a:gdLst/>
              <a:ahLst/>
              <a:cxnLst/>
              <a:rect r="r" b="b" t="t" l="l"/>
              <a:pathLst>
                <a:path h="2716149" w="1984629">
                  <a:moveTo>
                    <a:pt x="0" y="0"/>
                  </a:moveTo>
                  <a:lnTo>
                    <a:pt x="1984629" y="0"/>
                  </a:lnTo>
                  <a:lnTo>
                    <a:pt x="1984629" y="2716149"/>
                  </a:lnTo>
                  <a:lnTo>
                    <a:pt x="0" y="2716149"/>
                  </a:lnTo>
                  <a:close/>
                </a:path>
              </a:pathLst>
            </a:custGeom>
            <a:solidFill>
              <a:srgbClr val="0D1B2A"/>
            </a:solidFill>
            <a:ln w="25400" cap="sq">
              <a:solidFill>
                <a:srgbClr val="0D1B2A"/>
              </a:solidFill>
              <a:prstDash val="solid"/>
              <a:miter/>
            </a:ln>
          </p:spPr>
        </p:sp>
      </p:grpSp>
      <p:grpSp>
        <p:nvGrpSpPr>
          <p:cNvPr name="Group 27" id="27"/>
          <p:cNvGrpSpPr/>
          <p:nvPr/>
        </p:nvGrpSpPr>
        <p:grpSpPr>
          <a:xfrm rot="0">
            <a:off x="1097280" y="5212080"/>
            <a:ext cx="1463040" cy="2011680"/>
            <a:chOff x="0" y="0"/>
            <a:chExt cx="1950720" cy="2682240"/>
          </a:xfrm>
        </p:grpSpPr>
        <p:sp>
          <p:nvSpPr>
            <p:cNvPr name="Freeform 28" id="28"/>
            <p:cNvSpPr/>
            <p:nvPr/>
          </p:nvSpPr>
          <p:spPr>
            <a:xfrm flipH="false" flipV="false" rot="0">
              <a:off x="0" y="0"/>
              <a:ext cx="1950720" cy="2682240"/>
            </a:xfrm>
            <a:custGeom>
              <a:avLst/>
              <a:gdLst/>
              <a:ahLst/>
              <a:cxnLst/>
              <a:rect r="r" b="b" t="t" l="l"/>
              <a:pathLst>
                <a:path h="2682240" w="1950720">
                  <a:moveTo>
                    <a:pt x="0" y="0"/>
                  </a:moveTo>
                  <a:lnTo>
                    <a:pt x="1950720" y="0"/>
                  </a:lnTo>
                  <a:lnTo>
                    <a:pt x="1950720" y="2682240"/>
                  </a:lnTo>
                  <a:lnTo>
                    <a:pt x="0" y="2682240"/>
                  </a:lnTo>
                  <a:close/>
                </a:path>
              </a:pathLst>
            </a:custGeom>
            <a:blipFill>
              <a:blip r:embed="rId3">
                <a:alphaModFix amt="0"/>
              </a:blip>
              <a:stretch>
                <a:fillRect l="-126417" t="0" r="-126417" b="0"/>
              </a:stretch>
            </a:blipFill>
          </p:spPr>
        </p:sp>
        <p:sp>
          <p:nvSpPr>
            <p:cNvPr name="TextBox 29" id="29"/>
            <p:cNvSpPr txBox="true"/>
            <p:nvPr/>
          </p:nvSpPr>
          <p:spPr>
            <a:xfrm>
              <a:off x="0" y="-9525"/>
              <a:ext cx="1950720" cy="2691765"/>
            </a:xfrm>
            <a:prstGeom prst="rect">
              <a:avLst/>
            </a:prstGeom>
          </p:spPr>
          <p:txBody>
            <a:bodyPr anchor="ctr" rtlCol="false" tIns="0" lIns="0" bIns="0" rIns="0"/>
            <a:lstStyle/>
            <a:p>
              <a:pPr algn="ctr">
                <a:lnSpc>
                  <a:spcPts val="5280"/>
                </a:lnSpc>
              </a:pPr>
              <a:r>
                <a:rPr lang="en-US" sz="4400" b="true">
                  <a:solidFill>
                    <a:srgbClr val="12B5C8"/>
                  </a:solidFill>
                  <a:latin typeface="Trebuchet MS Bold"/>
                  <a:ea typeface="Trebuchet MS Bold"/>
                  <a:cs typeface="Trebuchet MS Bold"/>
                  <a:sym typeface="Trebuchet MS Bold"/>
                </a:rPr>
                <a:t>02</a:t>
              </a:r>
            </a:p>
          </p:txBody>
        </p:sp>
      </p:grpSp>
      <p:grpSp>
        <p:nvGrpSpPr>
          <p:cNvPr name="Group 30" id="30"/>
          <p:cNvGrpSpPr/>
          <p:nvPr/>
        </p:nvGrpSpPr>
        <p:grpSpPr>
          <a:xfrm rot="0">
            <a:off x="2834640" y="5394960"/>
            <a:ext cx="14447520" cy="694944"/>
            <a:chOff x="0" y="0"/>
            <a:chExt cx="19263360" cy="926592"/>
          </a:xfrm>
        </p:grpSpPr>
        <p:sp>
          <p:nvSpPr>
            <p:cNvPr name="Freeform 31" id="31"/>
            <p:cNvSpPr/>
            <p:nvPr/>
          </p:nvSpPr>
          <p:spPr>
            <a:xfrm flipH="false" flipV="false" rot="0">
              <a:off x="0" y="0"/>
              <a:ext cx="19263361" cy="926592"/>
            </a:xfrm>
            <a:custGeom>
              <a:avLst/>
              <a:gdLst/>
              <a:ahLst/>
              <a:cxnLst/>
              <a:rect r="r" b="b" t="t" l="l"/>
              <a:pathLst>
                <a:path h="926592" w="19263361">
                  <a:moveTo>
                    <a:pt x="0" y="0"/>
                  </a:moveTo>
                  <a:lnTo>
                    <a:pt x="19263361" y="0"/>
                  </a:lnTo>
                  <a:lnTo>
                    <a:pt x="19263361" y="926592"/>
                  </a:lnTo>
                  <a:lnTo>
                    <a:pt x="0" y="926592"/>
                  </a:lnTo>
                  <a:close/>
                </a:path>
              </a:pathLst>
            </a:custGeom>
            <a:blipFill>
              <a:blip r:embed="rId3">
                <a:alphaModFix amt="0"/>
              </a:blip>
              <a:stretch>
                <a:fillRect l="0" t="-355083" r="0" b="-355083"/>
              </a:stretch>
            </a:blipFill>
          </p:spPr>
        </p:sp>
        <p:sp>
          <p:nvSpPr>
            <p:cNvPr name="TextBox 32" id="32"/>
            <p:cNvSpPr txBox="true"/>
            <p:nvPr/>
          </p:nvSpPr>
          <p:spPr>
            <a:xfrm>
              <a:off x="0" y="0"/>
              <a:ext cx="19263360" cy="926592"/>
            </a:xfrm>
            <a:prstGeom prst="rect">
              <a:avLst/>
            </a:prstGeom>
          </p:spPr>
          <p:txBody>
            <a:bodyPr anchor="ctr" rtlCol="false" tIns="0" lIns="0" bIns="0" rIns="0"/>
            <a:lstStyle/>
            <a:p>
              <a:pPr algn="l">
                <a:lnSpc>
                  <a:spcPts val="3359"/>
                </a:lnSpc>
              </a:pPr>
              <a:r>
                <a:rPr lang="en-US" sz="2799" b="true">
                  <a:solidFill>
                    <a:srgbClr val="1E293B"/>
                  </a:solidFill>
                  <a:latin typeface="Trebuchet MS Bold"/>
                  <a:ea typeface="Trebuchet MS Bold"/>
                  <a:cs typeface="Trebuchet MS Bold"/>
                  <a:sym typeface="Trebuchet MS Bold"/>
                </a:rPr>
                <a:t>In which markets?</a:t>
              </a:r>
            </a:p>
          </p:txBody>
        </p:sp>
      </p:grpSp>
      <p:grpSp>
        <p:nvGrpSpPr>
          <p:cNvPr name="Group 33" id="33"/>
          <p:cNvGrpSpPr/>
          <p:nvPr/>
        </p:nvGrpSpPr>
        <p:grpSpPr>
          <a:xfrm rot="0">
            <a:off x="2834640" y="6089904"/>
            <a:ext cx="14447520" cy="914400"/>
            <a:chOff x="0" y="0"/>
            <a:chExt cx="19263360" cy="1219200"/>
          </a:xfrm>
        </p:grpSpPr>
        <p:sp>
          <p:nvSpPr>
            <p:cNvPr name="Freeform 34" id="34"/>
            <p:cNvSpPr/>
            <p:nvPr/>
          </p:nvSpPr>
          <p:spPr>
            <a:xfrm flipH="false" flipV="false" rot="0">
              <a:off x="0" y="0"/>
              <a:ext cx="19263361" cy="1219200"/>
            </a:xfrm>
            <a:custGeom>
              <a:avLst/>
              <a:gdLst/>
              <a:ahLst/>
              <a:cxnLst/>
              <a:rect r="r" b="b" t="t" l="l"/>
              <a:pathLst>
                <a:path h="1219200" w="19263361">
                  <a:moveTo>
                    <a:pt x="0" y="0"/>
                  </a:moveTo>
                  <a:lnTo>
                    <a:pt x="19263361" y="0"/>
                  </a:lnTo>
                  <a:lnTo>
                    <a:pt x="19263361" y="1219200"/>
                  </a:lnTo>
                  <a:lnTo>
                    <a:pt x="0" y="1219200"/>
                  </a:lnTo>
                  <a:close/>
                </a:path>
              </a:pathLst>
            </a:custGeom>
            <a:blipFill>
              <a:blip r:embed="rId3">
                <a:alphaModFix amt="0"/>
              </a:blip>
              <a:stretch>
                <a:fillRect l="0" t="-257863" r="0" b="-257863"/>
              </a:stretch>
            </a:blipFill>
          </p:spPr>
        </p:sp>
        <p:sp>
          <p:nvSpPr>
            <p:cNvPr name="TextBox 35" id="35"/>
            <p:cNvSpPr txBox="true"/>
            <p:nvPr/>
          </p:nvSpPr>
          <p:spPr>
            <a:xfrm>
              <a:off x="0" y="-114300"/>
              <a:ext cx="19263360" cy="1333500"/>
            </a:xfrm>
            <a:prstGeom prst="rect">
              <a:avLst/>
            </a:prstGeom>
          </p:spPr>
          <p:txBody>
            <a:bodyPr anchor="ctr" rtlCol="false" tIns="0" lIns="0" bIns="0" rIns="0"/>
            <a:lstStyle/>
            <a:p>
              <a:pPr algn="l">
                <a:lnSpc>
                  <a:spcPts val="3300"/>
                </a:lnSpc>
              </a:pPr>
              <a:r>
                <a:rPr lang="en-US" sz="2200">
                  <a:solidFill>
                    <a:srgbClr val="64748B"/>
                  </a:solidFill>
                  <a:latin typeface="Calibri (MS)"/>
                  <a:ea typeface="Calibri (MS)"/>
                  <a:cs typeface="Calibri (MS)"/>
                  <a:sym typeface="Calibri (MS)"/>
                </a:rPr>
                <a:t>Is this trend genuinely global or locally isolated? Which countries are at peak intensity  and which are still building?</a:t>
              </a:r>
            </a:p>
          </p:txBody>
        </p:sp>
      </p:grpSp>
      <p:grpSp>
        <p:nvGrpSpPr>
          <p:cNvPr name="Group 36" id="36"/>
          <p:cNvGrpSpPr/>
          <p:nvPr/>
        </p:nvGrpSpPr>
        <p:grpSpPr>
          <a:xfrm rot="0">
            <a:off x="1090927" y="7491727"/>
            <a:ext cx="16471897" cy="2024377"/>
            <a:chOff x="0" y="0"/>
            <a:chExt cx="21962529" cy="2699169"/>
          </a:xfrm>
        </p:grpSpPr>
        <p:sp>
          <p:nvSpPr>
            <p:cNvPr name="Freeform 37" id="37"/>
            <p:cNvSpPr/>
            <p:nvPr/>
          </p:nvSpPr>
          <p:spPr>
            <a:xfrm flipH="false" flipV="false" rot="0">
              <a:off x="0" y="0"/>
              <a:ext cx="21962490" cy="2699131"/>
            </a:xfrm>
            <a:custGeom>
              <a:avLst/>
              <a:gdLst/>
              <a:ahLst/>
              <a:cxnLst/>
              <a:rect r="r" b="b" t="t" l="l"/>
              <a:pathLst>
                <a:path h="2699131" w="21962490">
                  <a:moveTo>
                    <a:pt x="0" y="0"/>
                  </a:moveTo>
                  <a:lnTo>
                    <a:pt x="21962490" y="0"/>
                  </a:lnTo>
                  <a:lnTo>
                    <a:pt x="21962490" y="2699131"/>
                  </a:lnTo>
                  <a:lnTo>
                    <a:pt x="0" y="2699131"/>
                  </a:lnTo>
                  <a:close/>
                </a:path>
              </a:pathLst>
            </a:custGeom>
            <a:solidFill>
              <a:srgbClr val="FFFFFF"/>
            </a:solidFill>
            <a:ln w="12700" cap="sq">
              <a:solidFill>
                <a:srgbClr val="E2E8F0"/>
              </a:solidFill>
              <a:prstDash val="solid"/>
              <a:miter/>
            </a:ln>
          </p:spPr>
        </p:sp>
      </p:grpSp>
      <p:grpSp>
        <p:nvGrpSpPr>
          <p:cNvPr name="Group 38" id="38"/>
          <p:cNvGrpSpPr/>
          <p:nvPr/>
        </p:nvGrpSpPr>
        <p:grpSpPr>
          <a:xfrm rot="0">
            <a:off x="1084583" y="7485383"/>
            <a:ext cx="1488443" cy="2037083"/>
            <a:chOff x="0" y="0"/>
            <a:chExt cx="1984591" cy="2716111"/>
          </a:xfrm>
        </p:grpSpPr>
        <p:sp>
          <p:nvSpPr>
            <p:cNvPr name="Freeform 39" id="39"/>
            <p:cNvSpPr/>
            <p:nvPr/>
          </p:nvSpPr>
          <p:spPr>
            <a:xfrm flipH="false" flipV="false" rot="0">
              <a:off x="0" y="0"/>
              <a:ext cx="1984629" cy="2716149"/>
            </a:xfrm>
            <a:custGeom>
              <a:avLst/>
              <a:gdLst/>
              <a:ahLst/>
              <a:cxnLst/>
              <a:rect r="r" b="b" t="t" l="l"/>
              <a:pathLst>
                <a:path h="2716149" w="1984629">
                  <a:moveTo>
                    <a:pt x="0" y="0"/>
                  </a:moveTo>
                  <a:lnTo>
                    <a:pt x="1984629" y="0"/>
                  </a:lnTo>
                  <a:lnTo>
                    <a:pt x="1984629" y="2716149"/>
                  </a:lnTo>
                  <a:lnTo>
                    <a:pt x="0" y="2716149"/>
                  </a:lnTo>
                  <a:close/>
                </a:path>
              </a:pathLst>
            </a:custGeom>
            <a:solidFill>
              <a:srgbClr val="0D1B2A"/>
            </a:solidFill>
            <a:ln w="25400" cap="sq">
              <a:solidFill>
                <a:srgbClr val="0D1B2A"/>
              </a:solidFill>
              <a:prstDash val="solid"/>
              <a:miter/>
            </a:ln>
          </p:spPr>
        </p:sp>
      </p:grpSp>
      <p:grpSp>
        <p:nvGrpSpPr>
          <p:cNvPr name="Group 40" id="40"/>
          <p:cNvGrpSpPr/>
          <p:nvPr/>
        </p:nvGrpSpPr>
        <p:grpSpPr>
          <a:xfrm rot="0">
            <a:off x="1097280" y="7498080"/>
            <a:ext cx="1463040" cy="2011680"/>
            <a:chOff x="0" y="0"/>
            <a:chExt cx="1950720" cy="2682240"/>
          </a:xfrm>
        </p:grpSpPr>
        <p:sp>
          <p:nvSpPr>
            <p:cNvPr name="Freeform 41" id="41"/>
            <p:cNvSpPr/>
            <p:nvPr/>
          </p:nvSpPr>
          <p:spPr>
            <a:xfrm flipH="false" flipV="false" rot="0">
              <a:off x="0" y="0"/>
              <a:ext cx="1950720" cy="2682240"/>
            </a:xfrm>
            <a:custGeom>
              <a:avLst/>
              <a:gdLst/>
              <a:ahLst/>
              <a:cxnLst/>
              <a:rect r="r" b="b" t="t" l="l"/>
              <a:pathLst>
                <a:path h="2682240" w="1950720">
                  <a:moveTo>
                    <a:pt x="0" y="0"/>
                  </a:moveTo>
                  <a:lnTo>
                    <a:pt x="1950720" y="0"/>
                  </a:lnTo>
                  <a:lnTo>
                    <a:pt x="1950720" y="2682240"/>
                  </a:lnTo>
                  <a:lnTo>
                    <a:pt x="0" y="2682240"/>
                  </a:lnTo>
                  <a:close/>
                </a:path>
              </a:pathLst>
            </a:custGeom>
            <a:blipFill>
              <a:blip r:embed="rId3">
                <a:alphaModFix amt="0"/>
              </a:blip>
              <a:stretch>
                <a:fillRect l="-126417" t="0" r="-126417" b="0"/>
              </a:stretch>
            </a:blipFill>
          </p:spPr>
        </p:sp>
        <p:sp>
          <p:nvSpPr>
            <p:cNvPr name="TextBox 42" id="42"/>
            <p:cNvSpPr txBox="true"/>
            <p:nvPr/>
          </p:nvSpPr>
          <p:spPr>
            <a:xfrm>
              <a:off x="0" y="-9525"/>
              <a:ext cx="1950720" cy="2691765"/>
            </a:xfrm>
            <a:prstGeom prst="rect">
              <a:avLst/>
            </a:prstGeom>
          </p:spPr>
          <p:txBody>
            <a:bodyPr anchor="ctr" rtlCol="false" tIns="0" lIns="0" bIns="0" rIns="0"/>
            <a:lstStyle/>
            <a:p>
              <a:pPr algn="ctr">
                <a:lnSpc>
                  <a:spcPts val="5280"/>
                </a:lnSpc>
              </a:pPr>
              <a:r>
                <a:rPr lang="en-US" sz="4400" b="true">
                  <a:solidFill>
                    <a:srgbClr val="12B5C8"/>
                  </a:solidFill>
                  <a:latin typeface="Trebuchet MS Bold"/>
                  <a:ea typeface="Trebuchet MS Bold"/>
                  <a:cs typeface="Trebuchet MS Bold"/>
                  <a:sym typeface="Trebuchet MS Bold"/>
                </a:rPr>
                <a:t>03</a:t>
              </a:r>
            </a:p>
          </p:txBody>
        </p:sp>
      </p:grpSp>
      <p:grpSp>
        <p:nvGrpSpPr>
          <p:cNvPr name="Group 43" id="43"/>
          <p:cNvGrpSpPr/>
          <p:nvPr/>
        </p:nvGrpSpPr>
        <p:grpSpPr>
          <a:xfrm rot="0">
            <a:off x="2834640" y="7680960"/>
            <a:ext cx="14447520" cy="694944"/>
            <a:chOff x="0" y="0"/>
            <a:chExt cx="19263360" cy="926592"/>
          </a:xfrm>
        </p:grpSpPr>
        <p:sp>
          <p:nvSpPr>
            <p:cNvPr name="Freeform 44" id="44"/>
            <p:cNvSpPr/>
            <p:nvPr/>
          </p:nvSpPr>
          <p:spPr>
            <a:xfrm flipH="false" flipV="false" rot="0">
              <a:off x="0" y="0"/>
              <a:ext cx="19263361" cy="926592"/>
            </a:xfrm>
            <a:custGeom>
              <a:avLst/>
              <a:gdLst/>
              <a:ahLst/>
              <a:cxnLst/>
              <a:rect r="r" b="b" t="t" l="l"/>
              <a:pathLst>
                <a:path h="926592" w="19263361">
                  <a:moveTo>
                    <a:pt x="0" y="0"/>
                  </a:moveTo>
                  <a:lnTo>
                    <a:pt x="19263361" y="0"/>
                  </a:lnTo>
                  <a:lnTo>
                    <a:pt x="19263361" y="926592"/>
                  </a:lnTo>
                  <a:lnTo>
                    <a:pt x="0" y="926592"/>
                  </a:lnTo>
                  <a:close/>
                </a:path>
              </a:pathLst>
            </a:custGeom>
            <a:blipFill>
              <a:blip r:embed="rId3">
                <a:alphaModFix amt="0"/>
              </a:blip>
              <a:stretch>
                <a:fillRect l="0" t="-355083" r="0" b="-355083"/>
              </a:stretch>
            </a:blipFill>
          </p:spPr>
        </p:sp>
        <p:sp>
          <p:nvSpPr>
            <p:cNvPr name="TextBox 45" id="45"/>
            <p:cNvSpPr txBox="true"/>
            <p:nvPr/>
          </p:nvSpPr>
          <p:spPr>
            <a:xfrm>
              <a:off x="0" y="0"/>
              <a:ext cx="19263360" cy="926592"/>
            </a:xfrm>
            <a:prstGeom prst="rect">
              <a:avLst/>
            </a:prstGeom>
          </p:spPr>
          <p:txBody>
            <a:bodyPr anchor="ctr" rtlCol="false" tIns="0" lIns="0" bIns="0" rIns="0"/>
            <a:lstStyle/>
            <a:p>
              <a:pPr algn="l">
                <a:lnSpc>
                  <a:spcPts val="3359"/>
                </a:lnSpc>
              </a:pPr>
              <a:r>
                <a:rPr lang="en-US" sz="2799" b="true">
                  <a:solidFill>
                    <a:srgbClr val="1E293B"/>
                  </a:solidFill>
                  <a:latin typeface="Trebuchet MS Bold"/>
                  <a:ea typeface="Trebuchet MS Bold"/>
                  <a:cs typeface="Trebuchet MS Bold"/>
                  <a:sym typeface="Trebuchet MS Bold"/>
                </a:rPr>
                <a:t>At what stage — and what to do now?</a:t>
              </a:r>
            </a:p>
          </p:txBody>
        </p:sp>
      </p:grpSp>
      <p:grpSp>
        <p:nvGrpSpPr>
          <p:cNvPr name="Group 46" id="46"/>
          <p:cNvGrpSpPr/>
          <p:nvPr/>
        </p:nvGrpSpPr>
        <p:grpSpPr>
          <a:xfrm rot="0">
            <a:off x="2834640" y="8375904"/>
            <a:ext cx="14447520" cy="914400"/>
            <a:chOff x="0" y="0"/>
            <a:chExt cx="19263360" cy="1219200"/>
          </a:xfrm>
        </p:grpSpPr>
        <p:sp>
          <p:nvSpPr>
            <p:cNvPr name="Freeform 47" id="47"/>
            <p:cNvSpPr/>
            <p:nvPr/>
          </p:nvSpPr>
          <p:spPr>
            <a:xfrm flipH="false" flipV="false" rot="0">
              <a:off x="0" y="0"/>
              <a:ext cx="19263361" cy="1219200"/>
            </a:xfrm>
            <a:custGeom>
              <a:avLst/>
              <a:gdLst/>
              <a:ahLst/>
              <a:cxnLst/>
              <a:rect r="r" b="b" t="t" l="l"/>
              <a:pathLst>
                <a:path h="1219200" w="19263361">
                  <a:moveTo>
                    <a:pt x="0" y="0"/>
                  </a:moveTo>
                  <a:lnTo>
                    <a:pt x="19263361" y="0"/>
                  </a:lnTo>
                  <a:lnTo>
                    <a:pt x="19263361" y="1219200"/>
                  </a:lnTo>
                  <a:lnTo>
                    <a:pt x="0" y="1219200"/>
                  </a:lnTo>
                  <a:close/>
                </a:path>
              </a:pathLst>
            </a:custGeom>
            <a:blipFill>
              <a:blip r:embed="rId3">
                <a:alphaModFix amt="0"/>
              </a:blip>
              <a:stretch>
                <a:fillRect l="0" t="-257863" r="0" b="-257863"/>
              </a:stretch>
            </a:blipFill>
          </p:spPr>
        </p:sp>
        <p:sp>
          <p:nvSpPr>
            <p:cNvPr name="TextBox 48" id="48"/>
            <p:cNvSpPr txBox="true"/>
            <p:nvPr/>
          </p:nvSpPr>
          <p:spPr>
            <a:xfrm>
              <a:off x="0" y="-114300"/>
              <a:ext cx="19263360" cy="1333500"/>
            </a:xfrm>
            <a:prstGeom prst="rect">
              <a:avLst/>
            </a:prstGeom>
          </p:spPr>
          <p:txBody>
            <a:bodyPr anchor="ctr" rtlCol="false" tIns="0" lIns="0" bIns="0" rIns="0"/>
            <a:lstStyle/>
            <a:p>
              <a:pPr algn="l">
                <a:lnSpc>
                  <a:spcPts val="3300"/>
                </a:lnSpc>
              </a:pPr>
              <a:r>
                <a:rPr lang="en-US" sz="2200">
                  <a:solidFill>
                    <a:srgbClr val="64748B"/>
                  </a:solidFill>
                  <a:latin typeface="Calibri (MS)"/>
                  <a:ea typeface="Calibri (MS)"/>
                  <a:cs typeface="Calibri (MS)"/>
                  <a:sym typeface="Calibri (MS)"/>
                </a:rPr>
                <a:t>Is this market ascending or past its peak? Are we investing ahead of the wave or arriving after it?</a:t>
              </a:r>
            </a:p>
          </p:txBody>
        </p:sp>
      </p:grpSp>
      <p:grpSp>
        <p:nvGrpSpPr>
          <p:cNvPr name="Group 49" id="49"/>
          <p:cNvGrpSpPr/>
          <p:nvPr/>
        </p:nvGrpSpPr>
        <p:grpSpPr>
          <a:xfrm rot="0">
            <a:off x="1097280" y="9656064"/>
            <a:ext cx="16093440" cy="402336"/>
            <a:chOff x="0" y="0"/>
            <a:chExt cx="21457920" cy="536448"/>
          </a:xfrm>
        </p:grpSpPr>
        <p:sp>
          <p:nvSpPr>
            <p:cNvPr name="Freeform 50" id="50"/>
            <p:cNvSpPr/>
            <p:nvPr/>
          </p:nvSpPr>
          <p:spPr>
            <a:xfrm flipH="false" flipV="false" rot="0">
              <a:off x="0" y="0"/>
              <a:ext cx="21457920" cy="536448"/>
            </a:xfrm>
            <a:custGeom>
              <a:avLst/>
              <a:gdLst/>
              <a:ahLst/>
              <a:cxnLst/>
              <a:rect r="r" b="b" t="t" l="l"/>
              <a:pathLst>
                <a:path h="536448" w="21457920">
                  <a:moveTo>
                    <a:pt x="0" y="0"/>
                  </a:moveTo>
                  <a:lnTo>
                    <a:pt x="21457920" y="0"/>
                  </a:lnTo>
                  <a:lnTo>
                    <a:pt x="21457920" y="536448"/>
                  </a:lnTo>
                  <a:lnTo>
                    <a:pt x="0" y="536448"/>
                  </a:lnTo>
                  <a:close/>
                </a:path>
              </a:pathLst>
            </a:custGeom>
            <a:blipFill>
              <a:blip r:embed="rId3">
                <a:alphaModFix amt="0"/>
              </a:blip>
              <a:stretch>
                <a:fillRect l="0" t="-729401" r="0" b="-729401"/>
              </a:stretch>
            </a:blipFill>
          </p:spPr>
        </p:sp>
        <p:sp>
          <p:nvSpPr>
            <p:cNvPr name="TextBox 51" id="51"/>
            <p:cNvSpPr txBox="true"/>
            <p:nvPr/>
          </p:nvSpPr>
          <p:spPr>
            <a:xfrm>
              <a:off x="0" y="-47625"/>
              <a:ext cx="21457920" cy="584073"/>
            </a:xfrm>
            <a:prstGeom prst="rect">
              <a:avLst/>
            </a:prstGeom>
          </p:spPr>
          <p:txBody>
            <a:bodyPr anchor="ctr" rtlCol="false" tIns="0" lIns="0" bIns="0" rIns="0"/>
            <a:lstStyle/>
            <a:p>
              <a:pPr algn="l">
                <a:lnSpc>
                  <a:spcPts val="2640"/>
                </a:lnSpc>
              </a:pPr>
              <a:r>
                <a:rPr lang="en-US" sz="2200" i="true">
                  <a:solidFill>
                    <a:srgbClr val="64748B"/>
                  </a:solidFill>
                  <a:latin typeface="Calibri (MS) Italics"/>
                  <a:ea typeface="Calibri (MS) Italics"/>
                  <a:cs typeface="Calibri (MS) Italics"/>
                  <a:sym typeface="Calibri (MS) Italics"/>
                </a:rPr>
                <a:t>The following 6 findings answer these questions with data.</a:t>
              </a:r>
            </a:p>
          </p:txBody>
        </p:sp>
      </p:grpSp>
      <p:grpSp>
        <p:nvGrpSpPr>
          <p:cNvPr name="Group 52" id="52"/>
          <p:cNvGrpSpPr/>
          <p:nvPr/>
        </p:nvGrpSpPr>
        <p:grpSpPr>
          <a:xfrm rot="0">
            <a:off x="16093440" y="9692640"/>
            <a:ext cx="1828800" cy="365760"/>
            <a:chOff x="0" y="0"/>
            <a:chExt cx="2438400" cy="487680"/>
          </a:xfrm>
        </p:grpSpPr>
        <p:sp>
          <p:nvSpPr>
            <p:cNvPr name="Freeform 53" id="53"/>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54" id="54"/>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5 / 14</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9144000" cy="402336"/>
            <a:chOff x="0" y="0"/>
            <a:chExt cx="12192000" cy="536448"/>
          </a:xfrm>
        </p:grpSpPr>
        <p:sp>
          <p:nvSpPr>
            <p:cNvPr name="Freeform 3" id="3"/>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4" id="4"/>
            <p:cNvSpPr txBox="true"/>
            <p:nvPr/>
          </p:nvSpPr>
          <p:spPr>
            <a:xfrm>
              <a:off x="0" y="-38100"/>
              <a:ext cx="12192000" cy="574548"/>
            </a:xfrm>
            <a:prstGeom prst="rect">
              <a:avLst/>
            </a:prstGeom>
          </p:spPr>
          <p:txBody>
            <a:bodyPr anchor="ctr" rtlCol="false" tIns="0" lIns="0" bIns="0" rIns="0"/>
            <a:lstStyle/>
            <a:p>
              <a:pPr algn="l">
                <a:lnSpc>
                  <a:spcPts val="2160"/>
                </a:lnSpc>
              </a:pPr>
              <a:r>
                <a:rPr lang="en-US" b="true" sz="1800" spc="599">
                  <a:solidFill>
                    <a:srgbClr val="0A7E8C"/>
                  </a:solidFill>
                  <a:latin typeface="Calibri (MS) Bold"/>
                  <a:ea typeface="Calibri (MS) Bold"/>
                  <a:cs typeface="Calibri (MS) Bold"/>
                  <a:sym typeface="Calibri (MS) Bold"/>
                </a:rPr>
                <a:t>ANSWER — 6 KEY FINDINGS</a:t>
              </a:r>
            </a:p>
          </p:txBody>
        </p:sp>
      </p:grpSp>
      <p:grpSp>
        <p:nvGrpSpPr>
          <p:cNvPr name="Group 5" id="5"/>
          <p:cNvGrpSpPr/>
          <p:nvPr/>
        </p:nvGrpSpPr>
        <p:grpSpPr>
          <a:xfrm rot="0">
            <a:off x="1097280" y="1133856"/>
            <a:ext cx="16093440" cy="914400"/>
            <a:chOff x="0" y="0"/>
            <a:chExt cx="21457920" cy="1219200"/>
          </a:xfrm>
        </p:grpSpPr>
        <p:sp>
          <p:nvSpPr>
            <p:cNvPr name="Freeform 6" id="6"/>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3">
                <a:alphaModFix amt="0"/>
              </a:blip>
              <a:stretch>
                <a:fillRect l="0" t="-292936" r="0" b="-292936"/>
              </a:stretch>
            </a:blipFill>
          </p:spPr>
        </p:sp>
        <p:sp>
          <p:nvSpPr>
            <p:cNvPr name="TextBox 7" id="7"/>
            <p:cNvSpPr txBox="true"/>
            <p:nvPr/>
          </p:nvSpPr>
          <p:spPr>
            <a:xfrm>
              <a:off x="0" y="-9525"/>
              <a:ext cx="21457920" cy="1228725"/>
            </a:xfrm>
            <a:prstGeom prst="rect">
              <a:avLst/>
            </a:prstGeom>
          </p:spPr>
          <p:txBody>
            <a:bodyPr anchor="ctr" rtlCol="false" tIns="0" lIns="0" bIns="0" rIns="0"/>
            <a:lstStyle/>
            <a:p>
              <a:pPr algn="l">
                <a:lnSpc>
                  <a:spcPts val="5759"/>
                </a:lnSpc>
              </a:pPr>
              <a:r>
                <a:rPr lang="en-US" sz="4800" b="true">
                  <a:solidFill>
                    <a:srgbClr val="FFFFFF"/>
                  </a:solidFill>
                  <a:latin typeface="Trebuchet MS Bold"/>
                  <a:ea typeface="Trebuchet MS Bold"/>
                  <a:cs typeface="Trebuchet MS Bold"/>
                  <a:sym typeface="Trebuchet MS Bold"/>
                </a:rPr>
                <a:t>The data delivers six strategic imperatives.</a:t>
              </a:r>
            </a:p>
          </p:txBody>
        </p:sp>
      </p:grpSp>
      <p:grpSp>
        <p:nvGrpSpPr>
          <p:cNvPr name="Group 8" id="8"/>
          <p:cNvGrpSpPr/>
          <p:nvPr/>
        </p:nvGrpSpPr>
        <p:grpSpPr>
          <a:xfrm rot="0">
            <a:off x="901703" y="2547623"/>
            <a:ext cx="5456939" cy="3097787"/>
            <a:chOff x="0" y="0"/>
            <a:chExt cx="7275919" cy="4130383"/>
          </a:xfrm>
        </p:grpSpPr>
        <p:sp>
          <p:nvSpPr>
            <p:cNvPr name="Freeform 9" id="9"/>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10" id="10"/>
          <p:cNvGrpSpPr/>
          <p:nvPr/>
        </p:nvGrpSpPr>
        <p:grpSpPr>
          <a:xfrm rot="0">
            <a:off x="901703" y="2547623"/>
            <a:ext cx="5456939" cy="116843"/>
            <a:chOff x="0" y="0"/>
            <a:chExt cx="7275919" cy="155791"/>
          </a:xfrm>
        </p:grpSpPr>
        <p:sp>
          <p:nvSpPr>
            <p:cNvPr name="Freeform 11" id="11"/>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12" id="12"/>
          <p:cNvGrpSpPr/>
          <p:nvPr/>
        </p:nvGrpSpPr>
        <p:grpSpPr>
          <a:xfrm rot="0">
            <a:off x="1133856" y="2779776"/>
            <a:ext cx="914400" cy="548640"/>
            <a:chOff x="0" y="0"/>
            <a:chExt cx="1219200" cy="731520"/>
          </a:xfrm>
        </p:grpSpPr>
        <p:sp>
          <p:nvSpPr>
            <p:cNvPr name="Freeform 13" id="13"/>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14" id="14"/>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01</a:t>
              </a:r>
            </a:p>
          </p:txBody>
        </p:sp>
      </p:grpSp>
      <p:grpSp>
        <p:nvGrpSpPr>
          <p:cNvPr name="Group 15" id="15"/>
          <p:cNvGrpSpPr/>
          <p:nvPr/>
        </p:nvGrpSpPr>
        <p:grpSpPr>
          <a:xfrm rot="0">
            <a:off x="1133856" y="3255264"/>
            <a:ext cx="4992624" cy="1188720"/>
            <a:chOff x="0" y="0"/>
            <a:chExt cx="6656832" cy="1584960"/>
          </a:xfrm>
        </p:grpSpPr>
        <p:sp>
          <p:nvSpPr>
            <p:cNvPr name="Freeform 16" id="16"/>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17" id="17"/>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0.7%</a:t>
              </a:r>
            </a:p>
          </p:txBody>
        </p:sp>
      </p:grpSp>
      <p:grpSp>
        <p:nvGrpSpPr>
          <p:cNvPr name="Group 18" id="18"/>
          <p:cNvGrpSpPr/>
          <p:nvPr/>
        </p:nvGrpSpPr>
        <p:grpSpPr>
          <a:xfrm rot="0">
            <a:off x="1133856" y="4352544"/>
            <a:ext cx="4992624" cy="548640"/>
            <a:chOff x="0" y="0"/>
            <a:chExt cx="6656832" cy="731520"/>
          </a:xfrm>
        </p:grpSpPr>
        <p:sp>
          <p:nvSpPr>
            <p:cNvPr name="Freeform 19" id="19"/>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20" id="20"/>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of trends are global</a:t>
              </a:r>
            </a:p>
          </p:txBody>
        </p:sp>
      </p:grpSp>
      <p:grpSp>
        <p:nvGrpSpPr>
          <p:cNvPr name="Group 21" id="21"/>
          <p:cNvGrpSpPr/>
          <p:nvPr/>
        </p:nvGrpSpPr>
        <p:grpSpPr>
          <a:xfrm rot="0">
            <a:off x="1133856" y="4901184"/>
            <a:ext cx="4992624" cy="548640"/>
            <a:chOff x="0" y="0"/>
            <a:chExt cx="6656832" cy="731520"/>
          </a:xfrm>
        </p:grpSpPr>
        <p:sp>
          <p:nvSpPr>
            <p:cNvPr name="Freeform 22" id="22"/>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23" id="23"/>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The viral minority problem</a:t>
              </a:r>
            </a:p>
          </p:txBody>
        </p:sp>
      </p:grpSp>
      <p:grpSp>
        <p:nvGrpSpPr>
          <p:cNvPr name="Group 24" id="24"/>
          <p:cNvGrpSpPr/>
          <p:nvPr/>
        </p:nvGrpSpPr>
        <p:grpSpPr>
          <a:xfrm rot="0">
            <a:off x="6698999" y="2547623"/>
            <a:ext cx="5456939" cy="3097787"/>
            <a:chOff x="0" y="0"/>
            <a:chExt cx="7275919" cy="4130383"/>
          </a:xfrm>
        </p:grpSpPr>
        <p:sp>
          <p:nvSpPr>
            <p:cNvPr name="Freeform 25" id="25"/>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26" id="26"/>
          <p:cNvGrpSpPr/>
          <p:nvPr/>
        </p:nvGrpSpPr>
        <p:grpSpPr>
          <a:xfrm rot="0">
            <a:off x="6698999" y="2547623"/>
            <a:ext cx="5456939" cy="116843"/>
            <a:chOff x="0" y="0"/>
            <a:chExt cx="7275919" cy="155791"/>
          </a:xfrm>
        </p:grpSpPr>
        <p:sp>
          <p:nvSpPr>
            <p:cNvPr name="Freeform 27" id="27"/>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28" id="28"/>
          <p:cNvGrpSpPr/>
          <p:nvPr/>
        </p:nvGrpSpPr>
        <p:grpSpPr>
          <a:xfrm rot="0">
            <a:off x="6931152" y="2779776"/>
            <a:ext cx="914400" cy="548640"/>
            <a:chOff x="0" y="0"/>
            <a:chExt cx="1219200" cy="731520"/>
          </a:xfrm>
        </p:grpSpPr>
        <p:sp>
          <p:nvSpPr>
            <p:cNvPr name="Freeform 29" id="29"/>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30" id="30"/>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02</a:t>
              </a:r>
            </a:p>
          </p:txBody>
        </p:sp>
      </p:grpSp>
      <p:grpSp>
        <p:nvGrpSpPr>
          <p:cNvPr name="Group 31" id="31"/>
          <p:cNvGrpSpPr/>
          <p:nvPr/>
        </p:nvGrpSpPr>
        <p:grpSpPr>
          <a:xfrm rot="0">
            <a:off x="6931152" y="3255264"/>
            <a:ext cx="4992624" cy="1188720"/>
            <a:chOff x="0" y="0"/>
            <a:chExt cx="6656832" cy="1584960"/>
          </a:xfrm>
        </p:grpSpPr>
        <p:sp>
          <p:nvSpPr>
            <p:cNvPr name="Freeform 32" id="32"/>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33" id="33"/>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280</a:t>
              </a:r>
            </a:p>
          </p:txBody>
        </p:sp>
      </p:grpSp>
      <p:grpSp>
        <p:nvGrpSpPr>
          <p:cNvPr name="Group 34" id="34"/>
          <p:cNvGrpSpPr/>
          <p:nvPr/>
        </p:nvGrpSpPr>
        <p:grpSpPr>
          <a:xfrm rot="0">
            <a:off x="6931152" y="4352544"/>
            <a:ext cx="4992624" cy="548640"/>
            <a:chOff x="0" y="0"/>
            <a:chExt cx="6656832" cy="731520"/>
          </a:xfrm>
        </p:grpSpPr>
        <p:sp>
          <p:nvSpPr>
            <p:cNvPr name="Freeform 35" id="35"/>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36" id="36"/>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terms at 5,000% cap</a:t>
              </a:r>
            </a:p>
          </p:txBody>
        </p:sp>
      </p:grpSp>
      <p:grpSp>
        <p:nvGrpSpPr>
          <p:cNvPr name="Group 37" id="37"/>
          <p:cNvGrpSpPr/>
          <p:nvPr/>
        </p:nvGrpSpPr>
        <p:grpSpPr>
          <a:xfrm rot="0">
            <a:off x="6931152" y="4901184"/>
            <a:ext cx="4992624" cy="548640"/>
            <a:chOff x="0" y="0"/>
            <a:chExt cx="6656832" cy="731520"/>
          </a:xfrm>
        </p:grpSpPr>
        <p:sp>
          <p:nvSpPr>
            <p:cNvPr name="Freeform 38" id="38"/>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39" id="39"/>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Breakout events are unmeasurable</a:t>
              </a:r>
            </a:p>
          </p:txBody>
        </p:sp>
      </p:grpSp>
      <p:grpSp>
        <p:nvGrpSpPr>
          <p:cNvPr name="Group 40" id="40"/>
          <p:cNvGrpSpPr/>
          <p:nvPr/>
        </p:nvGrpSpPr>
        <p:grpSpPr>
          <a:xfrm rot="0">
            <a:off x="12496295" y="2547623"/>
            <a:ext cx="5456939" cy="3097787"/>
            <a:chOff x="0" y="0"/>
            <a:chExt cx="7275919" cy="4130383"/>
          </a:xfrm>
        </p:grpSpPr>
        <p:sp>
          <p:nvSpPr>
            <p:cNvPr name="Freeform 41" id="41"/>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42" id="42"/>
          <p:cNvGrpSpPr/>
          <p:nvPr/>
        </p:nvGrpSpPr>
        <p:grpSpPr>
          <a:xfrm rot="0">
            <a:off x="12496295" y="2547623"/>
            <a:ext cx="5456939" cy="116843"/>
            <a:chOff x="0" y="0"/>
            <a:chExt cx="7275919" cy="155791"/>
          </a:xfrm>
        </p:grpSpPr>
        <p:sp>
          <p:nvSpPr>
            <p:cNvPr name="Freeform 43" id="43"/>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44" id="44"/>
          <p:cNvGrpSpPr/>
          <p:nvPr/>
        </p:nvGrpSpPr>
        <p:grpSpPr>
          <a:xfrm rot="0">
            <a:off x="12728448" y="2779776"/>
            <a:ext cx="914400" cy="548640"/>
            <a:chOff x="0" y="0"/>
            <a:chExt cx="1219200" cy="731520"/>
          </a:xfrm>
        </p:grpSpPr>
        <p:sp>
          <p:nvSpPr>
            <p:cNvPr name="Freeform 45" id="45"/>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46" id="46"/>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03</a:t>
              </a:r>
            </a:p>
          </p:txBody>
        </p:sp>
      </p:grpSp>
      <p:grpSp>
        <p:nvGrpSpPr>
          <p:cNvPr name="Group 47" id="47"/>
          <p:cNvGrpSpPr/>
          <p:nvPr/>
        </p:nvGrpSpPr>
        <p:grpSpPr>
          <a:xfrm rot="0">
            <a:off x="12728448" y="3255264"/>
            <a:ext cx="4992624" cy="1188720"/>
            <a:chOff x="0" y="0"/>
            <a:chExt cx="6656832" cy="1584960"/>
          </a:xfrm>
        </p:grpSpPr>
        <p:sp>
          <p:nvSpPr>
            <p:cNvPr name="Freeform 48" id="48"/>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49" id="49"/>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99.1</a:t>
              </a:r>
            </a:p>
          </p:txBody>
        </p:sp>
      </p:grpSp>
      <p:grpSp>
        <p:nvGrpSpPr>
          <p:cNvPr name="Group 50" id="50"/>
          <p:cNvGrpSpPr/>
          <p:nvPr/>
        </p:nvGrpSpPr>
        <p:grpSpPr>
          <a:xfrm rot="0">
            <a:off x="12728448" y="4352544"/>
            <a:ext cx="4992624" cy="548640"/>
            <a:chOff x="0" y="0"/>
            <a:chExt cx="6656832" cy="731520"/>
          </a:xfrm>
        </p:grpSpPr>
        <p:sp>
          <p:nvSpPr>
            <p:cNvPr name="Freeform 51" id="51"/>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52" id="52"/>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Thailand avg score</a:t>
              </a:r>
            </a:p>
          </p:txBody>
        </p:sp>
      </p:grpSp>
      <p:grpSp>
        <p:nvGrpSpPr>
          <p:cNvPr name="Group 53" id="53"/>
          <p:cNvGrpSpPr/>
          <p:nvPr/>
        </p:nvGrpSpPr>
        <p:grpSpPr>
          <a:xfrm rot="0">
            <a:off x="12728448" y="4901184"/>
            <a:ext cx="4992624" cy="548640"/>
            <a:chOff x="0" y="0"/>
            <a:chExt cx="6656832" cy="731520"/>
          </a:xfrm>
        </p:grpSpPr>
        <p:sp>
          <p:nvSpPr>
            <p:cNvPr name="Freeform 54" id="54"/>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55" id="55"/>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Three markets dominate intensity</a:t>
              </a:r>
            </a:p>
          </p:txBody>
        </p:sp>
      </p:grpSp>
      <p:grpSp>
        <p:nvGrpSpPr>
          <p:cNvPr name="Group 56" id="56"/>
          <p:cNvGrpSpPr/>
          <p:nvPr/>
        </p:nvGrpSpPr>
        <p:grpSpPr>
          <a:xfrm rot="0">
            <a:off x="901703" y="5985767"/>
            <a:ext cx="5456939" cy="3097787"/>
            <a:chOff x="0" y="0"/>
            <a:chExt cx="7275919" cy="4130383"/>
          </a:xfrm>
        </p:grpSpPr>
        <p:sp>
          <p:nvSpPr>
            <p:cNvPr name="Freeform 57" id="57"/>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58" id="58"/>
          <p:cNvGrpSpPr/>
          <p:nvPr/>
        </p:nvGrpSpPr>
        <p:grpSpPr>
          <a:xfrm rot="0">
            <a:off x="901703" y="5985767"/>
            <a:ext cx="5456939" cy="116843"/>
            <a:chOff x="0" y="0"/>
            <a:chExt cx="7275919" cy="155791"/>
          </a:xfrm>
        </p:grpSpPr>
        <p:sp>
          <p:nvSpPr>
            <p:cNvPr name="Freeform 59" id="59"/>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60" id="60"/>
          <p:cNvGrpSpPr/>
          <p:nvPr/>
        </p:nvGrpSpPr>
        <p:grpSpPr>
          <a:xfrm rot="0">
            <a:off x="1133856" y="6217920"/>
            <a:ext cx="914400" cy="548640"/>
            <a:chOff x="0" y="0"/>
            <a:chExt cx="1219200" cy="731520"/>
          </a:xfrm>
        </p:grpSpPr>
        <p:sp>
          <p:nvSpPr>
            <p:cNvPr name="Freeform 61" id="61"/>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62" id="62"/>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04</a:t>
              </a:r>
            </a:p>
          </p:txBody>
        </p:sp>
      </p:grpSp>
      <p:grpSp>
        <p:nvGrpSpPr>
          <p:cNvPr name="Group 63" id="63"/>
          <p:cNvGrpSpPr/>
          <p:nvPr/>
        </p:nvGrpSpPr>
        <p:grpSpPr>
          <a:xfrm rot="0">
            <a:off x="1133856" y="6693408"/>
            <a:ext cx="4992624" cy="1188720"/>
            <a:chOff x="0" y="0"/>
            <a:chExt cx="6656832" cy="1584960"/>
          </a:xfrm>
        </p:grpSpPr>
        <p:sp>
          <p:nvSpPr>
            <p:cNvPr name="Freeform 64" id="64"/>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65" id="65"/>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3×</a:t>
              </a:r>
            </a:p>
          </p:txBody>
        </p:sp>
      </p:grpSp>
      <p:grpSp>
        <p:nvGrpSpPr>
          <p:cNvPr name="Group 66" id="66"/>
          <p:cNvGrpSpPr/>
          <p:nvPr/>
        </p:nvGrpSpPr>
        <p:grpSpPr>
          <a:xfrm rot="0">
            <a:off x="1133856" y="7790688"/>
            <a:ext cx="4992624" cy="548640"/>
            <a:chOff x="0" y="0"/>
            <a:chExt cx="6656832" cy="731520"/>
          </a:xfrm>
        </p:grpSpPr>
        <p:sp>
          <p:nvSpPr>
            <p:cNvPr name="Freeform 67" id="67"/>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68" id="68"/>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above 5-yr baseline</a:t>
              </a:r>
            </a:p>
          </p:txBody>
        </p:sp>
      </p:grpSp>
      <p:grpSp>
        <p:nvGrpSpPr>
          <p:cNvPr name="Group 69" id="69"/>
          <p:cNvGrpSpPr/>
          <p:nvPr/>
        </p:nvGrpSpPr>
        <p:grpSpPr>
          <a:xfrm rot="0">
            <a:off x="1133856" y="8339328"/>
            <a:ext cx="4992624" cy="548640"/>
            <a:chOff x="0" y="0"/>
            <a:chExt cx="6656832" cy="731520"/>
          </a:xfrm>
        </p:grpSpPr>
        <p:sp>
          <p:nvSpPr>
            <p:cNvPr name="Freeform 70" id="70"/>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71" id="71"/>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April 2026 — a black hole event</a:t>
              </a:r>
            </a:p>
          </p:txBody>
        </p:sp>
      </p:grpSp>
      <p:grpSp>
        <p:nvGrpSpPr>
          <p:cNvPr name="Group 72" id="72"/>
          <p:cNvGrpSpPr/>
          <p:nvPr/>
        </p:nvGrpSpPr>
        <p:grpSpPr>
          <a:xfrm rot="0">
            <a:off x="6698999" y="5985767"/>
            <a:ext cx="5456939" cy="3097787"/>
            <a:chOff x="0" y="0"/>
            <a:chExt cx="7275919" cy="4130383"/>
          </a:xfrm>
        </p:grpSpPr>
        <p:sp>
          <p:nvSpPr>
            <p:cNvPr name="Freeform 73" id="73"/>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74" id="74"/>
          <p:cNvGrpSpPr/>
          <p:nvPr/>
        </p:nvGrpSpPr>
        <p:grpSpPr>
          <a:xfrm rot="0">
            <a:off x="6698999" y="5985767"/>
            <a:ext cx="5456939" cy="116843"/>
            <a:chOff x="0" y="0"/>
            <a:chExt cx="7275919" cy="155791"/>
          </a:xfrm>
        </p:grpSpPr>
        <p:sp>
          <p:nvSpPr>
            <p:cNvPr name="Freeform 75" id="75"/>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76" id="76"/>
          <p:cNvGrpSpPr/>
          <p:nvPr/>
        </p:nvGrpSpPr>
        <p:grpSpPr>
          <a:xfrm rot="0">
            <a:off x="6931152" y="6217920"/>
            <a:ext cx="914400" cy="548640"/>
            <a:chOff x="0" y="0"/>
            <a:chExt cx="1219200" cy="731520"/>
          </a:xfrm>
        </p:grpSpPr>
        <p:sp>
          <p:nvSpPr>
            <p:cNvPr name="Freeform 77" id="77"/>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78" id="78"/>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05</a:t>
              </a:r>
            </a:p>
          </p:txBody>
        </p:sp>
      </p:grpSp>
      <p:grpSp>
        <p:nvGrpSpPr>
          <p:cNvPr name="Group 79" id="79"/>
          <p:cNvGrpSpPr/>
          <p:nvPr/>
        </p:nvGrpSpPr>
        <p:grpSpPr>
          <a:xfrm rot="0">
            <a:off x="6931152" y="6693408"/>
            <a:ext cx="4992624" cy="1188720"/>
            <a:chOff x="0" y="0"/>
            <a:chExt cx="6656832" cy="1584960"/>
          </a:xfrm>
        </p:grpSpPr>
        <p:sp>
          <p:nvSpPr>
            <p:cNvPr name="Freeform 80" id="80"/>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81" id="81"/>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+0.37</a:t>
              </a:r>
            </a:p>
          </p:txBody>
        </p:sp>
      </p:grpSp>
      <p:grpSp>
        <p:nvGrpSpPr>
          <p:cNvPr name="Group 82" id="82"/>
          <p:cNvGrpSpPr/>
          <p:nvPr/>
        </p:nvGrpSpPr>
        <p:grpSpPr>
          <a:xfrm rot="0">
            <a:off x="6931152" y="7790688"/>
            <a:ext cx="4992624" cy="548640"/>
            <a:chOff x="0" y="0"/>
            <a:chExt cx="6656832" cy="731520"/>
          </a:xfrm>
        </p:grpSpPr>
        <p:sp>
          <p:nvSpPr>
            <p:cNvPr name="Freeform 83" id="83"/>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84" id="84"/>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UK growth — ascending</a:t>
              </a:r>
            </a:p>
          </p:txBody>
        </p:sp>
      </p:grpSp>
      <p:grpSp>
        <p:nvGrpSpPr>
          <p:cNvPr name="Group 85" id="85"/>
          <p:cNvGrpSpPr/>
          <p:nvPr/>
        </p:nvGrpSpPr>
        <p:grpSpPr>
          <a:xfrm rot="0">
            <a:off x="6931152" y="8339328"/>
            <a:ext cx="4992624" cy="548640"/>
            <a:chOff x="0" y="0"/>
            <a:chExt cx="6656832" cy="731520"/>
          </a:xfrm>
        </p:grpSpPr>
        <p:sp>
          <p:nvSpPr>
            <p:cNvPr name="Freeform 86" id="86"/>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87" id="87"/>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High scores signal decline</a:t>
              </a:r>
            </a:p>
          </p:txBody>
        </p:sp>
      </p:grpSp>
      <p:grpSp>
        <p:nvGrpSpPr>
          <p:cNvPr name="Group 88" id="88"/>
          <p:cNvGrpSpPr/>
          <p:nvPr/>
        </p:nvGrpSpPr>
        <p:grpSpPr>
          <a:xfrm rot="0">
            <a:off x="12496295" y="5985767"/>
            <a:ext cx="5456939" cy="3097787"/>
            <a:chOff x="0" y="0"/>
            <a:chExt cx="7275919" cy="4130383"/>
          </a:xfrm>
        </p:grpSpPr>
        <p:sp>
          <p:nvSpPr>
            <p:cNvPr name="Freeform 89" id="89"/>
            <p:cNvSpPr/>
            <p:nvPr/>
          </p:nvSpPr>
          <p:spPr>
            <a:xfrm flipH="false" flipV="false" rot="0">
              <a:off x="0" y="0"/>
              <a:ext cx="7275957" cy="4130421"/>
            </a:xfrm>
            <a:custGeom>
              <a:avLst/>
              <a:gdLst/>
              <a:ahLst/>
              <a:cxnLst/>
              <a:rect r="r" b="b" t="t" l="l"/>
              <a:pathLst>
                <a:path h="4130421" w="7275957">
                  <a:moveTo>
                    <a:pt x="0" y="0"/>
                  </a:moveTo>
                  <a:lnTo>
                    <a:pt x="7275957" y="0"/>
                  </a:lnTo>
                  <a:lnTo>
                    <a:pt x="7275957" y="4130421"/>
                  </a:lnTo>
                  <a:lnTo>
                    <a:pt x="0" y="4130421"/>
                  </a:lnTo>
                  <a:close/>
                </a:path>
              </a:pathLst>
            </a:custGeom>
            <a:solidFill>
              <a:srgbClr val="FFFFFF">
                <a:alpha val="392"/>
              </a:srgbClr>
            </a:solidFill>
            <a:ln w="25400" cap="sq">
              <a:solidFill>
                <a:srgbClr val="FFFFFF"/>
              </a:solidFill>
              <a:prstDash val="solid"/>
              <a:miter/>
            </a:ln>
          </p:spPr>
        </p:sp>
      </p:grpSp>
      <p:grpSp>
        <p:nvGrpSpPr>
          <p:cNvPr name="Group 90" id="90"/>
          <p:cNvGrpSpPr/>
          <p:nvPr/>
        </p:nvGrpSpPr>
        <p:grpSpPr>
          <a:xfrm rot="0">
            <a:off x="12496295" y="5985767"/>
            <a:ext cx="5456939" cy="116843"/>
            <a:chOff x="0" y="0"/>
            <a:chExt cx="7275919" cy="155791"/>
          </a:xfrm>
        </p:grpSpPr>
        <p:sp>
          <p:nvSpPr>
            <p:cNvPr name="Freeform 91" id="91"/>
            <p:cNvSpPr/>
            <p:nvPr/>
          </p:nvSpPr>
          <p:spPr>
            <a:xfrm flipH="false" flipV="false" rot="0">
              <a:off x="0" y="0"/>
              <a:ext cx="7275957" cy="155829"/>
            </a:xfrm>
            <a:custGeom>
              <a:avLst/>
              <a:gdLst/>
              <a:ahLst/>
              <a:cxnLst/>
              <a:rect r="r" b="b" t="t" l="l"/>
              <a:pathLst>
                <a:path h="155829" w="7275957">
                  <a:moveTo>
                    <a:pt x="0" y="0"/>
                  </a:moveTo>
                  <a:lnTo>
                    <a:pt x="7275957" y="0"/>
                  </a:lnTo>
                  <a:lnTo>
                    <a:pt x="7275957" y="155829"/>
                  </a:lnTo>
                  <a:lnTo>
                    <a:pt x="0" y="155829"/>
                  </a:lnTo>
                  <a:close/>
                </a:path>
              </a:pathLst>
            </a:custGeom>
            <a:solidFill>
              <a:srgbClr val="0A7E8C"/>
            </a:solidFill>
            <a:ln w="25400" cap="sq">
              <a:solidFill>
                <a:srgbClr val="0A7E8C"/>
              </a:solidFill>
              <a:prstDash val="solid"/>
              <a:miter/>
            </a:ln>
          </p:spPr>
        </p:sp>
      </p:grpSp>
      <p:grpSp>
        <p:nvGrpSpPr>
          <p:cNvPr name="Group 92" id="92"/>
          <p:cNvGrpSpPr/>
          <p:nvPr/>
        </p:nvGrpSpPr>
        <p:grpSpPr>
          <a:xfrm rot="0">
            <a:off x="12728448" y="6217920"/>
            <a:ext cx="914400" cy="548640"/>
            <a:chOff x="0" y="0"/>
            <a:chExt cx="1219200" cy="731520"/>
          </a:xfrm>
        </p:grpSpPr>
        <p:sp>
          <p:nvSpPr>
            <p:cNvPr name="Freeform 93" id="93"/>
            <p:cNvSpPr/>
            <p:nvPr/>
          </p:nvSpPr>
          <p:spPr>
            <a:xfrm flipH="false" flipV="false" rot="0">
              <a:off x="0" y="0"/>
              <a:ext cx="1219200" cy="731520"/>
            </a:xfrm>
            <a:custGeom>
              <a:avLst/>
              <a:gdLst/>
              <a:ahLst/>
              <a:cxnLst/>
              <a:rect r="r" b="b" t="t" l="l"/>
              <a:pathLst>
                <a:path h="731520" w="1219200">
                  <a:moveTo>
                    <a:pt x="0" y="0"/>
                  </a:moveTo>
                  <a:lnTo>
                    <a:pt x="1219200" y="0"/>
                  </a:lnTo>
                  <a:lnTo>
                    <a:pt x="1219200" y="731520"/>
                  </a:lnTo>
                  <a:lnTo>
                    <a:pt x="0" y="731520"/>
                  </a:lnTo>
                  <a:close/>
                </a:path>
              </a:pathLst>
            </a:custGeom>
            <a:blipFill>
              <a:blip r:embed="rId3">
                <a:alphaModFix amt="0"/>
              </a:blip>
              <a:stretch>
                <a:fillRect l="-26982" t="0" r="-26982" b="0"/>
              </a:stretch>
            </a:blipFill>
          </p:spPr>
        </p:sp>
        <p:sp>
          <p:nvSpPr>
            <p:cNvPr name="TextBox 94" id="94"/>
            <p:cNvSpPr txBox="true"/>
            <p:nvPr/>
          </p:nvSpPr>
          <p:spPr>
            <a:xfrm>
              <a:off x="0" y="-38100"/>
              <a:ext cx="121920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06</a:t>
              </a:r>
            </a:p>
          </p:txBody>
        </p:sp>
      </p:grpSp>
      <p:grpSp>
        <p:nvGrpSpPr>
          <p:cNvPr name="Group 95" id="95"/>
          <p:cNvGrpSpPr/>
          <p:nvPr/>
        </p:nvGrpSpPr>
        <p:grpSpPr>
          <a:xfrm rot="0">
            <a:off x="12728448" y="6693408"/>
            <a:ext cx="4992624" cy="1188720"/>
            <a:chOff x="0" y="0"/>
            <a:chExt cx="6656832" cy="1584960"/>
          </a:xfrm>
        </p:grpSpPr>
        <p:sp>
          <p:nvSpPr>
            <p:cNvPr name="Freeform 96" id="96"/>
            <p:cNvSpPr/>
            <p:nvPr/>
          </p:nvSpPr>
          <p:spPr>
            <a:xfrm flipH="false" flipV="false" rot="0">
              <a:off x="0" y="0"/>
              <a:ext cx="6656832" cy="1584960"/>
            </a:xfrm>
            <a:custGeom>
              <a:avLst/>
              <a:gdLst/>
              <a:ahLst/>
              <a:cxnLst/>
              <a:rect r="r" b="b" t="t" l="l"/>
              <a:pathLst>
                <a:path h="1584960" w="6656832">
                  <a:moveTo>
                    <a:pt x="0" y="0"/>
                  </a:moveTo>
                  <a:lnTo>
                    <a:pt x="6656832" y="0"/>
                  </a:lnTo>
                  <a:lnTo>
                    <a:pt x="6656832" y="1584960"/>
                  </a:lnTo>
                  <a:lnTo>
                    <a:pt x="0" y="1584960"/>
                  </a:lnTo>
                  <a:close/>
                </a:path>
              </a:pathLst>
            </a:custGeom>
            <a:blipFill>
              <a:blip r:embed="rId3">
                <a:alphaModFix amt="0"/>
              </a:blip>
              <a:stretch>
                <a:fillRect l="0" t="-31837" r="0" b="-31837"/>
              </a:stretch>
            </a:blipFill>
          </p:spPr>
        </p:sp>
        <p:sp>
          <p:nvSpPr>
            <p:cNvPr name="TextBox 97" id="97"/>
            <p:cNvSpPr txBox="true"/>
            <p:nvPr/>
          </p:nvSpPr>
          <p:spPr>
            <a:xfrm>
              <a:off x="0" y="-9525"/>
              <a:ext cx="6656832" cy="1594485"/>
            </a:xfrm>
            <a:prstGeom prst="rect">
              <a:avLst/>
            </a:prstGeom>
          </p:spPr>
          <p:txBody>
            <a:bodyPr anchor="ctr" rtlCol="false" tIns="0" lIns="0" bIns="0" rIns="0"/>
            <a:lstStyle/>
            <a:p>
              <a:pPr algn="l">
                <a:lnSpc>
                  <a:spcPts val="7200"/>
                </a:lnSpc>
              </a:pPr>
              <a:r>
                <a:rPr lang="en-US" sz="6000" b="true">
                  <a:solidFill>
                    <a:srgbClr val="FFFFFF"/>
                  </a:solidFill>
                  <a:latin typeface="Trebuchet MS Bold"/>
                  <a:ea typeface="Trebuchet MS Bold"/>
                  <a:cs typeface="Trebuchet MS Bold"/>
                  <a:sym typeface="Trebuchet MS Bold"/>
                </a:rPr>
                <a:t>34</a:t>
              </a:r>
            </a:p>
          </p:txBody>
        </p:sp>
      </p:grpSp>
      <p:grpSp>
        <p:nvGrpSpPr>
          <p:cNvPr name="Group 98" id="98"/>
          <p:cNvGrpSpPr/>
          <p:nvPr/>
        </p:nvGrpSpPr>
        <p:grpSpPr>
          <a:xfrm rot="0">
            <a:off x="12728448" y="7790688"/>
            <a:ext cx="4992624" cy="548640"/>
            <a:chOff x="0" y="0"/>
            <a:chExt cx="6656832" cy="731520"/>
          </a:xfrm>
        </p:grpSpPr>
        <p:sp>
          <p:nvSpPr>
            <p:cNvPr name="Freeform 99" id="99"/>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100" id="100"/>
            <p:cNvSpPr txBox="true"/>
            <p:nvPr/>
          </p:nvSpPr>
          <p:spPr>
            <a:xfrm>
              <a:off x="0" y="-38100"/>
              <a:ext cx="6656832" cy="76962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countries — widest reach</a:t>
              </a:r>
            </a:p>
          </p:txBody>
        </p:sp>
      </p:grpSp>
      <p:grpSp>
        <p:nvGrpSpPr>
          <p:cNvPr name="Group 101" id="101"/>
          <p:cNvGrpSpPr/>
          <p:nvPr/>
        </p:nvGrpSpPr>
        <p:grpSpPr>
          <a:xfrm rot="0">
            <a:off x="12728448" y="8339328"/>
            <a:ext cx="4992624" cy="548640"/>
            <a:chOff x="0" y="0"/>
            <a:chExt cx="6656832" cy="731520"/>
          </a:xfrm>
        </p:grpSpPr>
        <p:sp>
          <p:nvSpPr>
            <p:cNvPr name="Freeform 102" id="102"/>
            <p:cNvSpPr/>
            <p:nvPr/>
          </p:nvSpPr>
          <p:spPr>
            <a:xfrm flipH="false" flipV="false" rot="0">
              <a:off x="0" y="0"/>
              <a:ext cx="6656832" cy="731520"/>
            </a:xfrm>
            <a:custGeom>
              <a:avLst/>
              <a:gdLst/>
              <a:ahLst/>
              <a:cxnLst/>
              <a:rect r="r" b="b" t="t" l="l"/>
              <a:pathLst>
                <a:path h="731520" w="6656832">
                  <a:moveTo>
                    <a:pt x="0" y="0"/>
                  </a:moveTo>
                  <a:lnTo>
                    <a:pt x="6656832" y="0"/>
                  </a:lnTo>
                  <a:lnTo>
                    <a:pt x="6656832" y="731520"/>
                  </a:lnTo>
                  <a:lnTo>
                    <a:pt x="0" y="731520"/>
                  </a:lnTo>
                  <a:close/>
                </a:path>
              </a:pathLst>
            </a:custGeom>
            <a:blipFill>
              <a:blip r:embed="rId3">
                <a:alphaModFix amt="0"/>
              </a:blip>
              <a:stretch>
                <a:fillRect l="0" t="-127313" r="0" b="-127313"/>
              </a:stretch>
            </a:blipFill>
          </p:spPr>
        </p:sp>
        <p:sp>
          <p:nvSpPr>
            <p:cNvPr name="TextBox 103" id="103"/>
            <p:cNvSpPr txBox="true"/>
            <p:nvPr/>
          </p:nvSpPr>
          <p:spPr>
            <a:xfrm>
              <a:off x="0" y="-38100"/>
              <a:ext cx="6656832"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Global terms — 4 categories only</a:t>
              </a:r>
            </a:p>
          </p:txBody>
        </p:sp>
      </p:grpSp>
      <p:grpSp>
        <p:nvGrpSpPr>
          <p:cNvPr name="Group 104" id="104"/>
          <p:cNvGrpSpPr/>
          <p:nvPr/>
        </p:nvGrpSpPr>
        <p:grpSpPr>
          <a:xfrm rot="0">
            <a:off x="16093440" y="9692640"/>
            <a:ext cx="1828800" cy="365760"/>
            <a:chOff x="0" y="0"/>
            <a:chExt cx="2438400" cy="487680"/>
          </a:xfrm>
        </p:grpSpPr>
        <p:sp>
          <p:nvSpPr>
            <p:cNvPr name="Freeform 105" id="105"/>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106" id="106"/>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6 / 14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D1B2A"/>
            </a:solidFill>
            <a:ln w="25400" cap="sq">
              <a:solidFill>
                <a:srgbClr val="0D1B2A"/>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12B5C8"/>
                  </a:solidFill>
                  <a:latin typeface="Calibri (MS) Bold"/>
                  <a:ea typeface="Calibri (MS) Bold"/>
                  <a:cs typeface="Calibri (MS) Bold"/>
                  <a:sym typeface="Calibri (MS) Bold"/>
                </a:rPr>
                <a:t>FINDING 01</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14300"/>
              <a:ext cx="21945600" cy="2308860"/>
            </a:xfrm>
            <a:prstGeom prst="rect">
              <a:avLst/>
            </a:prstGeom>
          </p:spPr>
          <p:txBody>
            <a:bodyPr anchor="ctr" rtlCol="false" tIns="0" lIns="0" bIns="0" rIns="0"/>
            <a:lstStyle/>
            <a:p>
              <a:pPr algn="l">
                <a:lnSpc>
                  <a:spcPts val="6336"/>
                </a:lnSpc>
              </a:pPr>
              <a:r>
                <a:rPr lang="en-US" sz="4400" b="true">
                  <a:solidFill>
                    <a:srgbClr val="1E293B"/>
                  </a:solidFill>
                  <a:latin typeface="Trebuchet MS Bold"/>
                  <a:ea typeface="Trebuchet MS Bold"/>
                  <a:cs typeface="Trebuchet MS Bold"/>
                  <a:sym typeface="Trebuchet MS Bold"/>
                </a:rPr>
                <a:t>99.3% of trends are local —</a:t>
              </a:r>
            </a:p>
            <a:p>
              <a:pPr algn="l">
                <a:lnSpc>
                  <a:spcPts val="6336"/>
                </a:lnSpc>
              </a:pPr>
              <a:r>
                <a:rPr lang="en-US" sz="4400" b="true">
                  <a:solidFill>
                    <a:srgbClr val="1E293B"/>
                  </a:solidFill>
                  <a:latin typeface="Trebuchet MS Bold"/>
                  <a:ea typeface="Trebuchet MS Bold"/>
                  <a:cs typeface="Trebuchet MS Bold"/>
                  <a:sym typeface="Trebuchet MS Bold"/>
                </a:rPr>
                <a:t>not global.</a:t>
              </a:r>
            </a:p>
          </p:txBody>
        </p:sp>
      </p:grpSp>
      <p:grpSp>
        <p:nvGrpSpPr>
          <p:cNvPr name="Group 12" id="12"/>
          <p:cNvGrpSpPr/>
          <p:nvPr/>
        </p:nvGrpSpPr>
        <p:grpSpPr>
          <a:xfrm rot="0">
            <a:off x="1084583" y="3096263"/>
            <a:ext cx="7706363" cy="5511803"/>
            <a:chOff x="0" y="0"/>
            <a:chExt cx="10275151" cy="7349071"/>
          </a:xfrm>
        </p:grpSpPr>
        <p:sp>
          <p:nvSpPr>
            <p:cNvPr name="Freeform 13" id="13"/>
            <p:cNvSpPr/>
            <p:nvPr/>
          </p:nvSpPr>
          <p:spPr>
            <a:xfrm flipH="false" flipV="false" rot="0">
              <a:off x="0" y="0"/>
              <a:ext cx="10275189" cy="7349109"/>
            </a:xfrm>
            <a:custGeom>
              <a:avLst/>
              <a:gdLst/>
              <a:ahLst/>
              <a:cxnLst/>
              <a:rect r="r" b="b" t="t" l="l"/>
              <a:pathLst>
                <a:path h="7349109" w="10275189">
                  <a:moveTo>
                    <a:pt x="0" y="0"/>
                  </a:moveTo>
                  <a:lnTo>
                    <a:pt x="10275189" y="0"/>
                  </a:lnTo>
                  <a:lnTo>
                    <a:pt x="10275189" y="7349109"/>
                  </a:lnTo>
                  <a:lnTo>
                    <a:pt x="0" y="7349109"/>
                  </a:lnTo>
                  <a:close/>
                </a:path>
              </a:pathLst>
            </a:custGeom>
            <a:solidFill>
              <a:srgbClr val="0D1B2A"/>
            </a:solidFill>
            <a:ln w="25400" cap="sq">
              <a:solidFill>
                <a:srgbClr val="0D1B2A"/>
              </a:solidFill>
              <a:prstDash val="solid"/>
              <a:miter/>
            </a:ln>
          </p:spPr>
        </p:sp>
      </p:grpSp>
      <p:grpSp>
        <p:nvGrpSpPr>
          <p:cNvPr name="Group 14" id="14"/>
          <p:cNvGrpSpPr/>
          <p:nvPr/>
        </p:nvGrpSpPr>
        <p:grpSpPr>
          <a:xfrm rot="0">
            <a:off x="1097280" y="3383280"/>
            <a:ext cx="7680960" cy="2194560"/>
            <a:chOff x="0" y="0"/>
            <a:chExt cx="10241280" cy="2926080"/>
          </a:xfrm>
        </p:grpSpPr>
        <p:sp>
          <p:nvSpPr>
            <p:cNvPr name="Freeform 15" id="15"/>
            <p:cNvSpPr/>
            <p:nvPr/>
          </p:nvSpPr>
          <p:spPr>
            <a:xfrm flipH="false" flipV="false" rot="0">
              <a:off x="0" y="0"/>
              <a:ext cx="10241280" cy="2926080"/>
            </a:xfrm>
            <a:custGeom>
              <a:avLst/>
              <a:gdLst/>
              <a:ahLst/>
              <a:cxnLst/>
              <a:rect r="r" b="b" t="t" l="l"/>
              <a:pathLst>
                <a:path h="2926080" w="10241280">
                  <a:moveTo>
                    <a:pt x="0" y="0"/>
                  </a:moveTo>
                  <a:lnTo>
                    <a:pt x="10241280" y="0"/>
                  </a:lnTo>
                  <a:lnTo>
                    <a:pt x="10241280" y="2926080"/>
                  </a:lnTo>
                  <a:lnTo>
                    <a:pt x="0" y="2926080"/>
                  </a:lnTo>
                  <a:close/>
                </a:path>
              </a:pathLst>
            </a:custGeom>
            <a:blipFill>
              <a:blip r:embed="rId3">
                <a:alphaModFix amt="0"/>
              </a:blip>
              <a:stretch>
                <a:fillRect l="0" t="-18197" r="0" b="-18197"/>
              </a:stretch>
            </a:blipFill>
          </p:spPr>
        </p:sp>
        <p:sp>
          <p:nvSpPr>
            <p:cNvPr name="TextBox 16" id="16"/>
            <p:cNvSpPr txBox="true"/>
            <p:nvPr/>
          </p:nvSpPr>
          <p:spPr>
            <a:xfrm>
              <a:off x="0" y="-19050"/>
              <a:ext cx="10241280" cy="2945130"/>
            </a:xfrm>
            <a:prstGeom prst="rect">
              <a:avLst/>
            </a:prstGeom>
          </p:spPr>
          <p:txBody>
            <a:bodyPr anchor="ctr" rtlCol="false" tIns="0" lIns="0" bIns="0" rIns="0"/>
            <a:lstStyle/>
            <a:p>
              <a:pPr algn="ctr">
                <a:lnSpc>
                  <a:spcPts val="14400"/>
                </a:lnSpc>
              </a:pPr>
              <a:r>
                <a:rPr lang="en-US" sz="12000" b="true">
                  <a:solidFill>
                    <a:srgbClr val="E05C45"/>
                  </a:solidFill>
                  <a:latin typeface="Trebuchet MS Bold"/>
                  <a:ea typeface="Trebuchet MS Bold"/>
                  <a:cs typeface="Trebuchet MS Bold"/>
                  <a:sym typeface="Trebuchet MS Bold"/>
                </a:rPr>
                <a:t>23,188</a:t>
              </a:r>
            </a:p>
          </p:txBody>
        </p:sp>
      </p:grpSp>
      <p:grpSp>
        <p:nvGrpSpPr>
          <p:cNvPr name="Group 17" id="17"/>
          <p:cNvGrpSpPr/>
          <p:nvPr/>
        </p:nvGrpSpPr>
        <p:grpSpPr>
          <a:xfrm rot="0">
            <a:off x="1097280" y="5394960"/>
            <a:ext cx="7680960" cy="640080"/>
            <a:chOff x="0" y="0"/>
            <a:chExt cx="10241280" cy="853440"/>
          </a:xfrm>
        </p:grpSpPr>
        <p:sp>
          <p:nvSpPr>
            <p:cNvPr name="Freeform 18" id="18"/>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19" id="19"/>
            <p:cNvSpPr txBox="true"/>
            <p:nvPr/>
          </p:nvSpPr>
          <p:spPr>
            <a:xfrm>
              <a:off x="0" y="-57150"/>
              <a:ext cx="10241280" cy="910590"/>
            </a:xfrm>
            <a:prstGeom prst="rect">
              <a:avLst/>
            </a:prstGeom>
          </p:spPr>
          <p:txBody>
            <a:bodyPr anchor="ctr" rtlCol="false" tIns="0" lIns="0" bIns="0" rIns="0"/>
            <a:lstStyle/>
            <a:p>
              <a:pPr algn="ctr">
                <a:lnSpc>
                  <a:spcPts val="3120"/>
                </a:lnSpc>
              </a:pPr>
              <a:r>
                <a:rPr lang="en-US" sz="2600">
                  <a:solidFill>
                    <a:srgbClr val="FFFFFF"/>
                  </a:solidFill>
                  <a:latin typeface="Calibri (MS)"/>
                  <a:ea typeface="Calibri (MS)"/>
                  <a:cs typeface="Calibri (MS)"/>
                  <a:sym typeface="Calibri (MS)"/>
                </a:rPr>
                <a:t>Local terms</a:t>
              </a:r>
            </a:p>
          </p:txBody>
        </p:sp>
      </p:grpSp>
      <p:grpSp>
        <p:nvGrpSpPr>
          <p:cNvPr name="Group 20" id="20"/>
          <p:cNvGrpSpPr/>
          <p:nvPr/>
        </p:nvGrpSpPr>
        <p:grpSpPr>
          <a:xfrm rot="0">
            <a:off x="1097280" y="5998464"/>
            <a:ext cx="7680960" cy="512064"/>
            <a:chOff x="0" y="0"/>
            <a:chExt cx="10241280" cy="682752"/>
          </a:xfrm>
        </p:grpSpPr>
        <p:sp>
          <p:nvSpPr>
            <p:cNvPr name="Freeform 21" id="21"/>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22" id="22"/>
            <p:cNvSpPr txBox="true"/>
            <p:nvPr/>
          </p:nvSpPr>
          <p:spPr>
            <a:xfrm>
              <a:off x="0" y="-38100"/>
              <a:ext cx="10241280" cy="720852"/>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trending in exactly 1 country</a:t>
              </a:r>
            </a:p>
          </p:txBody>
        </p:sp>
      </p:grpSp>
      <p:grpSp>
        <p:nvGrpSpPr>
          <p:cNvPr name="Group 23" id="23"/>
          <p:cNvGrpSpPr/>
          <p:nvPr/>
        </p:nvGrpSpPr>
        <p:grpSpPr>
          <a:xfrm rot="0">
            <a:off x="1084583" y="8619239"/>
            <a:ext cx="7706363" cy="135131"/>
            <a:chOff x="0" y="0"/>
            <a:chExt cx="10275151" cy="180175"/>
          </a:xfrm>
        </p:grpSpPr>
        <p:sp>
          <p:nvSpPr>
            <p:cNvPr name="Freeform 24" id="24"/>
            <p:cNvSpPr/>
            <p:nvPr/>
          </p:nvSpPr>
          <p:spPr>
            <a:xfrm flipH="false" flipV="false" rot="0">
              <a:off x="0" y="0"/>
              <a:ext cx="10275189" cy="180213"/>
            </a:xfrm>
            <a:custGeom>
              <a:avLst/>
              <a:gdLst/>
              <a:ahLst/>
              <a:cxnLst/>
              <a:rect r="r" b="b" t="t" l="l"/>
              <a:pathLst>
                <a:path h="180213" w="10275189">
                  <a:moveTo>
                    <a:pt x="0" y="0"/>
                  </a:moveTo>
                  <a:lnTo>
                    <a:pt x="10275189" y="0"/>
                  </a:lnTo>
                  <a:lnTo>
                    <a:pt x="10275189" y="180213"/>
                  </a:lnTo>
                  <a:lnTo>
                    <a:pt x="0" y="180213"/>
                  </a:lnTo>
                  <a:close/>
                </a:path>
              </a:pathLst>
            </a:custGeom>
            <a:solidFill>
              <a:srgbClr val="0A7E8C"/>
            </a:solidFill>
            <a:ln w="25400" cap="sq">
              <a:solidFill>
                <a:srgbClr val="0A7E8C"/>
              </a:solidFill>
              <a:prstDash val="solid"/>
              <a:miter/>
            </a:ln>
          </p:spPr>
        </p:sp>
      </p:grpSp>
      <p:grpSp>
        <p:nvGrpSpPr>
          <p:cNvPr name="Group 25" id="25"/>
          <p:cNvGrpSpPr/>
          <p:nvPr/>
        </p:nvGrpSpPr>
        <p:grpSpPr>
          <a:xfrm rot="0">
            <a:off x="1097280" y="8759952"/>
            <a:ext cx="7680960" cy="548640"/>
            <a:chOff x="0" y="0"/>
            <a:chExt cx="10241280" cy="731520"/>
          </a:xfrm>
        </p:grpSpPr>
        <p:sp>
          <p:nvSpPr>
            <p:cNvPr name="Freeform 26" id="26"/>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27" id="27"/>
            <p:cNvSpPr txBox="true"/>
            <p:nvPr/>
          </p:nvSpPr>
          <p:spPr>
            <a:xfrm>
              <a:off x="0" y="-38100"/>
              <a:ext cx="10241280" cy="769620"/>
            </a:xfrm>
            <a:prstGeom prst="rect">
              <a:avLst/>
            </a:prstGeom>
          </p:spPr>
          <p:txBody>
            <a:bodyPr anchor="ctr" rtlCol="false" tIns="0" lIns="0" bIns="0" rIns="0"/>
            <a:lstStyle/>
            <a:p>
              <a:pPr algn="ctr">
                <a:lnSpc>
                  <a:spcPts val="2400"/>
                </a:lnSpc>
              </a:pPr>
              <a:r>
                <a:rPr lang="en-US" sz="2000">
                  <a:solidFill>
                    <a:srgbClr val="0D1B2A"/>
                  </a:solidFill>
                  <a:latin typeface="Calibri (MS)"/>
                  <a:ea typeface="Calibri (MS)"/>
                  <a:cs typeface="Calibri (MS)"/>
                  <a:sym typeface="Calibri (MS)"/>
                </a:rPr>
                <a:t>vs only 164 global terms (0.7%)</a:t>
              </a:r>
            </a:p>
          </p:txBody>
        </p:sp>
      </p:grpSp>
      <p:pic>
        <p:nvPicPr>
          <p:cNvPr name="Picture 28" id="28"/>
          <p:cNvPicPr>
            <a:picLocks noChangeAspect="true"/>
          </p:cNvPicPr>
          <p:nvPr/>
        </p:nvPicPr>
        <p:blipFill>
          <a:blip r:embed="rId4"/>
          <a:stretch>
            <a:fillRect/>
          </a:stretch>
        </p:blipFill>
        <p:spPr>
          <a:xfrm rot="0">
            <a:off x="8503920" y="2103120"/>
            <a:ext cx="9875520" cy="6217920"/>
          </a:xfrm>
          <a:prstGeom prst="rect">
            <a:avLst/>
          </a:prstGeom>
        </p:spPr>
      </p:pic>
      <p:grpSp>
        <p:nvGrpSpPr>
          <p:cNvPr name="Group 29" id="29"/>
          <p:cNvGrpSpPr/>
          <p:nvPr/>
        </p:nvGrpSpPr>
        <p:grpSpPr>
          <a:xfrm rot="0">
            <a:off x="9326880" y="7772400"/>
            <a:ext cx="8229600" cy="1645920"/>
            <a:chOff x="0" y="0"/>
            <a:chExt cx="10972800" cy="2194560"/>
          </a:xfrm>
        </p:grpSpPr>
        <p:sp>
          <p:nvSpPr>
            <p:cNvPr name="Freeform 30" id="30"/>
            <p:cNvSpPr/>
            <p:nvPr/>
          </p:nvSpPr>
          <p:spPr>
            <a:xfrm flipH="false" flipV="false" rot="0">
              <a:off x="0" y="0"/>
              <a:ext cx="10972800" cy="2194560"/>
            </a:xfrm>
            <a:custGeom>
              <a:avLst/>
              <a:gdLst/>
              <a:ahLst/>
              <a:cxnLst/>
              <a:rect r="r" b="b" t="t" l="l"/>
              <a:pathLst>
                <a:path h="2194560" w="10972800">
                  <a:moveTo>
                    <a:pt x="0" y="0"/>
                  </a:moveTo>
                  <a:lnTo>
                    <a:pt x="10972800" y="0"/>
                  </a:lnTo>
                  <a:lnTo>
                    <a:pt x="10972800" y="2194560"/>
                  </a:lnTo>
                  <a:lnTo>
                    <a:pt x="0" y="2194560"/>
                  </a:lnTo>
                  <a:close/>
                </a:path>
              </a:pathLst>
            </a:custGeom>
            <a:solidFill>
              <a:srgbClr val="D1FAE5"/>
            </a:solidFill>
            <a:ln cap="sq">
              <a:noFill/>
              <a:prstDash val="solid"/>
              <a:miter/>
            </a:ln>
          </p:spPr>
        </p:sp>
        <p:sp>
          <p:nvSpPr>
            <p:cNvPr name="TextBox 31" id="31"/>
            <p:cNvSpPr txBox="true"/>
            <p:nvPr/>
          </p:nvSpPr>
          <p:spPr>
            <a:xfrm>
              <a:off x="0" y="-142875"/>
              <a:ext cx="10972800" cy="2337435"/>
            </a:xfrm>
            <a:prstGeom prst="rect">
              <a:avLst/>
            </a:prstGeom>
          </p:spPr>
          <p:txBody>
            <a:bodyPr anchor="ctr" rtlCol="false" tIns="50800" lIns="50800" bIns="50800" rIns="50800"/>
            <a:lstStyle/>
            <a:p>
              <a:pPr algn="l">
                <a:lnSpc>
                  <a:spcPts val="3696"/>
                </a:lnSpc>
              </a:pPr>
              <a:r>
                <a:rPr lang="en-US" sz="2200">
                  <a:solidFill>
                    <a:srgbClr val="1E293B"/>
                  </a:solidFill>
                  <a:latin typeface="Calibri (MS)"/>
                  <a:ea typeface="Calibri (MS)"/>
                  <a:cs typeface="Calibri (MS)"/>
                  <a:sym typeface="Calibri (MS)"/>
                </a:rPr>
                <a:t>Strategic implication: Establish a scope filter as the first gate in content planning.</a:t>
              </a:r>
            </a:p>
            <a:p>
              <a:pPr algn="l">
                <a:lnSpc>
                  <a:spcPts val="3696"/>
                </a:lnSpc>
              </a:pPr>
              <a:r>
                <a:rPr lang="en-US" sz="2200">
                  <a:solidFill>
                    <a:srgbClr val="1E293B"/>
                  </a:solidFill>
                  <a:latin typeface="Calibri (MS)"/>
                  <a:ea typeface="Calibri (MS)"/>
                  <a:cs typeface="Calibri (MS)"/>
                  <a:sym typeface="Calibri (MS)"/>
                </a:rPr>
                <a:t>Only Global-classified terms should drive multi-market campaigns.</a:t>
              </a:r>
            </a:p>
          </p:txBody>
        </p:sp>
      </p:grpSp>
      <p:grpSp>
        <p:nvGrpSpPr>
          <p:cNvPr name="Group 32" id="32"/>
          <p:cNvGrpSpPr/>
          <p:nvPr/>
        </p:nvGrpSpPr>
        <p:grpSpPr>
          <a:xfrm rot="0">
            <a:off x="16093440" y="9692640"/>
            <a:ext cx="1828800" cy="365760"/>
            <a:chOff x="0" y="0"/>
            <a:chExt cx="2438400" cy="487680"/>
          </a:xfrm>
        </p:grpSpPr>
        <p:sp>
          <p:nvSpPr>
            <p:cNvPr name="Freeform 33" id="33"/>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34" id="34"/>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7 / 14</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D1B2A"/>
            </a:solidFill>
            <a:ln w="25400" cap="sq">
              <a:solidFill>
                <a:srgbClr val="0D1B2A"/>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12B5C8"/>
                  </a:solidFill>
                  <a:latin typeface="Calibri (MS) Bold"/>
                  <a:ea typeface="Calibri (MS) Bold"/>
                  <a:cs typeface="Calibri (MS) Bold"/>
                  <a:sym typeface="Calibri (MS) Bold"/>
                </a:rPr>
                <a:t>FINDING 02</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04775"/>
              <a:ext cx="21945600" cy="2299335"/>
            </a:xfrm>
            <a:prstGeom prst="rect">
              <a:avLst/>
            </a:prstGeom>
          </p:spPr>
          <p:txBody>
            <a:bodyPr anchor="ctr" rtlCol="false" tIns="0" lIns="0" bIns="0" rIns="0"/>
            <a:lstStyle/>
            <a:p>
              <a:pPr algn="l">
                <a:lnSpc>
                  <a:spcPts val="5759"/>
                </a:lnSpc>
              </a:pPr>
              <a:r>
                <a:rPr lang="en-US" sz="4000" b="true">
                  <a:solidFill>
                    <a:srgbClr val="1E293B"/>
                  </a:solidFill>
                  <a:latin typeface="Trebuchet MS Bold"/>
                  <a:ea typeface="Trebuchet MS Bold"/>
                  <a:cs typeface="Trebuchet MS Bold"/>
                  <a:sym typeface="Trebuchet MS Bold"/>
                </a:rPr>
                <a:t>Breakout events are unmeasurable —</a:t>
              </a:r>
            </a:p>
            <a:p>
              <a:pPr algn="l">
                <a:lnSpc>
                  <a:spcPts val="5759"/>
                </a:lnSpc>
              </a:pPr>
              <a:r>
                <a:rPr lang="en-US" sz="4000" b="true">
                  <a:solidFill>
                    <a:srgbClr val="1E293B"/>
                  </a:solidFill>
                  <a:latin typeface="Trebuchet MS Bold"/>
                  <a:ea typeface="Trebuchet MS Bold"/>
                  <a:cs typeface="Trebuchet MS Bold"/>
                  <a:sym typeface="Trebuchet MS Bold"/>
                </a:rPr>
                <a:t>Explosive terms are where opportunity lives.</a:t>
              </a:r>
            </a:p>
          </p:txBody>
        </p:sp>
      </p:grpSp>
      <p:grpSp>
        <p:nvGrpSpPr>
          <p:cNvPr name="Group 12" id="12"/>
          <p:cNvGrpSpPr/>
          <p:nvPr/>
        </p:nvGrpSpPr>
        <p:grpSpPr>
          <a:xfrm rot="0">
            <a:off x="908047" y="3102607"/>
            <a:ext cx="5444233" cy="5681977"/>
            <a:chOff x="0" y="0"/>
            <a:chExt cx="7258977" cy="7575969"/>
          </a:xfrm>
        </p:grpSpPr>
        <p:sp>
          <p:nvSpPr>
            <p:cNvPr name="Freeform 13" id="13"/>
            <p:cNvSpPr/>
            <p:nvPr/>
          </p:nvSpPr>
          <p:spPr>
            <a:xfrm flipH="false" flipV="false" rot="0">
              <a:off x="0" y="0"/>
              <a:ext cx="7258939" cy="7575931"/>
            </a:xfrm>
            <a:custGeom>
              <a:avLst/>
              <a:gdLst/>
              <a:ahLst/>
              <a:cxnLst/>
              <a:rect r="r" b="b" t="t" l="l"/>
              <a:pathLst>
                <a:path h="7575931" w="7258939">
                  <a:moveTo>
                    <a:pt x="0" y="0"/>
                  </a:moveTo>
                  <a:lnTo>
                    <a:pt x="7258939" y="0"/>
                  </a:lnTo>
                  <a:lnTo>
                    <a:pt x="7258939" y="7575931"/>
                  </a:lnTo>
                  <a:lnTo>
                    <a:pt x="0" y="7575931"/>
                  </a:lnTo>
                  <a:close/>
                </a:path>
              </a:pathLst>
            </a:custGeom>
            <a:solidFill>
              <a:srgbClr val="FFFFFF"/>
            </a:solidFill>
            <a:ln w="12700" cap="sq">
              <a:solidFill>
                <a:srgbClr val="E2E8F0"/>
              </a:solidFill>
              <a:prstDash val="solid"/>
              <a:miter/>
            </a:ln>
          </p:spPr>
        </p:sp>
      </p:grpSp>
      <p:grpSp>
        <p:nvGrpSpPr>
          <p:cNvPr name="Group 14" id="14"/>
          <p:cNvGrpSpPr/>
          <p:nvPr/>
        </p:nvGrpSpPr>
        <p:grpSpPr>
          <a:xfrm rot="0">
            <a:off x="901703" y="3096263"/>
            <a:ext cx="5456939" cy="153419"/>
            <a:chOff x="0" y="0"/>
            <a:chExt cx="7275919" cy="204559"/>
          </a:xfrm>
        </p:grpSpPr>
        <p:sp>
          <p:nvSpPr>
            <p:cNvPr name="Freeform 15" id="15"/>
            <p:cNvSpPr/>
            <p:nvPr/>
          </p:nvSpPr>
          <p:spPr>
            <a:xfrm flipH="false" flipV="false" rot="0">
              <a:off x="0" y="0"/>
              <a:ext cx="7275957" cy="204597"/>
            </a:xfrm>
            <a:custGeom>
              <a:avLst/>
              <a:gdLst/>
              <a:ahLst/>
              <a:cxnLst/>
              <a:rect r="r" b="b" t="t" l="l"/>
              <a:pathLst>
                <a:path h="204597" w="7275957">
                  <a:moveTo>
                    <a:pt x="0" y="0"/>
                  </a:moveTo>
                  <a:lnTo>
                    <a:pt x="7275957" y="0"/>
                  </a:lnTo>
                  <a:lnTo>
                    <a:pt x="7275957" y="204597"/>
                  </a:lnTo>
                  <a:lnTo>
                    <a:pt x="0" y="204597"/>
                  </a:lnTo>
                  <a:close/>
                </a:path>
              </a:pathLst>
            </a:custGeom>
            <a:solidFill>
              <a:srgbClr val="E05C45"/>
            </a:solidFill>
            <a:ln w="25400" cap="sq">
              <a:solidFill>
                <a:srgbClr val="E05C45"/>
              </a:solidFill>
              <a:prstDash val="solid"/>
              <a:miter/>
            </a:ln>
          </p:spPr>
        </p:sp>
      </p:grpSp>
      <p:grpSp>
        <p:nvGrpSpPr>
          <p:cNvPr name="Group 16" id="16"/>
          <p:cNvGrpSpPr/>
          <p:nvPr/>
        </p:nvGrpSpPr>
        <p:grpSpPr>
          <a:xfrm rot="0">
            <a:off x="1121159" y="3370583"/>
            <a:ext cx="2219963" cy="537467"/>
            <a:chOff x="0" y="0"/>
            <a:chExt cx="2959951" cy="716623"/>
          </a:xfrm>
        </p:grpSpPr>
        <p:sp>
          <p:nvSpPr>
            <p:cNvPr name="Freeform 17" id="17"/>
            <p:cNvSpPr/>
            <p:nvPr/>
          </p:nvSpPr>
          <p:spPr>
            <a:xfrm flipH="false" flipV="false" rot="0">
              <a:off x="0" y="0"/>
              <a:ext cx="2959989" cy="716534"/>
            </a:xfrm>
            <a:custGeom>
              <a:avLst/>
              <a:gdLst/>
              <a:ahLst/>
              <a:cxnLst/>
              <a:rect r="r" b="b" t="t" l="l"/>
              <a:pathLst>
                <a:path h="716534" w="2959989">
                  <a:moveTo>
                    <a:pt x="0" y="102362"/>
                  </a:moveTo>
                  <a:cubicBezTo>
                    <a:pt x="0" y="45847"/>
                    <a:pt x="45847" y="0"/>
                    <a:pt x="102362" y="0"/>
                  </a:cubicBezTo>
                  <a:lnTo>
                    <a:pt x="2857627" y="0"/>
                  </a:lnTo>
                  <a:cubicBezTo>
                    <a:pt x="2914142" y="0"/>
                    <a:pt x="2959989" y="45847"/>
                    <a:pt x="2959989" y="102362"/>
                  </a:cubicBezTo>
                  <a:lnTo>
                    <a:pt x="2959989" y="614172"/>
                  </a:lnTo>
                  <a:cubicBezTo>
                    <a:pt x="2959989" y="670687"/>
                    <a:pt x="2914142" y="716534"/>
                    <a:pt x="2857627" y="716534"/>
                  </a:cubicBezTo>
                  <a:lnTo>
                    <a:pt x="102362" y="716534"/>
                  </a:lnTo>
                  <a:cubicBezTo>
                    <a:pt x="45847" y="716661"/>
                    <a:pt x="0" y="670814"/>
                    <a:pt x="0" y="614299"/>
                  </a:cubicBezTo>
                  <a:close/>
                </a:path>
              </a:pathLst>
            </a:custGeom>
            <a:solidFill>
              <a:srgbClr val="FEE2E2"/>
            </a:solidFill>
            <a:ln w="25400" cap="sq">
              <a:solidFill>
                <a:srgbClr val="FEE2E2"/>
              </a:solidFill>
              <a:prstDash val="solid"/>
              <a:miter/>
            </a:ln>
          </p:spPr>
        </p:sp>
      </p:grpSp>
      <p:grpSp>
        <p:nvGrpSpPr>
          <p:cNvPr name="Group 18" id="18"/>
          <p:cNvGrpSpPr/>
          <p:nvPr/>
        </p:nvGrpSpPr>
        <p:grpSpPr>
          <a:xfrm rot="0">
            <a:off x="1133856" y="3383280"/>
            <a:ext cx="2194560" cy="512064"/>
            <a:chOff x="0" y="0"/>
            <a:chExt cx="2926080" cy="682752"/>
          </a:xfrm>
        </p:grpSpPr>
        <p:sp>
          <p:nvSpPr>
            <p:cNvPr name="Freeform 19" id="19"/>
            <p:cNvSpPr/>
            <p:nvPr/>
          </p:nvSpPr>
          <p:spPr>
            <a:xfrm flipH="false" flipV="false" rot="0">
              <a:off x="0" y="0"/>
              <a:ext cx="2926080" cy="682752"/>
            </a:xfrm>
            <a:custGeom>
              <a:avLst/>
              <a:gdLst/>
              <a:ahLst/>
              <a:cxnLst/>
              <a:rect r="r" b="b" t="t" l="l"/>
              <a:pathLst>
                <a:path h="682752" w="2926080">
                  <a:moveTo>
                    <a:pt x="0" y="0"/>
                  </a:moveTo>
                  <a:lnTo>
                    <a:pt x="2926080" y="0"/>
                  </a:lnTo>
                  <a:lnTo>
                    <a:pt x="2926080" y="682752"/>
                  </a:lnTo>
                  <a:lnTo>
                    <a:pt x="0" y="682752"/>
                  </a:lnTo>
                  <a:close/>
                </a:path>
              </a:pathLst>
            </a:custGeom>
            <a:blipFill>
              <a:blip r:embed="rId3">
                <a:alphaModFix amt="0"/>
              </a:blip>
              <a:stretch>
                <a:fillRect l="0" t="-33507" r="0" b="-33507"/>
              </a:stretch>
            </a:blipFill>
          </p:spPr>
        </p:sp>
        <p:sp>
          <p:nvSpPr>
            <p:cNvPr name="TextBox 20" id="20"/>
            <p:cNvSpPr txBox="true"/>
            <p:nvPr/>
          </p:nvSpPr>
          <p:spPr>
            <a:xfrm>
              <a:off x="0" y="-28575"/>
              <a:ext cx="2926080" cy="711327"/>
            </a:xfrm>
            <a:prstGeom prst="rect">
              <a:avLst/>
            </a:prstGeom>
          </p:spPr>
          <p:txBody>
            <a:bodyPr anchor="ctr" rtlCol="false" tIns="0" lIns="0" bIns="0" rIns="0"/>
            <a:lstStyle/>
            <a:p>
              <a:pPr algn="ctr">
                <a:lnSpc>
                  <a:spcPts val="1920"/>
                </a:lnSpc>
              </a:pPr>
              <a:r>
                <a:rPr lang="en-US" sz="1600" b="true">
                  <a:solidFill>
                    <a:srgbClr val="B91C1C"/>
                  </a:solidFill>
                  <a:latin typeface="Calibri (MS) Bold"/>
                  <a:ea typeface="Calibri (MS) Bold"/>
                  <a:cs typeface="Calibri (MS) Bold"/>
                  <a:sym typeface="Calibri (MS) Bold"/>
                </a:rPr>
                <a:t>BREAKOUT</a:t>
              </a:r>
            </a:p>
          </p:txBody>
        </p:sp>
      </p:grpSp>
      <p:grpSp>
        <p:nvGrpSpPr>
          <p:cNvPr name="Group 21" id="21"/>
          <p:cNvGrpSpPr/>
          <p:nvPr/>
        </p:nvGrpSpPr>
        <p:grpSpPr>
          <a:xfrm rot="0">
            <a:off x="914400" y="4059936"/>
            <a:ext cx="5431536" cy="1645920"/>
            <a:chOff x="0" y="0"/>
            <a:chExt cx="7242048" cy="2194560"/>
          </a:xfrm>
        </p:grpSpPr>
        <p:sp>
          <p:nvSpPr>
            <p:cNvPr name="Freeform 22" id="22"/>
            <p:cNvSpPr/>
            <p:nvPr/>
          </p:nvSpPr>
          <p:spPr>
            <a:xfrm flipH="false" flipV="false" rot="0">
              <a:off x="0" y="0"/>
              <a:ext cx="7242048" cy="2194560"/>
            </a:xfrm>
            <a:custGeom>
              <a:avLst/>
              <a:gdLst/>
              <a:ahLst/>
              <a:cxnLst/>
              <a:rect r="r" b="b" t="t" l="l"/>
              <a:pathLst>
                <a:path h="2194560" w="7242048">
                  <a:moveTo>
                    <a:pt x="0" y="0"/>
                  </a:moveTo>
                  <a:lnTo>
                    <a:pt x="7242048" y="0"/>
                  </a:lnTo>
                  <a:lnTo>
                    <a:pt x="7242048" y="2194560"/>
                  </a:lnTo>
                  <a:lnTo>
                    <a:pt x="0" y="2194560"/>
                  </a:lnTo>
                  <a:close/>
                </a:path>
              </a:pathLst>
            </a:custGeom>
            <a:blipFill>
              <a:blip r:embed="rId3">
                <a:alphaModFix amt="0"/>
              </a:blip>
              <a:stretch>
                <a:fillRect l="0" t="-14300" r="0" b="-14300"/>
              </a:stretch>
            </a:blipFill>
          </p:spPr>
        </p:sp>
        <p:sp>
          <p:nvSpPr>
            <p:cNvPr name="TextBox 23" id="23"/>
            <p:cNvSpPr txBox="true"/>
            <p:nvPr/>
          </p:nvSpPr>
          <p:spPr>
            <a:xfrm>
              <a:off x="0" y="0"/>
              <a:ext cx="7242048" cy="2194560"/>
            </a:xfrm>
            <a:prstGeom prst="rect">
              <a:avLst/>
            </a:prstGeom>
          </p:spPr>
          <p:txBody>
            <a:bodyPr anchor="ctr" rtlCol="false" tIns="0" lIns="0" bIns="0" rIns="0"/>
            <a:lstStyle/>
            <a:p>
              <a:pPr algn="ctr">
                <a:lnSpc>
                  <a:spcPts val="12480"/>
                </a:lnSpc>
              </a:pPr>
              <a:r>
                <a:rPr lang="en-US" sz="10400" b="true">
                  <a:solidFill>
                    <a:srgbClr val="E05C45"/>
                  </a:solidFill>
                  <a:latin typeface="Trebuchet MS Bold"/>
                  <a:ea typeface="Trebuchet MS Bold"/>
                  <a:cs typeface="Trebuchet MS Bold"/>
                  <a:sym typeface="Trebuchet MS Bold"/>
                </a:rPr>
                <a:t>280</a:t>
              </a:r>
            </a:p>
          </p:txBody>
        </p:sp>
      </p:grpSp>
      <p:grpSp>
        <p:nvGrpSpPr>
          <p:cNvPr name="Group 24" id="24"/>
          <p:cNvGrpSpPr/>
          <p:nvPr/>
        </p:nvGrpSpPr>
        <p:grpSpPr>
          <a:xfrm rot="0">
            <a:off x="914400" y="5596128"/>
            <a:ext cx="5431536" cy="457200"/>
            <a:chOff x="0" y="0"/>
            <a:chExt cx="7242048" cy="609600"/>
          </a:xfrm>
        </p:grpSpPr>
        <p:sp>
          <p:nvSpPr>
            <p:cNvPr name="Freeform 25" id="25"/>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26" id="26"/>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a:solidFill>
                    <a:srgbClr val="64748B"/>
                  </a:solidFill>
                  <a:latin typeface="Calibri (MS)"/>
                  <a:ea typeface="Calibri (MS)"/>
                  <a:cs typeface="Calibri (MS)"/>
                  <a:sym typeface="Calibri (MS)"/>
                </a:rPr>
                <a:t>terms</a:t>
              </a:r>
            </a:p>
          </p:txBody>
        </p:sp>
      </p:grpSp>
      <p:grpSp>
        <p:nvGrpSpPr>
          <p:cNvPr name="Group 27" id="27"/>
          <p:cNvGrpSpPr/>
          <p:nvPr/>
        </p:nvGrpSpPr>
        <p:grpSpPr>
          <a:xfrm rot="0">
            <a:off x="914400" y="6126480"/>
            <a:ext cx="5431536" cy="457200"/>
            <a:chOff x="0" y="0"/>
            <a:chExt cx="7242048" cy="609600"/>
          </a:xfrm>
        </p:grpSpPr>
        <p:sp>
          <p:nvSpPr>
            <p:cNvPr name="Freeform 28" id="28"/>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29" id="29"/>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b="true">
                  <a:solidFill>
                    <a:srgbClr val="1E293B"/>
                  </a:solidFill>
                  <a:latin typeface="Calibri (MS) Bold"/>
                  <a:ea typeface="Calibri (MS) Bold"/>
                  <a:cs typeface="Calibri (MS) Bold"/>
                  <a:sym typeface="Calibri (MS) Bold"/>
                </a:rPr>
                <a:t>avg gain: 5,000%</a:t>
              </a:r>
            </a:p>
          </p:txBody>
        </p:sp>
      </p:grpSp>
      <p:grpSp>
        <p:nvGrpSpPr>
          <p:cNvPr name="Group 30" id="30"/>
          <p:cNvGrpSpPr/>
          <p:nvPr/>
        </p:nvGrpSpPr>
        <p:grpSpPr>
          <a:xfrm rot="0">
            <a:off x="1133856" y="6766560"/>
            <a:ext cx="4992624" cy="1554480"/>
            <a:chOff x="0" y="0"/>
            <a:chExt cx="6656832" cy="2072640"/>
          </a:xfrm>
        </p:grpSpPr>
        <p:sp>
          <p:nvSpPr>
            <p:cNvPr name="Freeform 31" id="31"/>
            <p:cNvSpPr/>
            <p:nvPr/>
          </p:nvSpPr>
          <p:spPr>
            <a:xfrm flipH="false" flipV="false" rot="0">
              <a:off x="0" y="0"/>
              <a:ext cx="6656832" cy="2072640"/>
            </a:xfrm>
            <a:custGeom>
              <a:avLst/>
              <a:gdLst/>
              <a:ahLst/>
              <a:cxnLst/>
              <a:rect r="r" b="b" t="t" l="l"/>
              <a:pathLst>
                <a:path h="2072640" w="6656832">
                  <a:moveTo>
                    <a:pt x="0" y="0"/>
                  </a:moveTo>
                  <a:lnTo>
                    <a:pt x="6656832" y="0"/>
                  </a:lnTo>
                  <a:lnTo>
                    <a:pt x="6656832" y="2072640"/>
                  </a:lnTo>
                  <a:lnTo>
                    <a:pt x="0" y="2072640"/>
                  </a:lnTo>
                  <a:close/>
                </a:path>
              </a:pathLst>
            </a:custGeom>
            <a:blipFill>
              <a:blip r:embed="rId3">
                <a:alphaModFix amt="0"/>
              </a:blip>
              <a:stretch>
                <a:fillRect l="0" t="-12581" r="0" b="-12581"/>
              </a:stretch>
            </a:blipFill>
          </p:spPr>
        </p:sp>
        <p:sp>
          <p:nvSpPr>
            <p:cNvPr name="TextBox 32" id="32"/>
            <p:cNvSpPr txBox="true"/>
            <p:nvPr/>
          </p:nvSpPr>
          <p:spPr>
            <a:xfrm>
              <a:off x="0" y="-104775"/>
              <a:ext cx="6656832" cy="2177415"/>
            </a:xfrm>
            <a:prstGeom prst="rect">
              <a:avLst/>
            </a:prstGeom>
          </p:spPr>
          <p:txBody>
            <a:bodyPr anchor="ctr" rtlCol="false" tIns="0" lIns="0" bIns="0" rIns="0"/>
            <a:lstStyle/>
            <a:p>
              <a:pPr algn="ctr">
                <a:lnSpc>
                  <a:spcPts val="3120"/>
                </a:lnSpc>
              </a:pPr>
              <a:r>
                <a:rPr lang="en-US" sz="2000">
                  <a:solidFill>
                    <a:srgbClr val="64748B"/>
                  </a:solidFill>
                  <a:latin typeface="Calibri (MS)"/>
                  <a:ea typeface="Calibri (MS)"/>
                  <a:cs typeface="Calibri (MS)"/>
                  <a:sym typeface="Calibri (MS)"/>
                </a:rPr>
                <a:t>Hit Google's measurement ceiling.</a:t>
              </a:r>
            </a:p>
            <a:p>
              <a:pPr algn="ctr">
                <a:lnSpc>
                  <a:spcPts val="3120"/>
                </a:lnSpc>
              </a:pPr>
              <a:r>
                <a:rPr lang="en-US" sz="2000">
                  <a:solidFill>
                    <a:srgbClr val="64748B"/>
                  </a:solidFill>
                  <a:latin typeface="Calibri (MS)"/>
                  <a:ea typeface="Calibri (MS)"/>
                  <a:cs typeface="Calibri (MS)"/>
                  <a:sym typeface="Calibri (MS)"/>
                </a:rPr>
                <a:t>Unmeasurable by design. Window has closed.</a:t>
              </a:r>
            </a:p>
          </p:txBody>
        </p:sp>
      </p:grpSp>
      <p:grpSp>
        <p:nvGrpSpPr>
          <p:cNvPr name="Group 33" id="33"/>
          <p:cNvGrpSpPr/>
          <p:nvPr/>
        </p:nvGrpSpPr>
        <p:grpSpPr>
          <a:xfrm rot="0">
            <a:off x="6705343" y="3102607"/>
            <a:ext cx="5444233" cy="5681977"/>
            <a:chOff x="0" y="0"/>
            <a:chExt cx="7258977" cy="7575969"/>
          </a:xfrm>
        </p:grpSpPr>
        <p:sp>
          <p:nvSpPr>
            <p:cNvPr name="Freeform 34" id="34"/>
            <p:cNvSpPr/>
            <p:nvPr/>
          </p:nvSpPr>
          <p:spPr>
            <a:xfrm flipH="false" flipV="false" rot="0">
              <a:off x="0" y="0"/>
              <a:ext cx="7258939" cy="7575931"/>
            </a:xfrm>
            <a:custGeom>
              <a:avLst/>
              <a:gdLst/>
              <a:ahLst/>
              <a:cxnLst/>
              <a:rect r="r" b="b" t="t" l="l"/>
              <a:pathLst>
                <a:path h="7575931" w="7258939">
                  <a:moveTo>
                    <a:pt x="0" y="0"/>
                  </a:moveTo>
                  <a:lnTo>
                    <a:pt x="7258939" y="0"/>
                  </a:lnTo>
                  <a:lnTo>
                    <a:pt x="7258939" y="7575931"/>
                  </a:lnTo>
                  <a:lnTo>
                    <a:pt x="0" y="7575931"/>
                  </a:lnTo>
                  <a:close/>
                </a:path>
              </a:pathLst>
            </a:custGeom>
            <a:solidFill>
              <a:srgbClr val="FFFFFF"/>
            </a:solidFill>
            <a:ln w="12700" cap="sq">
              <a:solidFill>
                <a:srgbClr val="E2E8F0"/>
              </a:solidFill>
              <a:prstDash val="solid"/>
              <a:miter/>
            </a:ln>
          </p:spPr>
        </p:sp>
      </p:grpSp>
      <p:grpSp>
        <p:nvGrpSpPr>
          <p:cNvPr name="Group 35" id="35"/>
          <p:cNvGrpSpPr/>
          <p:nvPr/>
        </p:nvGrpSpPr>
        <p:grpSpPr>
          <a:xfrm rot="0">
            <a:off x="6698999" y="3096263"/>
            <a:ext cx="5456939" cy="153419"/>
            <a:chOff x="0" y="0"/>
            <a:chExt cx="7275919" cy="204559"/>
          </a:xfrm>
        </p:grpSpPr>
        <p:sp>
          <p:nvSpPr>
            <p:cNvPr name="Freeform 36" id="36"/>
            <p:cNvSpPr/>
            <p:nvPr/>
          </p:nvSpPr>
          <p:spPr>
            <a:xfrm flipH="false" flipV="false" rot="0">
              <a:off x="0" y="0"/>
              <a:ext cx="7275957" cy="204597"/>
            </a:xfrm>
            <a:custGeom>
              <a:avLst/>
              <a:gdLst/>
              <a:ahLst/>
              <a:cxnLst/>
              <a:rect r="r" b="b" t="t" l="l"/>
              <a:pathLst>
                <a:path h="204597" w="7275957">
                  <a:moveTo>
                    <a:pt x="0" y="0"/>
                  </a:moveTo>
                  <a:lnTo>
                    <a:pt x="7275957" y="0"/>
                  </a:lnTo>
                  <a:lnTo>
                    <a:pt x="7275957" y="204597"/>
                  </a:lnTo>
                  <a:lnTo>
                    <a:pt x="0" y="204597"/>
                  </a:lnTo>
                  <a:close/>
                </a:path>
              </a:pathLst>
            </a:custGeom>
            <a:solidFill>
              <a:srgbClr val="0A7E8C"/>
            </a:solidFill>
            <a:ln w="25400" cap="sq">
              <a:solidFill>
                <a:srgbClr val="0A7E8C"/>
              </a:solidFill>
              <a:prstDash val="solid"/>
              <a:miter/>
            </a:ln>
          </p:spPr>
        </p:sp>
      </p:grpSp>
      <p:grpSp>
        <p:nvGrpSpPr>
          <p:cNvPr name="Group 37" id="37"/>
          <p:cNvGrpSpPr/>
          <p:nvPr/>
        </p:nvGrpSpPr>
        <p:grpSpPr>
          <a:xfrm rot="0">
            <a:off x="6918455" y="3370583"/>
            <a:ext cx="2219963" cy="537467"/>
            <a:chOff x="0" y="0"/>
            <a:chExt cx="2959951" cy="716623"/>
          </a:xfrm>
        </p:grpSpPr>
        <p:sp>
          <p:nvSpPr>
            <p:cNvPr name="Freeform 38" id="38"/>
            <p:cNvSpPr/>
            <p:nvPr/>
          </p:nvSpPr>
          <p:spPr>
            <a:xfrm flipH="false" flipV="false" rot="0">
              <a:off x="0" y="0"/>
              <a:ext cx="2959989" cy="716534"/>
            </a:xfrm>
            <a:custGeom>
              <a:avLst/>
              <a:gdLst/>
              <a:ahLst/>
              <a:cxnLst/>
              <a:rect r="r" b="b" t="t" l="l"/>
              <a:pathLst>
                <a:path h="716534" w="2959989">
                  <a:moveTo>
                    <a:pt x="0" y="102362"/>
                  </a:moveTo>
                  <a:cubicBezTo>
                    <a:pt x="0" y="45847"/>
                    <a:pt x="45847" y="0"/>
                    <a:pt x="102362" y="0"/>
                  </a:cubicBezTo>
                  <a:lnTo>
                    <a:pt x="2857627" y="0"/>
                  </a:lnTo>
                  <a:cubicBezTo>
                    <a:pt x="2914142" y="0"/>
                    <a:pt x="2959989" y="45847"/>
                    <a:pt x="2959989" y="102362"/>
                  </a:cubicBezTo>
                  <a:lnTo>
                    <a:pt x="2959989" y="614172"/>
                  </a:lnTo>
                  <a:cubicBezTo>
                    <a:pt x="2959989" y="670687"/>
                    <a:pt x="2914142" y="716534"/>
                    <a:pt x="2857627" y="716534"/>
                  </a:cubicBezTo>
                  <a:lnTo>
                    <a:pt x="102362" y="716534"/>
                  </a:lnTo>
                  <a:cubicBezTo>
                    <a:pt x="45847" y="716661"/>
                    <a:pt x="0" y="670814"/>
                    <a:pt x="0" y="614299"/>
                  </a:cubicBezTo>
                  <a:close/>
                </a:path>
              </a:pathLst>
            </a:custGeom>
            <a:solidFill>
              <a:srgbClr val="D1FAE5"/>
            </a:solidFill>
            <a:ln w="25400" cap="sq">
              <a:solidFill>
                <a:srgbClr val="D1FAE5"/>
              </a:solidFill>
              <a:prstDash val="solid"/>
              <a:miter/>
            </a:ln>
          </p:spPr>
        </p:sp>
      </p:grpSp>
      <p:grpSp>
        <p:nvGrpSpPr>
          <p:cNvPr name="Group 39" id="39"/>
          <p:cNvGrpSpPr/>
          <p:nvPr/>
        </p:nvGrpSpPr>
        <p:grpSpPr>
          <a:xfrm rot="0">
            <a:off x="6931152" y="3383280"/>
            <a:ext cx="2194560" cy="512064"/>
            <a:chOff x="0" y="0"/>
            <a:chExt cx="2926080" cy="682752"/>
          </a:xfrm>
        </p:grpSpPr>
        <p:sp>
          <p:nvSpPr>
            <p:cNvPr name="Freeform 40" id="40"/>
            <p:cNvSpPr/>
            <p:nvPr/>
          </p:nvSpPr>
          <p:spPr>
            <a:xfrm flipH="false" flipV="false" rot="0">
              <a:off x="0" y="0"/>
              <a:ext cx="2926080" cy="682752"/>
            </a:xfrm>
            <a:custGeom>
              <a:avLst/>
              <a:gdLst/>
              <a:ahLst/>
              <a:cxnLst/>
              <a:rect r="r" b="b" t="t" l="l"/>
              <a:pathLst>
                <a:path h="682752" w="2926080">
                  <a:moveTo>
                    <a:pt x="0" y="0"/>
                  </a:moveTo>
                  <a:lnTo>
                    <a:pt x="2926080" y="0"/>
                  </a:lnTo>
                  <a:lnTo>
                    <a:pt x="2926080" y="682752"/>
                  </a:lnTo>
                  <a:lnTo>
                    <a:pt x="0" y="682752"/>
                  </a:lnTo>
                  <a:close/>
                </a:path>
              </a:pathLst>
            </a:custGeom>
            <a:blipFill>
              <a:blip r:embed="rId3">
                <a:alphaModFix amt="0"/>
              </a:blip>
              <a:stretch>
                <a:fillRect l="0" t="-33507" r="0" b="-33507"/>
              </a:stretch>
            </a:blipFill>
          </p:spPr>
        </p:sp>
        <p:sp>
          <p:nvSpPr>
            <p:cNvPr name="TextBox 41" id="41"/>
            <p:cNvSpPr txBox="true"/>
            <p:nvPr/>
          </p:nvSpPr>
          <p:spPr>
            <a:xfrm>
              <a:off x="0" y="-28575"/>
              <a:ext cx="2926080" cy="711327"/>
            </a:xfrm>
            <a:prstGeom prst="rect">
              <a:avLst/>
            </a:prstGeom>
          </p:spPr>
          <p:txBody>
            <a:bodyPr anchor="ctr" rtlCol="false" tIns="0" lIns="0" bIns="0" rIns="0"/>
            <a:lstStyle/>
            <a:p>
              <a:pPr algn="ctr">
                <a:lnSpc>
                  <a:spcPts val="1920"/>
                </a:lnSpc>
              </a:pPr>
              <a:r>
                <a:rPr lang="en-US" sz="1600" b="true">
                  <a:solidFill>
                    <a:srgbClr val="2E7D52"/>
                  </a:solidFill>
                  <a:latin typeface="Calibri (MS) Bold"/>
                  <a:ea typeface="Calibri (MS) Bold"/>
                  <a:cs typeface="Calibri (MS) Bold"/>
                  <a:sym typeface="Calibri (MS) Bold"/>
                </a:rPr>
                <a:t>EXPLOSIVE</a:t>
              </a:r>
            </a:p>
          </p:txBody>
        </p:sp>
      </p:grpSp>
      <p:grpSp>
        <p:nvGrpSpPr>
          <p:cNvPr name="Group 42" id="42"/>
          <p:cNvGrpSpPr/>
          <p:nvPr/>
        </p:nvGrpSpPr>
        <p:grpSpPr>
          <a:xfrm rot="0">
            <a:off x="6711696" y="4059936"/>
            <a:ext cx="5431536" cy="1645920"/>
            <a:chOff x="0" y="0"/>
            <a:chExt cx="7242048" cy="2194560"/>
          </a:xfrm>
        </p:grpSpPr>
        <p:sp>
          <p:nvSpPr>
            <p:cNvPr name="Freeform 43" id="43"/>
            <p:cNvSpPr/>
            <p:nvPr/>
          </p:nvSpPr>
          <p:spPr>
            <a:xfrm flipH="false" flipV="false" rot="0">
              <a:off x="0" y="0"/>
              <a:ext cx="7242048" cy="2194560"/>
            </a:xfrm>
            <a:custGeom>
              <a:avLst/>
              <a:gdLst/>
              <a:ahLst/>
              <a:cxnLst/>
              <a:rect r="r" b="b" t="t" l="l"/>
              <a:pathLst>
                <a:path h="2194560" w="7242048">
                  <a:moveTo>
                    <a:pt x="0" y="0"/>
                  </a:moveTo>
                  <a:lnTo>
                    <a:pt x="7242048" y="0"/>
                  </a:lnTo>
                  <a:lnTo>
                    <a:pt x="7242048" y="2194560"/>
                  </a:lnTo>
                  <a:lnTo>
                    <a:pt x="0" y="2194560"/>
                  </a:lnTo>
                  <a:close/>
                </a:path>
              </a:pathLst>
            </a:custGeom>
            <a:blipFill>
              <a:blip r:embed="rId3">
                <a:alphaModFix amt="0"/>
              </a:blip>
              <a:stretch>
                <a:fillRect l="0" t="-14300" r="0" b="-14300"/>
              </a:stretch>
            </a:blipFill>
          </p:spPr>
        </p:sp>
        <p:sp>
          <p:nvSpPr>
            <p:cNvPr name="TextBox 44" id="44"/>
            <p:cNvSpPr txBox="true"/>
            <p:nvPr/>
          </p:nvSpPr>
          <p:spPr>
            <a:xfrm>
              <a:off x="0" y="0"/>
              <a:ext cx="7242048" cy="2194560"/>
            </a:xfrm>
            <a:prstGeom prst="rect">
              <a:avLst/>
            </a:prstGeom>
          </p:spPr>
          <p:txBody>
            <a:bodyPr anchor="ctr" rtlCol="false" tIns="0" lIns="0" bIns="0" rIns="0"/>
            <a:lstStyle/>
            <a:p>
              <a:pPr algn="ctr">
                <a:lnSpc>
                  <a:spcPts val="12480"/>
                </a:lnSpc>
              </a:pPr>
              <a:r>
                <a:rPr lang="en-US" sz="10400" b="true">
                  <a:solidFill>
                    <a:srgbClr val="0A7E8C"/>
                  </a:solidFill>
                  <a:latin typeface="Trebuchet MS Bold"/>
                  <a:ea typeface="Trebuchet MS Bold"/>
                  <a:cs typeface="Trebuchet MS Bold"/>
                  <a:sym typeface="Trebuchet MS Bold"/>
                </a:rPr>
                <a:t>149</a:t>
              </a:r>
            </a:p>
          </p:txBody>
        </p:sp>
      </p:grpSp>
      <p:grpSp>
        <p:nvGrpSpPr>
          <p:cNvPr name="Group 45" id="45"/>
          <p:cNvGrpSpPr/>
          <p:nvPr/>
        </p:nvGrpSpPr>
        <p:grpSpPr>
          <a:xfrm rot="0">
            <a:off x="6711696" y="5596128"/>
            <a:ext cx="5431536" cy="457200"/>
            <a:chOff x="0" y="0"/>
            <a:chExt cx="7242048" cy="609600"/>
          </a:xfrm>
        </p:grpSpPr>
        <p:sp>
          <p:nvSpPr>
            <p:cNvPr name="Freeform 46" id="46"/>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47" id="47"/>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a:solidFill>
                    <a:srgbClr val="64748B"/>
                  </a:solidFill>
                  <a:latin typeface="Calibri (MS)"/>
                  <a:ea typeface="Calibri (MS)"/>
                  <a:cs typeface="Calibri (MS)"/>
                  <a:sym typeface="Calibri (MS)"/>
                </a:rPr>
                <a:t>terms</a:t>
              </a:r>
            </a:p>
          </p:txBody>
        </p:sp>
      </p:grpSp>
      <p:grpSp>
        <p:nvGrpSpPr>
          <p:cNvPr name="Group 48" id="48"/>
          <p:cNvGrpSpPr/>
          <p:nvPr/>
        </p:nvGrpSpPr>
        <p:grpSpPr>
          <a:xfrm rot="0">
            <a:off x="6711696" y="6126480"/>
            <a:ext cx="5431536" cy="457200"/>
            <a:chOff x="0" y="0"/>
            <a:chExt cx="7242048" cy="609600"/>
          </a:xfrm>
        </p:grpSpPr>
        <p:sp>
          <p:nvSpPr>
            <p:cNvPr name="Freeform 49" id="49"/>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50" id="50"/>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b="true">
                  <a:solidFill>
                    <a:srgbClr val="1E293B"/>
                  </a:solidFill>
                  <a:latin typeface="Calibri (MS) Bold"/>
                  <a:ea typeface="Calibri (MS) Bold"/>
                  <a:cs typeface="Calibri (MS) Bold"/>
                  <a:sym typeface="Calibri (MS) Bold"/>
                </a:rPr>
                <a:t>avg gain: 2,930%</a:t>
              </a:r>
            </a:p>
          </p:txBody>
        </p:sp>
      </p:grpSp>
      <p:grpSp>
        <p:nvGrpSpPr>
          <p:cNvPr name="Group 51" id="51"/>
          <p:cNvGrpSpPr/>
          <p:nvPr/>
        </p:nvGrpSpPr>
        <p:grpSpPr>
          <a:xfrm rot="0">
            <a:off x="6931152" y="6766560"/>
            <a:ext cx="4992624" cy="1554480"/>
            <a:chOff x="0" y="0"/>
            <a:chExt cx="6656832" cy="2072640"/>
          </a:xfrm>
        </p:grpSpPr>
        <p:sp>
          <p:nvSpPr>
            <p:cNvPr name="Freeform 52" id="52"/>
            <p:cNvSpPr/>
            <p:nvPr/>
          </p:nvSpPr>
          <p:spPr>
            <a:xfrm flipH="false" flipV="false" rot="0">
              <a:off x="0" y="0"/>
              <a:ext cx="6656832" cy="2072640"/>
            </a:xfrm>
            <a:custGeom>
              <a:avLst/>
              <a:gdLst/>
              <a:ahLst/>
              <a:cxnLst/>
              <a:rect r="r" b="b" t="t" l="l"/>
              <a:pathLst>
                <a:path h="2072640" w="6656832">
                  <a:moveTo>
                    <a:pt x="0" y="0"/>
                  </a:moveTo>
                  <a:lnTo>
                    <a:pt x="6656832" y="0"/>
                  </a:lnTo>
                  <a:lnTo>
                    <a:pt x="6656832" y="2072640"/>
                  </a:lnTo>
                  <a:lnTo>
                    <a:pt x="0" y="2072640"/>
                  </a:lnTo>
                  <a:close/>
                </a:path>
              </a:pathLst>
            </a:custGeom>
            <a:blipFill>
              <a:blip r:embed="rId3">
                <a:alphaModFix amt="0"/>
              </a:blip>
              <a:stretch>
                <a:fillRect l="0" t="-12581" r="0" b="-12581"/>
              </a:stretch>
            </a:blipFill>
          </p:spPr>
        </p:sp>
        <p:sp>
          <p:nvSpPr>
            <p:cNvPr name="TextBox 53" id="53"/>
            <p:cNvSpPr txBox="true"/>
            <p:nvPr/>
          </p:nvSpPr>
          <p:spPr>
            <a:xfrm>
              <a:off x="0" y="-104775"/>
              <a:ext cx="6656832" cy="2177415"/>
            </a:xfrm>
            <a:prstGeom prst="rect">
              <a:avLst/>
            </a:prstGeom>
          </p:spPr>
          <p:txBody>
            <a:bodyPr anchor="ctr" rtlCol="false" tIns="0" lIns="0" bIns="0" rIns="0"/>
            <a:lstStyle/>
            <a:p>
              <a:pPr algn="ctr">
                <a:lnSpc>
                  <a:spcPts val="3120"/>
                </a:lnSpc>
              </a:pPr>
              <a:r>
                <a:rPr lang="en-US" sz="2000">
                  <a:solidFill>
                    <a:srgbClr val="64748B"/>
                  </a:solidFill>
                  <a:latin typeface="Calibri (MS)"/>
                  <a:ea typeface="Calibri (MS)"/>
                  <a:cs typeface="Calibri (MS)"/>
                  <a:sym typeface="Calibri (MS)"/>
                </a:rPr>
                <a:t>Fast-rising but measurable.</a:t>
              </a:r>
            </a:p>
            <a:p>
              <a:pPr algn="ctr">
                <a:lnSpc>
                  <a:spcPts val="3120"/>
                </a:lnSpc>
              </a:pPr>
              <a:r>
                <a:rPr lang="en-US" sz="2000">
                  <a:solidFill>
                    <a:srgbClr val="64748B"/>
                  </a:solidFill>
                  <a:latin typeface="Calibri (MS)"/>
                  <a:ea typeface="Calibri (MS)"/>
                  <a:cs typeface="Calibri (MS)"/>
                  <a:sym typeface="Calibri (MS)"/>
                </a:rPr>
                <a:t>2–3 week runway to act.</a:t>
              </a:r>
            </a:p>
          </p:txBody>
        </p:sp>
      </p:grpSp>
      <p:grpSp>
        <p:nvGrpSpPr>
          <p:cNvPr name="Group 54" id="54"/>
          <p:cNvGrpSpPr/>
          <p:nvPr/>
        </p:nvGrpSpPr>
        <p:grpSpPr>
          <a:xfrm rot="0">
            <a:off x="12502639" y="3102607"/>
            <a:ext cx="5444233" cy="5681977"/>
            <a:chOff x="0" y="0"/>
            <a:chExt cx="7258977" cy="7575969"/>
          </a:xfrm>
        </p:grpSpPr>
        <p:sp>
          <p:nvSpPr>
            <p:cNvPr name="Freeform 55" id="55"/>
            <p:cNvSpPr/>
            <p:nvPr/>
          </p:nvSpPr>
          <p:spPr>
            <a:xfrm flipH="false" flipV="false" rot="0">
              <a:off x="0" y="0"/>
              <a:ext cx="7258939" cy="7575931"/>
            </a:xfrm>
            <a:custGeom>
              <a:avLst/>
              <a:gdLst/>
              <a:ahLst/>
              <a:cxnLst/>
              <a:rect r="r" b="b" t="t" l="l"/>
              <a:pathLst>
                <a:path h="7575931" w="7258939">
                  <a:moveTo>
                    <a:pt x="0" y="0"/>
                  </a:moveTo>
                  <a:lnTo>
                    <a:pt x="7258939" y="0"/>
                  </a:lnTo>
                  <a:lnTo>
                    <a:pt x="7258939" y="7575931"/>
                  </a:lnTo>
                  <a:lnTo>
                    <a:pt x="0" y="7575931"/>
                  </a:lnTo>
                  <a:close/>
                </a:path>
              </a:pathLst>
            </a:custGeom>
            <a:solidFill>
              <a:srgbClr val="FFFFFF"/>
            </a:solidFill>
            <a:ln w="12700" cap="sq">
              <a:solidFill>
                <a:srgbClr val="E2E8F0"/>
              </a:solidFill>
              <a:prstDash val="solid"/>
              <a:miter/>
            </a:ln>
          </p:spPr>
        </p:sp>
      </p:grpSp>
      <p:grpSp>
        <p:nvGrpSpPr>
          <p:cNvPr name="Group 56" id="56"/>
          <p:cNvGrpSpPr/>
          <p:nvPr/>
        </p:nvGrpSpPr>
        <p:grpSpPr>
          <a:xfrm rot="0">
            <a:off x="12496295" y="3096263"/>
            <a:ext cx="5456939" cy="153419"/>
            <a:chOff x="0" y="0"/>
            <a:chExt cx="7275919" cy="204559"/>
          </a:xfrm>
        </p:grpSpPr>
        <p:sp>
          <p:nvSpPr>
            <p:cNvPr name="Freeform 57" id="57"/>
            <p:cNvSpPr/>
            <p:nvPr/>
          </p:nvSpPr>
          <p:spPr>
            <a:xfrm flipH="false" flipV="false" rot="0">
              <a:off x="0" y="0"/>
              <a:ext cx="7275957" cy="204597"/>
            </a:xfrm>
            <a:custGeom>
              <a:avLst/>
              <a:gdLst/>
              <a:ahLst/>
              <a:cxnLst/>
              <a:rect r="r" b="b" t="t" l="l"/>
              <a:pathLst>
                <a:path h="204597" w="7275957">
                  <a:moveTo>
                    <a:pt x="0" y="0"/>
                  </a:moveTo>
                  <a:lnTo>
                    <a:pt x="7275957" y="0"/>
                  </a:lnTo>
                  <a:lnTo>
                    <a:pt x="7275957" y="204597"/>
                  </a:lnTo>
                  <a:lnTo>
                    <a:pt x="0" y="204597"/>
                  </a:lnTo>
                  <a:close/>
                </a:path>
              </a:pathLst>
            </a:custGeom>
            <a:solidFill>
              <a:srgbClr val="D4A017"/>
            </a:solidFill>
            <a:ln w="25400" cap="sq">
              <a:solidFill>
                <a:srgbClr val="D4A017"/>
              </a:solidFill>
              <a:prstDash val="solid"/>
              <a:miter/>
            </a:ln>
          </p:spPr>
        </p:sp>
      </p:grpSp>
      <p:grpSp>
        <p:nvGrpSpPr>
          <p:cNvPr name="Group 58" id="58"/>
          <p:cNvGrpSpPr/>
          <p:nvPr/>
        </p:nvGrpSpPr>
        <p:grpSpPr>
          <a:xfrm rot="0">
            <a:off x="12715751" y="3370583"/>
            <a:ext cx="2219963" cy="537467"/>
            <a:chOff x="0" y="0"/>
            <a:chExt cx="2959951" cy="716623"/>
          </a:xfrm>
        </p:grpSpPr>
        <p:sp>
          <p:nvSpPr>
            <p:cNvPr name="Freeform 59" id="59"/>
            <p:cNvSpPr/>
            <p:nvPr/>
          </p:nvSpPr>
          <p:spPr>
            <a:xfrm flipH="false" flipV="false" rot="0">
              <a:off x="0" y="0"/>
              <a:ext cx="2959989" cy="716534"/>
            </a:xfrm>
            <a:custGeom>
              <a:avLst/>
              <a:gdLst/>
              <a:ahLst/>
              <a:cxnLst/>
              <a:rect r="r" b="b" t="t" l="l"/>
              <a:pathLst>
                <a:path h="716534" w="2959989">
                  <a:moveTo>
                    <a:pt x="0" y="102362"/>
                  </a:moveTo>
                  <a:cubicBezTo>
                    <a:pt x="0" y="45847"/>
                    <a:pt x="45847" y="0"/>
                    <a:pt x="102362" y="0"/>
                  </a:cubicBezTo>
                  <a:lnTo>
                    <a:pt x="2857627" y="0"/>
                  </a:lnTo>
                  <a:cubicBezTo>
                    <a:pt x="2914142" y="0"/>
                    <a:pt x="2959989" y="45847"/>
                    <a:pt x="2959989" y="102362"/>
                  </a:cubicBezTo>
                  <a:lnTo>
                    <a:pt x="2959989" y="614172"/>
                  </a:lnTo>
                  <a:cubicBezTo>
                    <a:pt x="2959989" y="670687"/>
                    <a:pt x="2914142" y="716534"/>
                    <a:pt x="2857627" y="716534"/>
                  </a:cubicBezTo>
                  <a:lnTo>
                    <a:pt x="102362" y="716534"/>
                  </a:lnTo>
                  <a:cubicBezTo>
                    <a:pt x="45847" y="716661"/>
                    <a:pt x="0" y="670814"/>
                    <a:pt x="0" y="614299"/>
                  </a:cubicBezTo>
                  <a:close/>
                </a:path>
              </a:pathLst>
            </a:custGeom>
            <a:solidFill>
              <a:srgbClr val="FEF9C3"/>
            </a:solidFill>
            <a:ln w="25400" cap="sq">
              <a:solidFill>
                <a:srgbClr val="FEF9C3"/>
              </a:solidFill>
              <a:prstDash val="solid"/>
              <a:miter/>
            </a:ln>
          </p:spPr>
        </p:sp>
      </p:grpSp>
      <p:grpSp>
        <p:nvGrpSpPr>
          <p:cNvPr name="Group 60" id="60"/>
          <p:cNvGrpSpPr/>
          <p:nvPr/>
        </p:nvGrpSpPr>
        <p:grpSpPr>
          <a:xfrm rot="0">
            <a:off x="12728448" y="3383280"/>
            <a:ext cx="2194560" cy="512064"/>
            <a:chOff x="0" y="0"/>
            <a:chExt cx="2926080" cy="682752"/>
          </a:xfrm>
        </p:grpSpPr>
        <p:sp>
          <p:nvSpPr>
            <p:cNvPr name="Freeform 61" id="61"/>
            <p:cNvSpPr/>
            <p:nvPr/>
          </p:nvSpPr>
          <p:spPr>
            <a:xfrm flipH="false" flipV="false" rot="0">
              <a:off x="0" y="0"/>
              <a:ext cx="2926080" cy="682752"/>
            </a:xfrm>
            <a:custGeom>
              <a:avLst/>
              <a:gdLst/>
              <a:ahLst/>
              <a:cxnLst/>
              <a:rect r="r" b="b" t="t" l="l"/>
              <a:pathLst>
                <a:path h="682752" w="2926080">
                  <a:moveTo>
                    <a:pt x="0" y="0"/>
                  </a:moveTo>
                  <a:lnTo>
                    <a:pt x="2926080" y="0"/>
                  </a:lnTo>
                  <a:lnTo>
                    <a:pt x="2926080" y="682752"/>
                  </a:lnTo>
                  <a:lnTo>
                    <a:pt x="0" y="682752"/>
                  </a:lnTo>
                  <a:close/>
                </a:path>
              </a:pathLst>
            </a:custGeom>
            <a:blipFill>
              <a:blip r:embed="rId3">
                <a:alphaModFix amt="0"/>
              </a:blip>
              <a:stretch>
                <a:fillRect l="0" t="-33507" r="0" b="-33507"/>
              </a:stretch>
            </a:blipFill>
          </p:spPr>
        </p:sp>
        <p:sp>
          <p:nvSpPr>
            <p:cNvPr name="TextBox 62" id="62"/>
            <p:cNvSpPr txBox="true"/>
            <p:nvPr/>
          </p:nvSpPr>
          <p:spPr>
            <a:xfrm>
              <a:off x="0" y="-28575"/>
              <a:ext cx="2926080" cy="711327"/>
            </a:xfrm>
            <a:prstGeom prst="rect">
              <a:avLst/>
            </a:prstGeom>
          </p:spPr>
          <p:txBody>
            <a:bodyPr anchor="ctr" rtlCol="false" tIns="0" lIns="0" bIns="0" rIns="0"/>
            <a:lstStyle/>
            <a:p>
              <a:pPr algn="ctr">
                <a:lnSpc>
                  <a:spcPts val="1920"/>
                </a:lnSpc>
              </a:pPr>
              <a:r>
                <a:rPr lang="en-US" sz="1600" b="true">
                  <a:solidFill>
                    <a:srgbClr val="854D0E"/>
                  </a:solidFill>
                  <a:latin typeface="Calibri (MS) Bold"/>
                  <a:ea typeface="Calibri (MS) Bold"/>
                  <a:cs typeface="Calibri (MS) Bold"/>
                  <a:sym typeface="Calibri (MS) Bold"/>
                </a:rPr>
                <a:t>MODERATE</a:t>
              </a:r>
            </a:p>
          </p:txBody>
        </p:sp>
      </p:grpSp>
      <p:grpSp>
        <p:nvGrpSpPr>
          <p:cNvPr name="Group 63" id="63"/>
          <p:cNvGrpSpPr/>
          <p:nvPr/>
        </p:nvGrpSpPr>
        <p:grpSpPr>
          <a:xfrm rot="0">
            <a:off x="12508992" y="4059936"/>
            <a:ext cx="5431536" cy="1645920"/>
            <a:chOff x="0" y="0"/>
            <a:chExt cx="7242048" cy="2194560"/>
          </a:xfrm>
        </p:grpSpPr>
        <p:sp>
          <p:nvSpPr>
            <p:cNvPr name="Freeform 64" id="64"/>
            <p:cNvSpPr/>
            <p:nvPr/>
          </p:nvSpPr>
          <p:spPr>
            <a:xfrm flipH="false" flipV="false" rot="0">
              <a:off x="0" y="0"/>
              <a:ext cx="7242048" cy="2194560"/>
            </a:xfrm>
            <a:custGeom>
              <a:avLst/>
              <a:gdLst/>
              <a:ahLst/>
              <a:cxnLst/>
              <a:rect r="r" b="b" t="t" l="l"/>
              <a:pathLst>
                <a:path h="2194560" w="7242048">
                  <a:moveTo>
                    <a:pt x="0" y="0"/>
                  </a:moveTo>
                  <a:lnTo>
                    <a:pt x="7242048" y="0"/>
                  </a:lnTo>
                  <a:lnTo>
                    <a:pt x="7242048" y="2194560"/>
                  </a:lnTo>
                  <a:lnTo>
                    <a:pt x="0" y="2194560"/>
                  </a:lnTo>
                  <a:close/>
                </a:path>
              </a:pathLst>
            </a:custGeom>
            <a:blipFill>
              <a:blip r:embed="rId3">
                <a:alphaModFix amt="0"/>
              </a:blip>
              <a:stretch>
                <a:fillRect l="0" t="-14300" r="0" b="-14300"/>
              </a:stretch>
            </a:blipFill>
          </p:spPr>
        </p:sp>
        <p:sp>
          <p:nvSpPr>
            <p:cNvPr name="TextBox 65" id="65"/>
            <p:cNvSpPr txBox="true"/>
            <p:nvPr/>
          </p:nvSpPr>
          <p:spPr>
            <a:xfrm>
              <a:off x="0" y="0"/>
              <a:ext cx="7242048" cy="2194560"/>
            </a:xfrm>
            <a:prstGeom prst="rect">
              <a:avLst/>
            </a:prstGeom>
          </p:spPr>
          <p:txBody>
            <a:bodyPr anchor="ctr" rtlCol="false" tIns="0" lIns="0" bIns="0" rIns="0"/>
            <a:lstStyle/>
            <a:p>
              <a:pPr algn="ctr">
                <a:lnSpc>
                  <a:spcPts val="12480"/>
                </a:lnSpc>
              </a:pPr>
              <a:r>
                <a:rPr lang="en-US" sz="10400" b="true">
                  <a:solidFill>
                    <a:srgbClr val="D4A017"/>
                  </a:solidFill>
                  <a:latin typeface="Trebuchet MS Bold"/>
                  <a:ea typeface="Trebuchet MS Bold"/>
                  <a:cs typeface="Trebuchet MS Bold"/>
                  <a:sym typeface="Trebuchet MS Bold"/>
                </a:rPr>
                <a:t>2</a:t>
              </a:r>
            </a:p>
          </p:txBody>
        </p:sp>
      </p:grpSp>
      <p:grpSp>
        <p:nvGrpSpPr>
          <p:cNvPr name="Group 66" id="66"/>
          <p:cNvGrpSpPr/>
          <p:nvPr/>
        </p:nvGrpSpPr>
        <p:grpSpPr>
          <a:xfrm rot="0">
            <a:off x="12508992" y="5596128"/>
            <a:ext cx="5431536" cy="457200"/>
            <a:chOff x="0" y="0"/>
            <a:chExt cx="7242048" cy="609600"/>
          </a:xfrm>
        </p:grpSpPr>
        <p:sp>
          <p:nvSpPr>
            <p:cNvPr name="Freeform 67" id="67"/>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68" id="68"/>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a:solidFill>
                    <a:srgbClr val="64748B"/>
                  </a:solidFill>
                  <a:latin typeface="Calibri (MS)"/>
                  <a:ea typeface="Calibri (MS)"/>
                  <a:cs typeface="Calibri (MS)"/>
                  <a:sym typeface="Calibri (MS)"/>
                </a:rPr>
                <a:t>terms</a:t>
              </a:r>
            </a:p>
          </p:txBody>
        </p:sp>
      </p:grpSp>
      <p:grpSp>
        <p:nvGrpSpPr>
          <p:cNvPr name="Group 69" id="69"/>
          <p:cNvGrpSpPr/>
          <p:nvPr/>
        </p:nvGrpSpPr>
        <p:grpSpPr>
          <a:xfrm rot="0">
            <a:off x="12508992" y="6126480"/>
            <a:ext cx="5431536" cy="457200"/>
            <a:chOff x="0" y="0"/>
            <a:chExt cx="7242048" cy="609600"/>
          </a:xfrm>
        </p:grpSpPr>
        <p:sp>
          <p:nvSpPr>
            <p:cNvPr name="Freeform 70" id="70"/>
            <p:cNvSpPr/>
            <p:nvPr/>
          </p:nvSpPr>
          <p:spPr>
            <a:xfrm flipH="false" flipV="false" rot="0">
              <a:off x="0" y="0"/>
              <a:ext cx="7242048" cy="609600"/>
            </a:xfrm>
            <a:custGeom>
              <a:avLst/>
              <a:gdLst/>
              <a:ahLst/>
              <a:cxnLst/>
              <a:rect r="r" b="b" t="t" l="l"/>
              <a:pathLst>
                <a:path h="609600" w="7242048">
                  <a:moveTo>
                    <a:pt x="0" y="0"/>
                  </a:moveTo>
                  <a:lnTo>
                    <a:pt x="7242048" y="0"/>
                  </a:lnTo>
                  <a:lnTo>
                    <a:pt x="7242048" y="609600"/>
                  </a:lnTo>
                  <a:lnTo>
                    <a:pt x="0" y="609600"/>
                  </a:lnTo>
                  <a:close/>
                </a:path>
              </a:pathLst>
            </a:custGeom>
            <a:blipFill>
              <a:blip r:embed="rId3">
                <a:alphaModFix amt="0"/>
              </a:blip>
              <a:stretch>
                <a:fillRect l="0" t="-181482" r="0" b="-181482"/>
              </a:stretch>
            </a:blipFill>
          </p:spPr>
        </p:sp>
        <p:sp>
          <p:nvSpPr>
            <p:cNvPr name="TextBox 71" id="71"/>
            <p:cNvSpPr txBox="true"/>
            <p:nvPr/>
          </p:nvSpPr>
          <p:spPr>
            <a:xfrm>
              <a:off x="0" y="-47625"/>
              <a:ext cx="7242048" cy="657225"/>
            </a:xfrm>
            <a:prstGeom prst="rect">
              <a:avLst/>
            </a:prstGeom>
          </p:spPr>
          <p:txBody>
            <a:bodyPr anchor="ctr" rtlCol="false" tIns="0" lIns="0" bIns="0" rIns="0"/>
            <a:lstStyle/>
            <a:p>
              <a:pPr algn="ctr">
                <a:lnSpc>
                  <a:spcPts val="2640"/>
                </a:lnSpc>
              </a:pPr>
              <a:r>
                <a:rPr lang="en-US" sz="2200" b="true">
                  <a:solidFill>
                    <a:srgbClr val="1E293B"/>
                  </a:solidFill>
                  <a:latin typeface="Calibri (MS) Bold"/>
                  <a:ea typeface="Calibri (MS) Bold"/>
                  <a:cs typeface="Calibri (MS) Bold"/>
                  <a:sym typeface="Calibri (MS) Bold"/>
                </a:rPr>
                <a:t>avg gain: 125%</a:t>
              </a:r>
            </a:p>
          </p:txBody>
        </p:sp>
      </p:grpSp>
      <p:grpSp>
        <p:nvGrpSpPr>
          <p:cNvPr name="Group 72" id="72"/>
          <p:cNvGrpSpPr/>
          <p:nvPr/>
        </p:nvGrpSpPr>
        <p:grpSpPr>
          <a:xfrm rot="0">
            <a:off x="12728448" y="6766560"/>
            <a:ext cx="4992624" cy="1554480"/>
            <a:chOff x="0" y="0"/>
            <a:chExt cx="6656832" cy="2072640"/>
          </a:xfrm>
        </p:grpSpPr>
        <p:sp>
          <p:nvSpPr>
            <p:cNvPr name="Freeform 73" id="73"/>
            <p:cNvSpPr/>
            <p:nvPr/>
          </p:nvSpPr>
          <p:spPr>
            <a:xfrm flipH="false" flipV="false" rot="0">
              <a:off x="0" y="0"/>
              <a:ext cx="6656832" cy="2072640"/>
            </a:xfrm>
            <a:custGeom>
              <a:avLst/>
              <a:gdLst/>
              <a:ahLst/>
              <a:cxnLst/>
              <a:rect r="r" b="b" t="t" l="l"/>
              <a:pathLst>
                <a:path h="2072640" w="6656832">
                  <a:moveTo>
                    <a:pt x="0" y="0"/>
                  </a:moveTo>
                  <a:lnTo>
                    <a:pt x="6656832" y="0"/>
                  </a:lnTo>
                  <a:lnTo>
                    <a:pt x="6656832" y="2072640"/>
                  </a:lnTo>
                  <a:lnTo>
                    <a:pt x="0" y="2072640"/>
                  </a:lnTo>
                  <a:close/>
                </a:path>
              </a:pathLst>
            </a:custGeom>
            <a:blipFill>
              <a:blip r:embed="rId3">
                <a:alphaModFix amt="0"/>
              </a:blip>
              <a:stretch>
                <a:fillRect l="0" t="-12581" r="0" b="-12581"/>
              </a:stretch>
            </a:blipFill>
          </p:spPr>
        </p:sp>
        <p:sp>
          <p:nvSpPr>
            <p:cNvPr name="TextBox 74" id="74"/>
            <p:cNvSpPr txBox="true"/>
            <p:nvPr/>
          </p:nvSpPr>
          <p:spPr>
            <a:xfrm>
              <a:off x="0" y="-104775"/>
              <a:ext cx="6656832" cy="2177415"/>
            </a:xfrm>
            <a:prstGeom prst="rect">
              <a:avLst/>
            </a:prstGeom>
          </p:spPr>
          <p:txBody>
            <a:bodyPr anchor="ctr" rtlCol="false" tIns="0" lIns="0" bIns="0" rIns="0"/>
            <a:lstStyle/>
            <a:p>
              <a:pPr algn="ctr">
                <a:lnSpc>
                  <a:spcPts val="3120"/>
                </a:lnSpc>
              </a:pPr>
              <a:r>
                <a:rPr lang="en-US" sz="2000">
                  <a:solidFill>
                    <a:srgbClr val="64748B"/>
                  </a:solidFill>
                  <a:latin typeface="Calibri (MS)"/>
                  <a:ea typeface="Calibri (MS)"/>
                  <a:cs typeface="Calibri (MS)"/>
                  <a:sym typeface="Calibri (MS)"/>
                </a:rPr>
                <a:t>Organic steady growth.</a:t>
              </a:r>
            </a:p>
            <a:p>
              <a:pPr algn="ctr">
                <a:lnSpc>
                  <a:spcPts val="3120"/>
                </a:lnSpc>
              </a:pPr>
              <a:r>
                <a:rPr lang="en-US" sz="2000">
                  <a:solidFill>
                    <a:srgbClr val="64748B"/>
                  </a:solidFill>
                  <a:latin typeface="Calibri (MS)"/>
                  <a:ea typeface="Calibri (MS)"/>
                  <a:cs typeface="Calibri (MS)"/>
                  <a:sym typeface="Calibri (MS)"/>
                </a:rPr>
                <a:t>Low urgency, high predictability.</a:t>
              </a:r>
            </a:p>
          </p:txBody>
        </p:sp>
      </p:grpSp>
      <p:grpSp>
        <p:nvGrpSpPr>
          <p:cNvPr name="Group 75" id="75"/>
          <p:cNvGrpSpPr/>
          <p:nvPr/>
        </p:nvGrpSpPr>
        <p:grpSpPr>
          <a:xfrm rot="0">
            <a:off x="914400" y="9052560"/>
            <a:ext cx="16642080" cy="822960"/>
            <a:chOff x="0" y="0"/>
            <a:chExt cx="22189440" cy="1097280"/>
          </a:xfrm>
        </p:grpSpPr>
        <p:sp>
          <p:nvSpPr>
            <p:cNvPr name="Freeform 76" id="76"/>
            <p:cNvSpPr/>
            <p:nvPr/>
          </p:nvSpPr>
          <p:spPr>
            <a:xfrm flipH="false" flipV="false" rot="0">
              <a:off x="0" y="0"/>
              <a:ext cx="22189439" cy="1097280"/>
            </a:xfrm>
            <a:custGeom>
              <a:avLst/>
              <a:gdLst/>
              <a:ahLst/>
              <a:cxnLst/>
              <a:rect r="r" b="b" t="t" l="l"/>
              <a:pathLst>
                <a:path h="1097280" w="22189439">
                  <a:moveTo>
                    <a:pt x="0" y="0"/>
                  </a:moveTo>
                  <a:lnTo>
                    <a:pt x="22189439" y="0"/>
                  </a:lnTo>
                  <a:lnTo>
                    <a:pt x="22189439" y="1097280"/>
                  </a:lnTo>
                  <a:lnTo>
                    <a:pt x="0" y="1097280"/>
                  </a:lnTo>
                  <a:close/>
                </a:path>
              </a:pathLst>
            </a:custGeom>
            <a:blipFill>
              <a:blip r:embed="rId3">
                <a:alphaModFix amt="0"/>
              </a:blip>
              <a:stretch>
                <a:fillRect l="0" t="-344030" r="0" b="-344030"/>
              </a:stretch>
            </a:blipFill>
          </p:spPr>
        </p:sp>
        <p:sp>
          <p:nvSpPr>
            <p:cNvPr name="TextBox 77" id="77"/>
            <p:cNvSpPr txBox="true"/>
            <p:nvPr/>
          </p:nvSpPr>
          <p:spPr>
            <a:xfrm>
              <a:off x="0" y="-47625"/>
              <a:ext cx="22189440" cy="1144905"/>
            </a:xfrm>
            <a:prstGeom prst="rect">
              <a:avLst/>
            </a:prstGeom>
          </p:spPr>
          <p:txBody>
            <a:bodyPr anchor="ctr" rtlCol="false" tIns="0" lIns="0" bIns="0" rIns="0"/>
            <a:lstStyle/>
            <a:p>
              <a:pPr algn="l">
                <a:lnSpc>
                  <a:spcPts val="2640"/>
                </a:lnSpc>
              </a:pPr>
              <a:r>
                <a:rPr lang="en-US" sz="2200" i="true">
                  <a:solidFill>
                    <a:srgbClr val="2E7D52"/>
                  </a:solidFill>
                  <a:latin typeface="Calibri (MS) Italics"/>
                  <a:ea typeface="Calibri (MS) Italics"/>
                  <a:cs typeface="Calibri (MS) Italics"/>
                  <a:sym typeface="Calibri (MS) Italics"/>
                </a:rPr>
                <a:t>Recommendation: Build an Explosive-term alert at 1,000% WoW gain. By Breakout, the moment has already passed.</a:t>
              </a:r>
            </a:p>
          </p:txBody>
        </p:sp>
      </p:grpSp>
      <p:grpSp>
        <p:nvGrpSpPr>
          <p:cNvPr name="Group 78" id="78"/>
          <p:cNvGrpSpPr/>
          <p:nvPr/>
        </p:nvGrpSpPr>
        <p:grpSpPr>
          <a:xfrm rot="0">
            <a:off x="16093440" y="9692640"/>
            <a:ext cx="1828800" cy="365760"/>
            <a:chOff x="0" y="0"/>
            <a:chExt cx="2438400" cy="487680"/>
          </a:xfrm>
        </p:grpSpPr>
        <p:sp>
          <p:nvSpPr>
            <p:cNvPr name="Freeform 79" id="79"/>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80" id="80"/>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8 / 14</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D1B2A"/>
            </a:solidFill>
            <a:ln w="25400" cap="sq">
              <a:solidFill>
                <a:srgbClr val="0D1B2A"/>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12B5C8"/>
                  </a:solidFill>
                  <a:latin typeface="Calibri (MS) Bold"/>
                  <a:ea typeface="Calibri (MS) Bold"/>
                  <a:cs typeface="Calibri (MS) Bold"/>
                  <a:sym typeface="Calibri (MS) Bold"/>
                </a:rPr>
                <a:t>FINDING 03</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14300"/>
              <a:ext cx="21945600" cy="2308860"/>
            </a:xfrm>
            <a:prstGeom prst="rect">
              <a:avLst/>
            </a:prstGeom>
          </p:spPr>
          <p:txBody>
            <a:bodyPr anchor="ctr" rtlCol="false" tIns="0" lIns="0" bIns="0" rIns="0"/>
            <a:lstStyle/>
            <a:p>
              <a:pPr algn="l">
                <a:lnSpc>
                  <a:spcPts val="6336"/>
                </a:lnSpc>
              </a:pPr>
              <a:r>
                <a:rPr lang="en-US" sz="4400" b="true">
                  <a:solidFill>
                    <a:srgbClr val="1E293B"/>
                  </a:solidFill>
                  <a:latin typeface="Trebuchet MS Bold"/>
                  <a:ea typeface="Trebuchet MS Bold"/>
                  <a:cs typeface="Trebuchet MS Bold"/>
                  <a:sym typeface="Trebuchet MS Bold"/>
                </a:rPr>
                <a:t>Three markets dominate global</a:t>
              </a:r>
            </a:p>
            <a:p>
              <a:pPr algn="l">
                <a:lnSpc>
                  <a:spcPts val="6336"/>
                </a:lnSpc>
              </a:pPr>
              <a:r>
                <a:rPr lang="en-US" sz="4400" b="true">
                  <a:solidFill>
                    <a:srgbClr val="1E293B"/>
                  </a:solidFill>
                  <a:latin typeface="Trebuchet MS Bold"/>
                  <a:ea typeface="Trebuchet MS Bold"/>
                  <a:cs typeface="Trebuchet MS Bold"/>
                  <a:sym typeface="Trebuchet MS Bold"/>
                </a:rPr>
                <a:t>trend intensity.</a:t>
              </a:r>
            </a:p>
          </p:txBody>
        </p:sp>
      </p:grpSp>
      <p:grpSp>
        <p:nvGrpSpPr>
          <p:cNvPr name="Group 12" id="12"/>
          <p:cNvGrpSpPr/>
          <p:nvPr/>
        </p:nvGrpSpPr>
        <p:grpSpPr>
          <a:xfrm rot="0">
            <a:off x="908047" y="3011167"/>
            <a:ext cx="3395977" cy="4950457"/>
            <a:chOff x="0" y="0"/>
            <a:chExt cx="4527969" cy="6600609"/>
          </a:xfrm>
        </p:grpSpPr>
        <p:sp>
          <p:nvSpPr>
            <p:cNvPr name="Freeform 13" id="13"/>
            <p:cNvSpPr/>
            <p:nvPr/>
          </p:nvSpPr>
          <p:spPr>
            <a:xfrm flipH="false" flipV="false" rot="0">
              <a:off x="0" y="0"/>
              <a:ext cx="4527931" cy="6600571"/>
            </a:xfrm>
            <a:custGeom>
              <a:avLst/>
              <a:gdLst/>
              <a:ahLst/>
              <a:cxnLst/>
              <a:rect r="r" b="b" t="t" l="l"/>
              <a:pathLst>
                <a:path h="6600571" w="4527931">
                  <a:moveTo>
                    <a:pt x="0" y="0"/>
                  </a:moveTo>
                  <a:lnTo>
                    <a:pt x="4527931" y="0"/>
                  </a:lnTo>
                  <a:lnTo>
                    <a:pt x="4527931" y="6600571"/>
                  </a:lnTo>
                  <a:lnTo>
                    <a:pt x="0" y="6600571"/>
                  </a:lnTo>
                  <a:close/>
                </a:path>
              </a:pathLst>
            </a:custGeom>
            <a:solidFill>
              <a:srgbClr val="FFFFFF"/>
            </a:solidFill>
            <a:ln w="12700" cap="sq">
              <a:solidFill>
                <a:srgbClr val="E2E8F0"/>
              </a:solidFill>
              <a:prstDash val="solid"/>
              <a:miter/>
            </a:ln>
          </p:spPr>
        </p:sp>
      </p:grpSp>
      <p:grpSp>
        <p:nvGrpSpPr>
          <p:cNvPr name="Group 14" id="14"/>
          <p:cNvGrpSpPr/>
          <p:nvPr/>
        </p:nvGrpSpPr>
        <p:grpSpPr>
          <a:xfrm rot="0">
            <a:off x="901703" y="3004823"/>
            <a:ext cx="3408683" cy="135131"/>
            <a:chOff x="0" y="0"/>
            <a:chExt cx="4544911" cy="180175"/>
          </a:xfrm>
        </p:grpSpPr>
        <p:sp>
          <p:nvSpPr>
            <p:cNvPr name="Freeform 15" id="15"/>
            <p:cNvSpPr/>
            <p:nvPr/>
          </p:nvSpPr>
          <p:spPr>
            <a:xfrm flipH="false" flipV="false" rot="0">
              <a:off x="0" y="0"/>
              <a:ext cx="4544949" cy="180213"/>
            </a:xfrm>
            <a:custGeom>
              <a:avLst/>
              <a:gdLst/>
              <a:ahLst/>
              <a:cxnLst/>
              <a:rect r="r" b="b" t="t" l="l"/>
              <a:pathLst>
                <a:path h="180213" w="4544949">
                  <a:moveTo>
                    <a:pt x="0" y="0"/>
                  </a:moveTo>
                  <a:lnTo>
                    <a:pt x="4544949" y="0"/>
                  </a:lnTo>
                  <a:lnTo>
                    <a:pt x="4544949" y="180213"/>
                  </a:lnTo>
                  <a:lnTo>
                    <a:pt x="0" y="180213"/>
                  </a:lnTo>
                  <a:close/>
                </a:path>
              </a:pathLst>
            </a:custGeom>
            <a:solidFill>
              <a:srgbClr val="0A7E8C"/>
            </a:solidFill>
            <a:ln w="25400" cap="sq">
              <a:solidFill>
                <a:srgbClr val="0A7E8C"/>
              </a:solidFill>
              <a:prstDash val="solid"/>
              <a:miter/>
            </a:ln>
          </p:spPr>
        </p:sp>
      </p:grpSp>
      <p:grpSp>
        <p:nvGrpSpPr>
          <p:cNvPr name="Group 16" id="16"/>
          <p:cNvGrpSpPr/>
          <p:nvPr/>
        </p:nvGrpSpPr>
        <p:grpSpPr>
          <a:xfrm rot="0">
            <a:off x="914400" y="3200400"/>
            <a:ext cx="3383280" cy="548640"/>
            <a:chOff x="0" y="0"/>
            <a:chExt cx="4511040" cy="731520"/>
          </a:xfrm>
        </p:grpSpPr>
        <p:sp>
          <p:nvSpPr>
            <p:cNvPr name="Freeform 17" id="17"/>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18" id="18"/>
            <p:cNvSpPr txBox="true"/>
            <p:nvPr/>
          </p:nvSpPr>
          <p:spPr>
            <a:xfrm>
              <a:off x="0" y="-38100"/>
              <a:ext cx="4511040" cy="769620"/>
            </a:xfrm>
            <a:prstGeom prst="rect">
              <a:avLst/>
            </a:prstGeom>
          </p:spPr>
          <p:txBody>
            <a:bodyPr anchor="ctr" rtlCol="false" tIns="0" lIns="0" bIns="0" rIns="0"/>
            <a:lstStyle/>
            <a:p>
              <a:pPr algn="ctr">
                <a:lnSpc>
                  <a:spcPts val="2400"/>
                </a:lnSpc>
              </a:pPr>
              <a:r>
                <a:rPr lang="en-US" sz="2000" b="true">
                  <a:solidFill>
                    <a:srgbClr val="0A7E8C"/>
                  </a:solidFill>
                  <a:latin typeface="Calibri (MS) Bold"/>
                  <a:ea typeface="Calibri (MS) Bold"/>
                  <a:cs typeface="Calibri (MS) Bold"/>
                  <a:sym typeface="Calibri (MS) Bold"/>
                </a:rPr>
                <a:t>1st</a:t>
              </a:r>
            </a:p>
          </p:txBody>
        </p:sp>
      </p:grpSp>
      <p:grpSp>
        <p:nvGrpSpPr>
          <p:cNvPr name="Group 19" id="19"/>
          <p:cNvGrpSpPr/>
          <p:nvPr/>
        </p:nvGrpSpPr>
        <p:grpSpPr>
          <a:xfrm rot="0">
            <a:off x="914400" y="3657600"/>
            <a:ext cx="3383280" cy="731520"/>
            <a:chOff x="0" y="0"/>
            <a:chExt cx="4511040" cy="975360"/>
          </a:xfrm>
        </p:grpSpPr>
        <p:sp>
          <p:nvSpPr>
            <p:cNvPr name="Freeform 20" id="20"/>
            <p:cNvSpPr/>
            <p:nvPr/>
          </p:nvSpPr>
          <p:spPr>
            <a:xfrm flipH="false" flipV="false" rot="0">
              <a:off x="0" y="0"/>
              <a:ext cx="4511040" cy="975360"/>
            </a:xfrm>
            <a:custGeom>
              <a:avLst/>
              <a:gdLst/>
              <a:ahLst/>
              <a:cxnLst/>
              <a:rect r="r" b="b" t="t" l="l"/>
              <a:pathLst>
                <a:path h="975360" w="4511040">
                  <a:moveTo>
                    <a:pt x="0" y="0"/>
                  </a:moveTo>
                  <a:lnTo>
                    <a:pt x="4511040" y="0"/>
                  </a:lnTo>
                  <a:lnTo>
                    <a:pt x="4511040" y="975360"/>
                  </a:lnTo>
                  <a:lnTo>
                    <a:pt x="0" y="975360"/>
                  </a:lnTo>
                  <a:close/>
                </a:path>
              </a:pathLst>
            </a:custGeom>
            <a:blipFill>
              <a:blip r:embed="rId3">
                <a:alphaModFix amt="0"/>
              </a:blip>
              <a:stretch>
                <a:fillRect l="0" t="-40118" r="0" b="-40118"/>
              </a:stretch>
            </a:blipFill>
          </p:spPr>
        </p:sp>
        <p:sp>
          <p:nvSpPr>
            <p:cNvPr name="TextBox 21" id="21"/>
            <p:cNvSpPr txBox="true"/>
            <p:nvPr/>
          </p:nvSpPr>
          <p:spPr>
            <a:xfrm>
              <a:off x="0" y="0"/>
              <a:ext cx="4511040" cy="975360"/>
            </a:xfrm>
            <a:prstGeom prst="rect">
              <a:avLst/>
            </a:prstGeom>
          </p:spPr>
          <p:txBody>
            <a:bodyPr anchor="ctr" rtlCol="false" tIns="0" lIns="0" bIns="0" rIns="0"/>
            <a:lstStyle/>
            <a:p>
              <a:pPr algn="ctr">
                <a:lnSpc>
                  <a:spcPts val="3359"/>
                </a:lnSpc>
              </a:pPr>
              <a:r>
                <a:rPr lang="en-US" sz="2799" b="true">
                  <a:solidFill>
                    <a:srgbClr val="1E293B"/>
                  </a:solidFill>
                  <a:latin typeface="Trebuchet MS Bold"/>
                  <a:ea typeface="Trebuchet MS Bold"/>
                  <a:cs typeface="Trebuchet MS Bold"/>
                  <a:sym typeface="Trebuchet MS Bold"/>
                </a:rPr>
                <a:t>Thailand</a:t>
              </a:r>
            </a:p>
          </p:txBody>
        </p:sp>
      </p:grpSp>
      <p:grpSp>
        <p:nvGrpSpPr>
          <p:cNvPr name="Group 22" id="22"/>
          <p:cNvGrpSpPr/>
          <p:nvPr/>
        </p:nvGrpSpPr>
        <p:grpSpPr>
          <a:xfrm rot="0">
            <a:off x="914400" y="4352544"/>
            <a:ext cx="3383280" cy="1371600"/>
            <a:chOff x="0" y="0"/>
            <a:chExt cx="4511040" cy="1828800"/>
          </a:xfrm>
        </p:grpSpPr>
        <p:sp>
          <p:nvSpPr>
            <p:cNvPr name="Freeform 23" id="23"/>
            <p:cNvSpPr/>
            <p:nvPr/>
          </p:nvSpPr>
          <p:spPr>
            <a:xfrm flipH="false" flipV="false" rot="0">
              <a:off x="0" y="0"/>
              <a:ext cx="4511040" cy="1828800"/>
            </a:xfrm>
            <a:custGeom>
              <a:avLst/>
              <a:gdLst/>
              <a:ahLst/>
              <a:cxnLst/>
              <a:rect r="r" b="b" t="t" l="l"/>
              <a:pathLst>
                <a:path h="1828800" w="4511040">
                  <a:moveTo>
                    <a:pt x="0" y="0"/>
                  </a:moveTo>
                  <a:lnTo>
                    <a:pt x="4511040" y="0"/>
                  </a:lnTo>
                  <a:lnTo>
                    <a:pt x="4511040" y="1828800"/>
                  </a:lnTo>
                  <a:lnTo>
                    <a:pt x="0" y="1828800"/>
                  </a:lnTo>
                  <a:close/>
                </a:path>
              </a:pathLst>
            </a:custGeom>
            <a:blipFill>
              <a:blip r:embed="rId3">
                <a:alphaModFix amt="0"/>
              </a:blip>
              <a:stretch>
                <a:fillRect l="-2014" t="0" r="-2014" b="0"/>
              </a:stretch>
            </a:blipFill>
          </p:spPr>
        </p:sp>
        <p:sp>
          <p:nvSpPr>
            <p:cNvPr name="TextBox 24" id="24"/>
            <p:cNvSpPr txBox="true"/>
            <p:nvPr/>
          </p:nvSpPr>
          <p:spPr>
            <a:xfrm>
              <a:off x="0" y="-9525"/>
              <a:ext cx="4511040" cy="1838325"/>
            </a:xfrm>
            <a:prstGeom prst="rect">
              <a:avLst/>
            </a:prstGeom>
          </p:spPr>
          <p:txBody>
            <a:bodyPr anchor="ctr" rtlCol="false" tIns="0" lIns="0" bIns="0" rIns="0"/>
            <a:lstStyle/>
            <a:p>
              <a:pPr algn="ctr">
                <a:lnSpc>
                  <a:spcPts val="9600"/>
                </a:lnSpc>
              </a:pPr>
              <a:r>
                <a:rPr lang="en-US" sz="8000" b="true">
                  <a:solidFill>
                    <a:srgbClr val="0A7E8C"/>
                  </a:solidFill>
                  <a:latin typeface="Trebuchet MS Bold"/>
                  <a:ea typeface="Trebuchet MS Bold"/>
                  <a:cs typeface="Trebuchet MS Bold"/>
                  <a:sym typeface="Trebuchet MS Bold"/>
                </a:rPr>
                <a:t>99.1</a:t>
              </a:r>
            </a:p>
          </p:txBody>
        </p:sp>
      </p:grpSp>
      <p:grpSp>
        <p:nvGrpSpPr>
          <p:cNvPr name="Group 25" id="25"/>
          <p:cNvGrpSpPr/>
          <p:nvPr/>
        </p:nvGrpSpPr>
        <p:grpSpPr>
          <a:xfrm rot="0">
            <a:off x="914400" y="5632704"/>
            <a:ext cx="3383280" cy="457200"/>
            <a:chOff x="0" y="0"/>
            <a:chExt cx="4511040" cy="609600"/>
          </a:xfrm>
        </p:grpSpPr>
        <p:sp>
          <p:nvSpPr>
            <p:cNvPr name="Freeform 26" id="26"/>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27" id="27"/>
            <p:cNvSpPr txBox="true"/>
            <p:nvPr/>
          </p:nvSpPr>
          <p:spPr>
            <a:xfrm>
              <a:off x="0" y="-38100"/>
              <a:ext cx="4511040" cy="64770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 100 avg</a:t>
              </a:r>
            </a:p>
          </p:txBody>
        </p:sp>
      </p:grpSp>
      <p:grpSp>
        <p:nvGrpSpPr>
          <p:cNvPr name="Group 28" id="28"/>
          <p:cNvGrpSpPr/>
          <p:nvPr/>
        </p:nvGrpSpPr>
        <p:grpSpPr>
          <a:xfrm rot="0">
            <a:off x="914400" y="6181344"/>
            <a:ext cx="3383280" cy="457200"/>
            <a:chOff x="0" y="0"/>
            <a:chExt cx="4511040" cy="609600"/>
          </a:xfrm>
        </p:grpSpPr>
        <p:sp>
          <p:nvSpPr>
            <p:cNvPr name="Freeform 29" id="29"/>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30" id="30"/>
            <p:cNvSpPr txBox="true"/>
            <p:nvPr/>
          </p:nvSpPr>
          <p:spPr>
            <a:xfrm>
              <a:off x="0" y="-38100"/>
              <a:ext cx="4511040" cy="64770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77 regions  ·  724 terms</a:t>
              </a:r>
            </a:p>
          </p:txBody>
        </p:sp>
      </p:grpSp>
      <p:grpSp>
        <p:nvGrpSpPr>
          <p:cNvPr name="Group 31" id="31"/>
          <p:cNvGrpSpPr/>
          <p:nvPr/>
        </p:nvGrpSpPr>
        <p:grpSpPr>
          <a:xfrm rot="0">
            <a:off x="4565647" y="3011167"/>
            <a:ext cx="3395977" cy="4950457"/>
            <a:chOff x="0" y="0"/>
            <a:chExt cx="4527969" cy="6600609"/>
          </a:xfrm>
        </p:grpSpPr>
        <p:sp>
          <p:nvSpPr>
            <p:cNvPr name="Freeform 32" id="32"/>
            <p:cNvSpPr/>
            <p:nvPr/>
          </p:nvSpPr>
          <p:spPr>
            <a:xfrm flipH="false" flipV="false" rot="0">
              <a:off x="0" y="0"/>
              <a:ext cx="4527931" cy="6600571"/>
            </a:xfrm>
            <a:custGeom>
              <a:avLst/>
              <a:gdLst/>
              <a:ahLst/>
              <a:cxnLst/>
              <a:rect r="r" b="b" t="t" l="l"/>
              <a:pathLst>
                <a:path h="6600571" w="4527931">
                  <a:moveTo>
                    <a:pt x="0" y="0"/>
                  </a:moveTo>
                  <a:lnTo>
                    <a:pt x="4527931" y="0"/>
                  </a:lnTo>
                  <a:lnTo>
                    <a:pt x="4527931" y="6600571"/>
                  </a:lnTo>
                  <a:lnTo>
                    <a:pt x="0" y="6600571"/>
                  </a:lnTo>
                  <a:close/>
                </a:path>
              </a:pathLst>
            </a:custGeom>
            <a:solidFill>
              <a:srgbClr val="FFFFFF"/>
            </a:solidFill>
            <a:ln w="12700" cap="sq">
              <a:solidFill>
                <a:srgbClr val="E2E8F0"/>
              </a:solidFill>
              <a:prstDash val="solid"/>
              <a:miter/>
            </a:ln>
          </p:spPr>
        </p:sp>
      </p:grpSp>
      <p:grpSp>
        <p:nvGrpSpPr>
          <p:cNvPr name="Group 33" id="33"/>
          <p:cNvGrpSpPr/>
          <p:nvPr/>
        </p:nvGrpSpPr>
        <p:grpSpPr>
          <a:xfrm rot="0">
            <a:off x="4559303" y="3004823"/>
            <a:ext cx="3408683" cy="135131"/>
            <a:chOff x="0" y="0"/>
            <a:chExt cx="4544911" cy="180175"/>
          </a:xfrm>
        </p:grpSpPr>
        <p:sp>
          <p:nvSpPr>
            <p:cNvPr name="Freeform 34" id="34"/>
            <p:cNvSpPr/>
            <p:nvPr/>
          </p:nvSpPr>
          <p:spPr>
            <a:xfrm flipH="false" flipV="false" rot="0">
              <a:off x="0" y="0"/>
              <a:ext cx="4544949" cy="180213"/>
            </a:xfrm>
            <a:custGeom>
              <a:avLst/>
              <a:gdLst/>
              <a:ahLst/>
              <a:cxnLst/>
              <a:rect r="r" b="b" t="t" l="l"/>
              <a:pathLst>
                <a:path h="180213" w="4544949">
                  <a:moveTo>
                    <a:pt x="0" y="0"/>
                  </a:moveTo>
                  <a:lnTo>
                    <a:pt x="4544949" y="0"/>
                  </a:lnTo>
                  <a:lnTo>
                    <a:pt x="4544949" y="180213"/>
                  </a:lnTo>
                  <a:lnTo>
                    <a:pt x="0" y="180213"/>
                  </a:lnTo>
                  <a:close/>
                </a:path>
              </a:pathLst>
            </a:custGeom>
            <a:solidFill>
              <a:srgbClr val="0A7E8C"/>
            </a:solidFill>
            <a:ln w="25400" cap="sq">
              <a:solidFill>
                <a:srgbClr val="0A7E8C"/>
              </a:solidFill>
              <a:prstDash val="solid"/>
              <a:miter/>
            </a:ln>
          </p:spPr>
        </p:sp>
      </p:grpSp>
      <p:grpSp>
        <p:nvGrpSpPr>
          <p:cNvPr name="Group 35" id="35"/>
          <p:cNvGrpSpPr/>
          <p:nvPr/>
        </p:nvGrpSpPr>
        <p:grpSpPr>
          <a:xfrm rot="0">
            <a:off x="4572000" y="3200400"/>
            <a:ext cx="3383280" cy="548640"/>
            <a:chOff x="0" y="0"/>
            <a:chExt cx="4511040" cy="731520"/>
          </a:xfrm>
        </p:grpSpPr>
        <p:sp>
          <p:nvSpPr>
            <p:cNvPr name="Freeform 36" id="36"/>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37" id="37"/>
            <p:cNvSpPr txBox="true"/>
            <p:nvPr/>
          </p:nvSpPr>
          <p:spPr>
            <a:xfrm>
              <a:off x="0" y="-38100"/>
              <a:ext cx="4511040" cy="769620"/>
            </a:xfrm>
            <a:prstGeom prst="rect">
              <a:avLst/>
            </a:prstGeom>
          </p:spPr>
          <p:txBody>
            <a:bodyPr anchor="ctr" rtlCol="false" tIns="0" lIns="0" bIns="0" rIns="0"/>
            <a:lstStyle/>
            <a:p>
              <a:pPr algn="ctr">
                <a:lnSpc>
                  <a:spcPts val="2400"/>
                </a:lnSpc>
              </a:pPr>
              <a:r>
                <a:rPr lang="en-US" sz="2000" b="true">
                  <a:solidFill>
                    <a:srgbClr val="0A7E8C"/>
                  </a:solidFill>
                  <a:latin typeface="Calibri (MS) Bold"/>
                  <a:ea typeface="Calibri (MS) Bold"/>
                  <a:cs typeface="Calibri (MS) Bold"/>
                  <a:sym typeface="Calibri (MS) Bold"/>
                </a:rPr>
                <a:t>2nd</a:t>
              </a:r>
            </a:p>
          </p:txBody>
        </p:sp>
      </p:grpSp>
      <p:grpSp>
        <p:nvGrpSpPr>
          <p:cNvPr name="Group 38" id="38"/>
          <p:cNvGrpSpPr/>
          <p:nvPr/>
        </p:nvGrpSpPr>
        <p:grpSpPr>
          <a:xfrm rot="0">
            <a:off x="4572000" y="3657600"/>
            <a:ext cx="3383280" cy="731520"/>
            <a:chOff x="0" y="0"/>
            <a:chExt cx="4511040" cy="975360"/>
          </a:xfrm>
        </p:grpSpPr>
        <p:sp>
          <p:nvSpPr>
            <p:cNvPr name="Freeform 39" id="39"/>
            <p:cNvSpPr/>
            <p:nvPr/>
          </p:nvSpPr>
          <p:spPr>
            <a:xfrm flipH="false" flipV="false" rot="0">
              <a:off x="0" y="0"/>
              <a:ext cx="4511040" cy="975360"/>
            </a:xfrm>
            <a:custGeom>
              <a:avLst/>
              <a:gdLst/>
              <a:ahLst/>
              <a:cxnLst/>
              <a:rect r="r" b="b" t="t" l="l"/>
              <a:pathLst>
                <a:path h="975360" w="4511040">
                  <a:moveTo>
                    <a:pt x="0" y="0"/>
                  </a:moveTo>
                  <a:lnTo>
                    <a:pt x="4511040" y="0"/>
                  </a:lnTo>
                  <a:lnTo>
                    <a:pt x="4511040" y="975360"/>
                  </a:lnTo>
                  <a:lnTo>
                    <a:pt x="0" y="975360"/>
                  </a:lnTo>
                  <a:close/>
                </a:path>
              </a:pathLst>
            </a:custGeom>
            <a:blipFill>
              <a:blip r:embed="rId3">
                <a:alphaModFix amt="0"/>
              </a:blip>
              <a:stretch>
                <a:fillRect l="0" t="-40118" r="0" b="-40118"/>
              </a:stretch>
            </a:blipFill>
          </p:spPr>
        </p:sp>
        <p:sp>
          <p:nvSpPr>
            <p:cNvPr name="TextBox 40" id="40"/>
            <p:cNvSpPr txBox="true"/>
            <p:nvPr/>
          </p:nvSpPr>
          <p:spPr>
            <a:xfrm>
              <a:off x="0" y="0"/>
              <a:ext cx="4511040" cy="975360"/>
            </a:xfrm>
            <a:prstGeom prst="rect">
              <a:avLst/>
            </a:prstGeom>
          </p:spPr>
          <p:txBody>
            <a:bodyPr anchor="ctr" rtlCol="false" tIns="0" lIns="0" bIns="0" rIns="0"/>
            <a:lstStyle/>
            <a:p>
              <a:pPr algn="ctr">
                <a:lnSpc>
                  <a:spcPts val="3359"/>
                </a:lnSpc>
              </a:pPr>
              <a:r>
                <a:rPr lang="en-US" sz="2799" b="true">
                  <a:solidFill>
                    <a:srgbClr val="1E293B"/>
                  </a:solidFill>
                  <a:latin typeface="Trebuchet MS Bold"/>
                  <a:ea typeface="Trebuchet MS Bold"/>
                  <a:cs typeface="Trebuchet MS Bold"/>
                  <a:sym typeface="Trebuchet MS Bold"/>
                </a:rPr>
                <a:t>India</a:t>
              </a:r>
            </a:p>
          </p:txBody>
        </p:sp>
      </p:grpSp>
      <p:grpSp>
        <p:nvGrpSpPr>
          <p:cNvPr name="Group 41" id="41"/>
          <p:cNvGrpSpPr/>
          <p:nvPr/>
        </p:nvGrpSpPr>
        <p:grpSpPr>
          <a:xfrm rot="0">
            <a:off x="4572000" y="4352544"/>
            <a:ext cx="3383280" cy="1371600"/>
            <a:chOff x="0" y="0"/>
            <a:chExt cx="4511040" cy="1828800"/>
          </a:xfrm>
        </p:grpSpPr>
        <p:sp>
          <p:nvSpPr>
            <p:cNvPr name="Freeform 42" id="42"/>
            <p:cNvSpPr/>
            <p:nvPr/>
          </p:nvSpPr>
          <p:spPr>
            <a:xfrm flipH="false" flipV="false" rot="0">
              <a:off x="0" y="0"/>
              <a:ext cx="4511040" cy="1828800"/>
            </a:xfrm>
            <a:custGeom>
              <a:avLst/>
              <a:gdLst/>
              <a:ahLst/>
              <a:cxnLst/>
              <a:rect r="r" b="b" t="t" l="l"/>
              <a:pathLst>
                <a:path h="1828800" w="4511040">
                  <a:moveTo>
                    <a:pt x="0" y="0"/>
                  </a:moveTo>
                  <a:lnTo>
                    <a:pt x="4511040" y="0"/>
                  </a:lnTo>
                  <a:lnTo>
                    <a:pt x="4511040" y="1828800"/>
                  </a:lnTo>
                  <a:lnTo>
                    <a:pt x="0" y="1828800"/>
                  </a:lnTo>
                  <a:close/>
                </a:path>
              </a:pathLst>
            </a:custGeom>
            <a:blipFill>
              <a:blip r:embed="rId3">
                <a:alphaModFix amt="0"/>
              </a:blip>
              <a:stretch>
                <a:fillRect l="-2014" t="0" r="-2014" b="0"/>
              </a:stretch>
            </a:blipFill>
          </p:spPr>
        </p:sp>
        <p:sp>
          <p:nvSpPr>
            <p:cNvPr name="TextBox 43" id="43"/>
            <p:cNvSpPr txBox="true"/>
            <p:nvPr/>
          </p:nvSpPr>
          <p:spPr>
            <a:xfrm>
              <a:off x="0" y="-9525"/>
              <a:ext cx="4511040" cy="1838325"/>
            </a:xfrm>
            <a:prstGeom prst="rect">
              <a:avLst/>
            </a:prstGeom>
          </p:spPr>
          <p:txBody>
            <a:bodyPr anchor="ctr" rtlCol="false" tIns="0" lIns="0" bIns="0" rIns="0"/>
            <a:lstStyle/>
            <a:p>
              <a:pPr algn="ctr">
                <a:lnSpc>
                  <a:spcPts val="9600"/>
                </a:lnSpc>
              </a:pPr>
              <a:r>
                <a:rPr lang="en-US" sz="8000" b="true">
                  <a:solidFill>
                    <a:srgbClr val="0A7E8C"/>
                  </a:solidFill>
                  <a:latin typeface="Trebuchet MS Bold"/>
                  <a:ea typeface="Trebuchet MS Bold"/>
                  <a:cs typeface="Trebuchet MS Bold"/>
                  <a:sym typeface="Trebuchet MS Bold"/>
                </a:rPr>
                <a:t>99.0</a:t>
              </a:r>
            </a:p>
          </p:txBody>
        </p:sp>
      </p:grpSp>
      <p:grpSp>
        <p:nvGrpSpPr>
          <p:cNvPr name="Group 44" id="44"/>
          <p:cNvGrpSpPr/>
          <p:nvPr/>
        </p:nvGrpSpPr>
        <p:grpSpPr>
          <a:xfrm rot="0">
            <a:off x="4572000" y="5632704"/>
            <a:ext cx="3383280" cy="457200"/>
            <a:chOff x="0" y="0"/>
            <a:chExt cx="4511040" cy="609600"/>
          </a:xfrm>
        </p:grpSpPr>
        <p:sp>
          <p:nvSpPr>
            <p:cNvPr name="Freeform 45" id="45"/>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46" id="46"/>
            <p:cNvSpPr txBox="true"/>
            <p:nvPr/>
          </p:nvSpPr>
          <p:spPr>
            <a:xfrm>
              <a:off x="0" y="-38100"/>
              <a:ext cx="4511040" cy="64770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 100 avg</a:t>
              </a:r>
            </a:p>
          </p:txBody>
        </p:sp>
      </p:grpSp>
      <p:grpSp>
        <p:nvGrpSpPr>
          <p:cNvPr name="Group 47" id="47"/>
          <p:cNvGrpSpPr/>
          <p:nvPr/>
        </p:nvGrpSpPr>
        <p:grpSpPr>
          <a:xfrm rot="0">
            <a:off x="4572000" y="6181344"/>
            <a:ext cx="3383280" cy="457200"/>
            <a:chOff x="0" y="0"/>
            <a:chExt cx="4511040" cy="609600"/>
          </a:xfrm>
        </p:grpSpPr>
        <p:sp>
          <p:nvSpPr>
            <p:cNvPr name="Freeform 48" id="48"/>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49" id="49"/>
            <p:cNvSpPr txBox="true"/>
            <p:nvPr/>
          </p:nvSpPr>
          <p:spPr>
            <a:xfrm>
              <a:off x="0" y="-38100"/>
              <a:ext cx="4511040" cy="64770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36 regions  ·  788 terms</a:t>
              </a:r>
            </a:p>
          </p:txBody>
        </p:sp>
      </p:grpSp>
      <p:grpSp>
        <p:nvGrpSpPr>
          <p:cNvPr name="Group 50" id="50"/>
          <p:cNvGrpSpPr/>
          <p:nvPr/>
        </p:nvGrpSpPr>
        <p:grpSpPr>
          <a:xfrm rot="0">
            <a:off x="8223247" y="3011167"/>
            <a:ext cx="3395977" cy="4950457"/>
            <a:chOff x="0" y="0"/>
            <a:chExt cx="4527969" cy="6600609"/>
          </a:xfrm>
        </p:grpSpPr>
        <p:sp>
          <p:nvSpPr>
            <p:cNvPr name="Freeform 51" id="51"/>
            <p:cNvSpPr/>
            <p:nvPr/>
          </p:nvSpPr>
          <p:spPr>
            <a:xfrm flipH="false" flipV="false" rot="0">
              <a:off x="0" y="0"/>
              <a:ext cx="4527931" cy="6600571"/>
            </a:xfrm>
            <a:custGeom>
              <a:avLst/>
              <a:gdLst/>
              <a:ahLst/>
              <a:cxnLst/>
              <a:rect r="r" b="b" t="t" l="l"/>
              <a:pathLst>
                <a:path h="6600571" w="4527931">
                  <a:moveTo>
                    <a:pt x="0" y="0"/>
                  </a:moveTo>
                  <a:lnTo>
                    <a:pt x="4527931" y="0"/>
                  </a:lnTo>
                  <a:lnTo>
                    <a:pt x="4527931" y="6600571"/>
                  </a:lnTo>
                  <a:lnTo>
                    <a:pt x="0" y="6600571"/>
                  </a:lnTo>
                  <a:close/>
                </a:path>
              </a:pathLst>
            </a:custGeom>
            <a:solidFill>
              <a:srgbClr val="FFFFFF"/>
            </a:solidFill>
            <a:ln w="12700" cap="sq">
              <a:solidFill>
                <a:srgbClr val="E2E8F0"/>
              </a:solidFill>
              <a:prstDash val="solid"/>
              <a:miter/>
            </a:ln>
          </p:spPr>
        </p:sp>
      </p:grpSp>
      <p:grpSp>
        <p:nvGrpSpPr>
          <p:cNvPr name="Group 52" id="52"/>
          <p:cNvGrpSpPr/>
          <p:nvPr/>
        </p:nvGrpSpPr>
        <p:grpSpPr>
          <a:xfrm rot="0">
            <a:off x="8216903" y="3004823"/>
            <a:ext cx="3408683" cy="135131"/>
            <a:chOff x="0" y="0"/>
            <a:chExt cx="4544911" cy="180175"/>
          </a:xfrm>
        </p:grpSpPr>
        <p:sp>
          <p:nvSpPr>
            <p:cNvPr name="Freeform 53" id="53"/>
            <p:cNvSpPr/>
            <p:nvPr/>
          </p:nvSpPr>
          <p:spPr>
            <a:xfrm flipH="false" flipV="false" rot="0">
              <a:off x="0" y="0"/>
              <a:ext cx="4544949" cy="180213"/>
            </a:xfrm>
            <a:custGeom>
              <a:avLst/>
              <a:gdLst/>
              <a:ahLst/>
              <a:cxnLst/>
              <a:rect r="r" b="b" t="t" l="l"/>
              <a:pathLst>
                <a:path h="180213" w="4544949">
                  <a:moveTo>
                    <a:pt x="0" y="0"/>
                  </a:moveTo>
                  <a:lnTo>
                    <a:pt x="4544949" y="0"/>
                  </a:lnTo>
                  <a:lnTo>
                    <a:pt x="4544949" y="180213"/>
                  </a:lnTo>
                  <a:lnTo>
                    <a:pt x="0" y="180213"/>
                  </a:lnTo>
                  <a:close/>
                </a:path>
              </a:pathLst>
            </a:custGeom>
            <a:solidFill>
              <a:srgbClr val="0A7E8C"/>
            </a:solidFill>
            <a:ln w="25400" cap="sq">
              <a:solidFill>
                <a:srgbClr val="0A7E8C"/>
              </a:solidFill>
              <a:prstDash val="solid"/>
              <a:miter/>
            </a:ln>
          </p:spPr>
        </p:sp>
      </p:grpSp>
      <p:grpSp>
        <p:nvGrpSpPr>
          <p:cNvPr name="Group 54" id="54"/>
          <p:cNvGrpSpPr/>
          <p:nvPr/>
        </p:nvGrpSpPr>
        <p:grpSpPr>
          <a:xfrm rot="0">
            <a:off x="8229600" y="3200400"/>
            <a:ext cx="3383280" cy="548640"/>
            <a:chOff x="0" y="0"/>
            <a:chExt cx="4511040" cy="731520"/>
          </a:xfrm>
        </p:grpSpPr>
        <p:sp>
          <p:nvSpPr>
            <p:cNvPr name="Freeform 55" id="55"/>
            <p:cNvSpPr/>
            <p:nvPr/>
          </p:nvSpPr>
          <p:spPr>
            <a:xfrm flipH="false" flipV="false" rot="0">
              <a:off x="0" y="0"/>
              <a:ext cx="4511040" cy="731520"/>
            </a:xfrm>
            <a:custGeom>
              <a:avLst/>
              <a:gdLst/>
              <a:ahLst/>
              <a:cxnLst/>
              <a:rect r="r" b="b" t="t" l="l"/>
              <a:pathLst>
                <a:path h="731520" w="4511040">
                  <a:moveTo>
                    <a:pt x="0" y="0"/>
                  </a:moveTo>
                  <a:lnTo>
                    <a:pt x="4511040" y="0"/>
                  </a:lnTo>
                  <a:lnTo>
                    <a:pt x="4511040" y="731520"/>
                  </a:lnTo>
                  <a:lnTo>
                    <a:pt x="0" y="731520"/>
                  </a:lnTo>
                  <a:close/>
                </a:path>
              </a:pathLst>
            </a:custGeom>
            <a:blipFill>
              <a:blip r:embed="rId3">
                <a:alphaModFix amt="0"/>
              </a:blip>
              <a:stretch>
                <a:fillRect l="0" t="-70157" r="0" b="-70157"/>
              </a:stretch>
            </a:blipFill>
          </p:spPr>
        </p:sp>
        <p:sp>
          <p:nvSpPr>
            <p:cNvPr name="TextBox 56" id="56"/>
            <p:cNvSpPr txBox="true"/>
            <p:nvPr/>
          </p:nvSpPr>
          <p:spPr>
            <a:xfrm>
              <a:off x="0" y="-38100"/>
              <a:ext cx="4511040" cy="769620"/>
            </a:xfrm>
            <a:prstGeom prst="rect">
              <a:avLst/>
            </a:prstGeom>
          </p:spPr>
          <p:txBody>
            <a:bodyPr anchor="ctr" rtlCol="false" tIns="0" lIns="0" bIns="0" rIns="0"/>
            <a:lstStyle/>
            <a:p>
              <a:pPr algn="ctr">
                <a:lnSpc>
                  <a:spcPts val="2400"/>
                </a:lnSpc>
              </a:pPr>
              <a:r>
                <a:rPr lang="en-US" sz="2000" b="true">
                  <a:solidFill>
                    <a:srgbClr val="0A7E8C"/>
                  </a:solidFill>
                  <a:latin typeface="Calibri (MS) Bold"/>
                  <a:ea typeface="Calibri (MS) Bold"/>
                  <a:cs typeface="Calibri (MS) Bold"/>
                  <a:sym typeface="Calibri (MS) Bold"/>
                </a:rPr>
                <a:t>3rd</a:t>
              </a:r>
            </a:p>
          </p:txBody>
        </p:sp>
      </p:grpSp>
      <p:grpSp>
        <p:nvGrpSpPr>
          <p:cNvPr name="Group 57" id="57"/>
          <p:cNvGrpSpPr/>
          <p:nvPr/>
        </p:nvGrpSpPr>
        <p:grpSpPr>
          <a:xfrm rot="0">
            <a:off x="8229600" y="3657600"/>
            <a:ext cx="3383280" cy="731520"/>
            <a:chOff x="0" y="0"/>
            <a:chExt cx="4511040" cy="975360"/>
          </a:xfrm>
        </p:grpSpPr>
        <p:sp>
          <p:nvSpPr>
            <p:cNvPr name="Freeform 58" id="58"/>
            <p:cNvSpPr/>
            <p:nvPr/>
          </p:nvSpPr>
          <p:spPr>
            <a:xfrm flipH="false" flipV="false" rot="0">
              <a:off x="0" y="0"/>
              <a:ext cx="4511040" cy="975360"/>
            </a:xfrm>
            <a:custGeom>
              <a:avLst/>
              <a:gdLst/>
              <a:ahLst/>
              <a:cxnLst/>
              <a:rect r="r" b="b" t="t" l="l"/>
              <a:pathLst>
                <a:path h="975360" w="4511040">
                  <a:moveTo>
                    <a:pt x="0" y="0"/>
                  </a:moveTo>
                  <a:lnTo>
                    <a:pt x="4511040" y="0"/>
                  </a:lnTo>
                  <a:lnTo>
                    <a:pt x="4511040" y="975360"/>
                  </a:lnTo>
                  <a:lnTo>
                    <a:pt x="0" y="975360"/>
                  </a:lnTo>
                  <a:close/>
                </a:path>
              </a:pathLst>
            </a:custGeom>
            <a:blipFill>
              <a:blip r:embed="rId3">
                <a:alphaModFix amt="0"/>
              </a:blip>
              <a:stretch>
                <a:fillRect l="0" t="-40118" r="0" b="-40118"/>
              </a:stretch>
            </a:blipFill>
          </p:spPr>
        </p:sp>
        <p:sp>
          <p:nvSpPr>
            <p:cNvPr name="TextBox 59" id="59"/>
            <p:cNvSpPr txBox="true"/>
            <p:nvPr/>
          </p:nvSpPr>
          <p:spPr>
            <a:xfrm>
              <a:off x="0" y="0"/>
              <a:ext cx="4511040" cy="975360"/>
            </a:xfrm>
            <a:prstGeom prst="rect">
              <a:avLst/>
            </a:prstGeom>
          </p:spPr>
          <p:txBody>
            <a:bodyPr anchor="ctr" rtlCol="false" tIns="0" lIns="0" bIns="0" rIns="0"/>
            <a:lstStyle/>
            <a:p>
              <a:pPr algn="ctr">
                <a:lnSpc>
                  <a:spcPts val="3359"/>
                </a:lnSpc>
              </a:pPr>
              <a:r>
                <a:rPr lang="en-US" sz="2799" b="true">
                  <a:solidFill>
                    <a:srgbClr val="1E293B"/>
                  </a:solidFill>
                  <a:latin typeface="Trebuchet MS Bold"/>
                  <a:ea typeface="Trebuchet MS Bold"/>
                  <a:cs typeface="Trebuchet MS Bold"/>
                  <a:sym typeface="Trebuchet MS Bold"/>
                </a:rPr>
                <a:t>Turkey</a:t>
              </a:r>
            </a:p>
          </p:txBody>
        </p:sp>
      </p:grpSp>
      <p:grpSp>
        <p:nvGrpSpPr>
          <p:cNvPr name="Group 60" id="60"/>
          <p:cNvGrpSpPr/>
          <p:nvPr/>
        </p:nvGrpSpPr>
        <p:grpSpPr>
          <a:xfrm rot="0">
            <a:off x="8229600" y="4352544"/>
            <a:ext cx="3383280" cy="1371600"/>
            <a:chOff x="0" y="0"/>
            <a:chExt cx="4511040" cy="1828800"/>
          </a:xfrm>
        </p:grpSpPr>
        <p:sp>
          <p:nvSpPr>
            <p:cNvPr name="Freeform 61" id="61"/>
            <p:cNvSpPr/>
            <p:nvPr/>
          </p:nvSpPr>
          <p:spPr>
            <a:xfrm flipH="false" flipV="false" rot="0">
              <a:off x="0" y="0"/>
              <a:ext cx="4511040" cy="1828800"/>
            </a:xfrm>
            <a:custGeom>
              <a:avLst/>
              <a:gdLst/>
              <a:ahLst/>
              <a:cxnLst/>
              <a:rect r="r" b="b" t="t" l="l"/>
              <a:pathLst>
                <a:path h="1828800" w="4511040">
                  <a:moveTo>
                    <a:pt x="0" y="0"/>
                  </a:moveTo>
                  <a:lnTo>
                    <a:pt x="4511040" y="0"/>
                  </a:lnTo>
                  <a:lnTo>
                    <a:pt x="4511040" y="1828800"/>
                  </a:lnTo>
                  <a:lnTo>
                    <a:pt x="0" y="1828800"/>
                  </a:lnTo>
                  <a:close/>
                </a:path>
              </a:pathLst>
            </a:custGeom>
            <a:blipFill>
              <a:blip r:embed="rId3">
                <a:alphaModFix amt="0"/>
              </a:blip>
              <a:stretch>
                <a:fillRect l="-2014" t="0" r="-2014" b="0"/>
              </a:stretch>
            </a:blipFill>
          </p:spPr>
        </p:sp>
        <p:sp>
          <p:nvSpPr>
            <p:cNvPr name="TextBox 62" id="62"/>
            <p:cNvSpPr txBox="true"/>
            <p:nvPr/>
          </p:nvSpPr>
          <p:spPr>
            <a:xfrm>
              <a:off x="0" y="-9525"/>
              <a:ext cx="4511040" cy="1838325"/>
            </a:xfrm>
            <a:prstGeom prst="rect">
              <a:avLst/>
            </a:prstGeom>
          </p:spPr>
          <p:txBody>
            <a:bodyPr anchor="ctr" rtlCol="false" tIns="0" lIns="0" bIns="0" rIns="0"/>
            <a:lstStyle/>
            <a:p>
              <a:pPr algn="ctr">
                <a:lnSpc>
                  <a:spcPts val="9600"/>
                </a:lnSpc>
              </a:pPr>
              <a:r>
                <a:rPr lang="en-US" sz="8000" b="true">
                  <a:solidFill>
                    <a:srgbClr val="0A7E8C"/>
                  </a:solidFill>
                  <a:latin typeface="Trebuchet MS Bold"/>
                  <a:ea typeface="Trebuchet MS Bold"/>
                  <a:cs typeface="Trebuchet MS Bold"/>
                  <a:sym typeface="Trebuchet MS Bold"/>
                </a:rPr>
                <a:t>98.8</a:t>
              </a:r>
            </a:p>
          </p:txBody>
        </p:sp>
      </p:grpSp>
      <p:grpSp>
        <p:nvGrpSpPr>
          <p:cNvPr name="Group 63" id="63"/>
          <p:cNvGrpSpPr/>
          <p:nvPr/>
        </p:nvGrpSpPr>
        <p:grpSpPr>
          <a:xfrm rot="0">
            <a:off x="8229600" y="5632704"/>
            <a:ext cx="3383280" cy="457200"/>
            <a:chOff x="0" y="0"/>
            <a:chExt cx="4511040" cy="609600"/>
          </a:xfrm>
        </p:grpSpPr>
        <p:sp>
          <p:nvSpPr>
            <p:cNvPr name="Freeform 64" id="64"/>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65" id="65"/>
            <p:cNvSpPr txBox="true"/>
            <p:nvPr/>
          </p:nvSpPr>
          <p:spPr>
            <a:xfrm>
              <a:off x="0" y="-38100"/>
              <a:ext cx="4511040" cy="64770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 100 avg</a:t>
              </a:r>
            </a:p>
          </p:txBody>
        </p:sp>
      </p:grpSp>
      <p:grpSp>
        <p:nvGrpSpPr>
          <p:cNvPr name="Group 66" id="66"/>
          <p:cNvGrpSpPr/>
          <p:nvPr/>
        </p:nvGrpSpPr>
        <p:grpSpPr>
          <a:xfrm rot="0">
            <a:off x="8229600" y="6181344"/>
            <a:ext cx="3383280" cy="457200"/>
            <a:chOff x="0" y="0"/>
            <a:chExt cx="4511040" cy="609600"/>
          </a:xfrm>
        </p:grpSpPr>
        <p:sp>
          <p:nvSpPr>
            <p:cNvPr name="Freeform 67" id="67"/>
            <p:cNvSpPr/>
            <p:nvPr/>
          </p:nvSpPr>
          <p:spPr>
            <a:xfrm flipH="false" flipV="false" rot="0">
              <a:off x="0" y="0"/>
              <a:ext cx="4511040" cy="609600"/>
            </a:xfrm>
            <a:custGeom>
              <a:avLst/>
              <a:gdLst/>
              <a:ahLst/>
              <a:cxnLst/>
              <a:rect r="r" b="b" t="t" l="l"/>
              <a:pathLst>
                <a:path h="609600" w="4511040">
                  <a:moveTo>
                    <a:pt x="0" y="0"/>
                  </a:moveTo>
                  <a:lnTo>
                    <a:pt x="4511040" y="0"/>
                  </a:lnTo>
                  <a:lnTo>
                    <a:pt x="4511040" y="609600"/>
                  </a:lnTo>
                  <a:lnTo>
                    <a:pt x="0" y="609600"/>
                  </a:lnTo>
                  <a:close/>
                </a:path>
              </a:pathLst>
            </a:custGeom>
            <a:blipFill>
              <a:blip r:embed="rId3">
                <a:alphaModFix amt="0"/>
              </a:blip>
              <a:stretch>
                <a:fillRect l="0" t="-94189" r="0" b="-94189"/>
              </a:stretch>
            </a:blipFill>
          </p:spPr>
        </p:sp>
        <p:sp>
          <p:nvSpPr>
            <p:cNvPr name="TextBox 68" id="68"/>
            <p:cNvSpPr txBox="true"/>
            <p:nvPr/>
          </p:nvSpPr>
          <p:spPr>
            <a:xfrm>
              <a:off x="0" y="-38100"/>
              <a:ext cx="4511040" cy="647700"/>
            </a:xfrm>
            <a:prstGeom prst="rect">
              <a:avLst/>
            </a:prstGeom>
          </p:spPr>
          <p:txBody>
            <a:bodyPr anchor="ctr" rtlCol="false" tIns="0" lIns="0" bIns="0" rIns="0"/>
            <a:lstStyle/>
            <a:p>
              <a:pPr algn="ctr">
                <a:lnSpc>
                  <a:spcPts val="2160"/>
                </a:lnSpc>
              </a:pPr>
              <a:r>
                <a:rPr lang="en-US" sz="1800">
                  <a:solidFill>
                    <a:srgbClr val="64748B"/>
                  </a:solidFill>
                  <a:latin typeface="Calibri (MS)"/>
                  <a:ea typeface="Calibri (MS)"/>
                  <a:cs typeface="Calibri (MS)"/>
                  <a:sym typeface="Calibri (MS)"/>
                </a:rPr>
                <a:t>81 regions  ·  750 terms</a:t>
              </a:r>
            </a:p>
          </p:txBody>
        </p:sp>
      </p:grpSp>
      <p:grpSp>
        <p:nvGrpSpPr>
          <p:cNvPr name="Group 69" id="69"/>
          <p:cNvGrpSpPr/>
          <p:nvPr/>
        </p:nvGrpSpPr>
        <p:grpSpPr>
          <a:xfrm rot="0">
            <a:off x="12148823" y="2821943"/>
            <a:ext cx="5511803" cy="6151883"/>
            <a:chOff x="0" y="0"/>
            <a:chExt cx="7349071" cy="8202511"/>
          </a:xfrm>
        </p:grpSpPr>
        <p:sp>
          <p:nvSpPr>
            <p:cNvPr name="Freeform 70" id="70"/>
            <p:cNvSpPr/>
            <p:nvPr/>
          </p:nvSpPr>
          <p:spPr>
            <a:xfrm flipH="false" flipV="false" rot="0">
              <a:off x="0" y="0"/>
              <a:ext cx="7349109" cy="8202549"/>
            </a:xfrm>
            <a:custGeom>
              <a:avLst/>
              <a:gdLst/>
              <a:ahLst/>
              <a:cxnLst/>
              <a:rect r="r" b="b" t="t" l="l"/>
              <a:pathLst>
                <a:path h="8202549" w="7349109">
                  <a:moveTo>
                    <a:pt x="0" y="0"/>
                  </a:moveTo>
                  <a:lnTo>
                    <a:pt x="7349109" y="0"/>
                  </a:lnTo>
                  <a:lnTo>
                    <a:pt x="7349109" y="8202549"/>
                  </a:lnTo>
                  <a:lnTo>
                    <a:pt x="0" y="8202549"/>
                  </a:lnTo>
                  <a:close/>
                </a:path>
              </a:pathLst>
            </a:custGeom>
            <a:solidFill>
              <a:srgbClr val="0D1B2A"/>
            </a:solidFill>
            <a:ln w="25400" cap="sq">
              <a:solidFill>
                <a:srgbClr val="0D1B2A"/>
              </a:solidFill>
              <a:prstDash val="solid"/>
              <a:miter/>
            </a:ln>
          </p:spPr>
        </p:sp>
      </p:grpSp>
      <p:grpSp>
        <p:nvGrpSpPr>
          <p:cNvPr name="Group 71" id="71"/>
          <p:cNvGrpSpPr/>
          <p:nvPr/>
        </p:nvGrpSpPr>
        <p:grpSpPr>
          <a:xfrm rot="0">
            <a:off x="12344400" y="3017520"/>
            <a:ext cx="5120640" cy="548640"/>
            <a:chOff x="0" y="0"/>
            <a:chExt cx="6827520" cy="731520"/>
          </a:xfrm>
        </p:grpSpPr>
        <p:sp>
          <p:nvSpPr>
            <p:cNvPr name="Freeform 72" id="72"/>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73" id="73"/>
            <p:cNvSpPr txBox="true"/>
            <p:nvPr/>
          </p:nvSpPr>
          <p:spPr>
            <a:xfrm>
              <a:off x="0" y="-38100"/>
              <a:ext cx="6827520" cy="769620"/>
            </a:xfrm>
            <a:prstGeom prst="rect">
              <a:avLst/>
            </a:prstGeom>
          </p:spPr>
          <p:txBody>
            <a:bodyPr anchor="ctr" rtlCol="false" tIns="0" lIns="0" bIns="0" rIns="0"/>
            <a:lstStyle/>
            <a:p>
              <a:pPr algn="l">
                <a:lnSpc>
                  <a:spcPts val="2400"/>
                </a:lnSpc>
              </a:pPr>
              <a:r>
                <a:rPr lang="en-US" sz="2000" b="true">
                  <a:solidFill>
                    <a:srgbClr val="12B5C8"/>
                  </a:solidFill>
                  <a:latin typeface="Calibri (MS) Bold"/>
                  <a:ea typeface="Calibri (MS) Bold"/>
                  <a:cs typeface="Calibri (MS) Bold"/>
                  <a:sym typeface="Calibri (MS) Bold"/>
                </a:rPr>
                <a:t>For comparison</a:t>
              </a:r>
            </a:p>
          </p:txBody>
        </p:sp>
      </p:grpSp>
      <p:grpSp>
        <p:nvGrpSpPr>
          <p:cNvPr name="Group 74" id="74"/>
          <p:cNvGrpSpPr/>
          <p:nvPr/>
        </p:nvGrpSpPr>
        <p:grpSpPr>
          <a:xfrm rot="0">
            <a:off x="12344400" y="3803904"/>
            <a:ext cx="3291840" cy="548640"/>
            <a:chOff x="0" y="0"/>
            <a:chExt cx="4389120" cy="731520"/>
          </a:xfrm>
        </p:grpSpPr>
        <p:sp>
          <p:nvSpPr>
            <p:cNvPr name="Freeform 75" id="7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76" id="76"/>
            <p:cNvSpPr txBox="true"/>
            <p:nvPr/>
          </p:nvSpPr>
          <p:spPr>
            <a:xfrm>
              <a:off x="0" y="-47625"/>
              <a:ext cx="4389120" cy="779145"/>
            </a:xfrm>
            <a:prstGeom prst="rect">
              <a:avLst/>
            </a:prstGeom>
          </p:spPr>
          <p:txBody>
            <a:bodyPr anchor="ctr" rtlCol="false" tIns="0" lIns="0" bIns="0" rIns="0"/>
            <a:lstStyle/>
            <a:p>
              <a:pPr algn="l">
                <a:lnSpc>
                  <a:spcPts val="2640"/>
                </a:lnSpc>
              </a:pPr>
              <a:r>
                <a:rPr lang="en-US" sz="2200" b="true">
                  <a:solidFill>
                    <a:srgbClr val="A8C4CC"/>
                  </a:solidFill>
                  <a:latin typeface="Calibri (MS) Bold"/>
                  <a:ea typeface="Calibri (MS) Bold"/>
                  <a:cs typeface="Calibri (MS) Bold"/>
                  <a:sym typeface="Calibri (MS) Bold"/>
                </a:rPr>
                <a:t>United Kingdom</a:t>
              </a:r>
            </a:p>
          </p:txBody>
        </p:sp>
      </p:grpSp>
      <p:grpSp>
        <p:nvGrpSpPr>
          <p:cNvPr name="Group 77" id="77"/>
          <p:cNvGrpSpPr/>
          <p:nvPr/>
        </p:nvGrpSpPr>
        <p:grpSpPr>
          <a:xfrm rot="0">
            <a:off x="12344400" y="4261104"/>
            <a:ext cx="5120640" cy="457200"/>
            <a:chOff x="0" y="0"/>
            <a:chExt cx="6827520" cy="609600"/>
          </a:xfrm>
        </p:grpSpPr>
        <p:sp>
          <p:nvSpPr>
            <p:cNvPr name="Freeform 78" id="78"/>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3">
                <a:alphaModFix amt="0"/>
              </a:blip>
              <a:stretch>
                <a:fillRect l="0" t="-168232" r="0" b="-168232"/>
              </a:stretch>
            </a:blipFill>
          </p:spPr>
        </p:sp>
        <p:sp>
          <p:nvSpPr>
            <p:cNvPr name="TextBox 79" id="79"/>
            <p:cNvSpPr txBox="true"/>
            <p:nvPr/>
          </p:nvSpPr>
          <p:spPr>
            <a:xfrm>
              <a:off x="0" y="-38100"/>
              <a:ext cx="6827520" cy="64770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59.3 avg · 4 regions</a:t>
              </a:r>
            </a:p>
          </p:txBody>
        </p:sp>
      </p:grpSp>
      <p:grpSp>
        <p:nvGrpSpPr>
          <p:cNvPr name="Group 80" id="80"/>
          <p:cNvGrpSpPr/>
          <p:nvPr/>
        </p:nvGrpSpPr>
        <p:grpSpPr>
          <a:xfrm rot="0">
            <a:off x="12344400" y="5120640"/>
            <a:ext cx="3291840" cy="548640"/>
            <a:chOff x="0" y="0"/>
            <a:chExt cx="4389120" cy="731520"/>
          </a:xfrm>
        </p:grpSpPr>
        <p:sp>
          <p:nvSpPr>
            <p:cNvPr name="Freeform 81" id="81"/>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82" id="82"/>
            <p:cNvSpPr txBox="true"/>
            <p:nvPr/>
          </p:nvSpPr>
          <p:spPr>
            <a:xfrm>
              <a:off x="0" y="-47625"/>
              <a:ext cx="4389120" cy="779145"/>
            </a:xfrm>
            <a:prstGeom prst="rect">
              <a:avLst/>
            </a:prstGeom>
          </p:spPr>
          <p:txBody>
            <a:bodyPr anchor="ctr" rtlCol="false" tIns="0" lIns="0" bIns="0" rIns="0"/>
            <a:lstStyle/>
            <a:p>
              <a:pPr algn="l">
                <a:lnSpc>
                  <a:spcPts val="2640"/>
                </a:lnSpc>
              </a:pPr>
              <a:r>
                <a:rPr lang="en-US" sz="2200" b="true">
                  <a:solidFill>
                    <a:srgbClr val="A8C4CC"/>
                  </a:solidFill>
                  <a:latin typeface="Calibri (MS) Bold"/>
                  <a:ea typeface="Calibri (MS) Bold"/>
                  <a:cs typeface="Calibri (MS) Bold"/>
                  <a:sym typeface="Calibri (MS) Bold"/>
                </a:rPr>
                <a:t>Belgium</a:t>
              </a:r>
            </a:p>
          </p:txBody>
        </p:sp>
      </p:grpSp>
      <p:grpSp>
        <p:nvGrpSpPr>
          <p:cNvPr name="Group 83" id="83"/>
          <p:cNvGrpSpPr/>
          <p:nvPr/>
        </p:nvGrpSpPr>
        <p:grpSpPr>
          <a:xfrm rot="0">
            <a:off x="12344400" y="5577840"/>
            <a:ext cx="5120640" cy="457200"/>
            <a:chOff x="0" y="0"/>
            <a:chExt cx="6827520" cy="609600"/>
          </a:xfrm>
        </p:grpSpPr>
        <p:sp>
          <p:nvSpPr>
            <p:cNvPr name="Freeform 84" id="84"/>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3">
                <a:alphaModFix amt="0"/>
              </a:blip>
              <a:stretch>
                <a:fillRect l="0" t="-168232" r="0" b="-168232"/>
              </a:stretch>
            </a:blipFill>
          </p:spPr>
        </p:sp>
        <p:sp>
          <p:nvSpPr>
            <p:cNvPr name="TextBox 85" id="85"/>
            <p:cNvSpPr txBox="true"/>
            <p:nvPr/>
          </p:nvSpPr>
          <p:spPr>
            <a:xfrm>
              <a:off x="0" y="-38100"/>
              <a:ext cx="6827520" cy="64770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52.2 avg · 3 regions</a:t>
              </a:r>
            </a:p>
          </p:txBody>
        </p:sp>
      </p:grpSp>
      <p:grpSp>
        <p:nvGrpSpPr>
          <p:cNvPr name="Group 86" id="86"/>
          <p:cNvGrpSpPr/>
          <p:nvPr/>
        </p:nvGrpSpPr>
        <p:grpSpPr>
          <a:xfrm rot="0">
            <a:off x="12344400" y="6437376"/>
            <a:ext cx="3291840" cy="548640"/>
            <a:chOff x="0" y="0"/>
            <a:chExt cx="4389120" cy="731520"/>
          </a:xfrm>
        </p:grpSpPr>
        <p:sp>
          <p:nvSpPr>
            <p:cNvPr name="Freeform 87" id="87"/>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88" id="88"/>
            <p:cNvSpPr txBox="true"/>
            <p:nvPr/>
          </p:nvSpPr>
          <p:spPr>
            <a:xfrm>
              <a:off x="0" y="-47625"/>
              <a:ext cx="4389120" cy="779145"/>
            </a:xfrm>
            <a:prstGeom prst="rect">
              <a:avLst/>
            </a:prstGeom>
          </p:spPr>
          <p:txBody>
            <a:bodyPr anchor="ctr" rtlCol="false" tIns="0" lIns="0" bIns="0" rIns="0"/>
            <a:lstStyle/>
            <a:p>
              <a:pPr algn="l">
                <a:lnSpc>
                  <a:spcPts val="2640"/>
                </a:lnSpc>
              </a:pPr>
              <a:r>
                <a:rPr lang="en-US" sz="2200" b="true">
                  <a:solidFill>
                    <a:srgbClr val="A8C4CC"/>
                  </a:solidFill>
                  <a:latin typeface="Calibri (MS) Bold"/>
                  <a:ea typeface="Calibri (MS) Bold"/>
                  <a:cs typeface="Calibri (MS) Bold"/>
                  <a:sym typeface="Calibri (MS) Bold"/>
                </a:rPr>
                <a:t>Taiwan</a:t>
              </a:r>
            </a:p>
          </p:txBody>
        </p:sp>
      </p:grpSp>
      <p:grpSp>
        <p:nvGrpSpPr>
          <p:cNvPr name="Group 89" id="89"/>
          <p:cNvGrpSpPr/>
          <p:nvPr/>
        </p:nvGrpSpPr>
        <p:grpSpPr>
          <a:xfrm rot="0">
            <a:off x="12344400" y="6894576"/>
            <a:ext cx="5120640" cy="457200"/>
            <a:chOff x="0" y="0"/>
            <a:chExt cx="6827520" cy="609600"/>
          </a:xfrm>
        </p:grpSpPr>
        <p:sp>
          <p:nvSpPr>
            <p:cNvPr name="Freeform 90" id="90"/>
            <p:cNvSpPr/>
            <p:nvPr/>
          </p:nvSpPr>
          <p:spPr>
            <a:xfrm flipH="false" flipV="false" rot="0">
              <a:off x="0" y="0"/>
              <a:ext cx="6827520" cy="609600"/>
            </a:xfrm>
            <a:custGeom>
              <a:avLst/>
              <a:gdLst/>
              <a:ahLst/>
              <a:cxnLst/>
              <a:rect r="r" b="b" t="t" l="l"/>
              <a:pathLst>
                <a:path h="609600" w="6827520">
                  <a:moveTo>
                    <a:pt x="0" y="0"/>
                  </a:moveTo>
                  <a:lnTo>
                    <a:pt x="6827520" y="0"/>
                  </a:lnTo>
                  <a:lnTo>
                    <a:pt x="6827520" y="609600"/>
                  </a:lnTo>
                  <a:lnTo>
                    <a:pt x="0" y="609600"/>
                  </a:lnTo>
                  <a:close/>
                </a:path>
              </a:pathLst>
            </a:custGeom>
            <a:blipFill>
              <a:blip r:embed="rId3">
                <a:alphaModFix amt="0"/>
              </a:blip>
              <a:stretch>
                <a:fillRect l="0" t="-168232" r="0" b="-168232"/>
              </a:stretch>
            </a:blipFill>
          </p:spPr>
        </p:sp>
        <p:sp>
          <p:nvSpPr>
            <p:cNvPr name="TextBox 91" id="91"/>
            <p:cNvSpPr txBox="true"/>
            <p:nvPr/>
          </p:nvSpPr>
          <p:spPr>
            <a:xfrm>
              <a:off x="0" y="-38100"/>
              <a:ext cx="6827520" cy="64770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51.0 avg · 6 regions</a:t>
              </a:r>
            </a:p>
          </p:txBody>
        </p:sp>
      </p:grpSp>
      <p:grpSp>
        <p:nvGrpSpPr>
          <p:cNvPr name="Group 92" id="92"/>
          <p:cNvGrpSpPr/>
          <p:nvPr/>
        </p:nvGrpSpPr>
        <p:grpSpPr>
          <a:xfrm rot="0">
            <a:off x="914400" y="8973826"/>
            <a:ext cx="16642080" cy="1280160"/>
            <a:chOff x="0" y="0"/>
            <a:chExt cx="22189440" cy="1706880"/>
          </a:xfrm>
        </p:grpSpPr>
        <p:sp>
          <p:nvSpPr>
            <p:cNvPr name="Freeform 93" id="93"/>
            <p:cNvSpPr/>
            <p:nvPr/>
          </p:nvSpPr>
          <p:spPr>
            <a:xfrm flipH="false" flipV="false" rot="0">
              <a:off x="0" y="0"/>
              <a:ext cx="22189439" cy="1706880"/>
            </a:xfrm>
            <a:custGeom>
              <a:avLst/>
              <a:gdLst/>
              <a:ahLst/>
              <a:cxnLst/>
              <a:rect r="r" b="b" t="t" l="l"/>
              <a:pathLst>
                <a:path h="1706880" w="22189439">
                  <a:moveTo>
                    <a:pt x="0" y="0"/>
                  </a:moveTo>
                  <a:lnTo>
                    <a:pt x="22189439" y="0"/>
                  </a:lnTo>
                  <a:lnTo>
                    <a:pt x="22189439" y="1706880"/>
                  </a:lnTo>
                  <a:lnTo>
                    <a:pt x="0" y="1706880"/>
                  </a:lnTo>
                  <a:close/>
                </a:path>
              </a:pathLst>
            </a:custGeom>
            <a:blipFill>
              <a:blip r:embed="rId3">
                <a:alphaModFix amt="0"/>
              </a:blip>
              <a:stretch>
                <a:fillRect l="0" t="-203305" r="0" b="-203305"/>
              </a:stretch>
            </a:blipFill>
          </p:spPr>
        </p:sp>
        <p:sp>
          <p:nvSpPr>
            <p:cNvPr name="TextBox 94" id="94"/>
            <p:cNvSpPr txBox="true"/>
            <p:nvPr/>
          </p:nvSpPr>
          <p:spPr>
            <a:xfrm>
              <a:off x="0" y="-142875"/>
              <a:ext cx="22189440" cy="1849755"/>
            </a:xfrm>
            <a:prstGeom prst="rect">
              <a:avLst/>
            </a:prstGeom>
          </p:spPr>
          <p:txBody>
            <a:bodyPr anchor="ctr" rtlCol="false" tIns="0" lIns="0" bIns="0" rIns="0"/>
            <a:lstStyle/>
            <a:p>
              <a:pPr algn="l">
                <a:lnSpc>
                  <a:spcPts val="3696"/>
                </a:lnSpc>
              </a:pPr>
              <a:r>
                <a:rPr lang="en-US" sz="2200" i="true">
                  <a:solidFill>
                    <a:srgbClr val="2E7D52"/>
                  </a:solidFill>
                  <a:latin typeface="Calibri (MS) Italics"/>
                  <a:ea typeface="Calibri (MS) Italics"/>
                  <a:cs typeface="Calibri (MS) Italics"/>
                  <a:sym typeface="Calibri (MS) Italics"/>
                </a:rPr>
                <a:t>Recommendation: Allocate disproportionate trend monitoring to Thailand, India, and Turkey, structurally more search-active environments with the highest amplification potential.</a:t>
              </a:r>
            </a:p>
          </p:txBody>
        </p:sp>
      </p:grpSp>
      <p:grpSp>
        <p:nvGrpSpPr>
          <p:cNvPr name="Group 95" id="95"/>
          <p:cNvGrpSpPr/>
          <p:nvPr/>
        </p:nvGrpSpPr>
        <p:grpSpPr>
          <a:xfrm rot="0">
            <a:off x="16093440" y="9692640"/>
            <a:ext cx="1828800" cy="365760"/>
            <a:chOff x="0" y="0"/>
            <a:chExt cx="2438400" cy="487680"/>
          </a:xfrm>
        </p:grpSpPr>
        <p:sp>
          <p:nvSpPr>
            <p:cNvPr name="Freeform 96" id="96"/>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97" id="97"/>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9 / 14</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A7E8C"/>
            </a:solidFill>
            <a:ln w="25400" cap="sq">
              <a:solidFill>
                <a:srgbClr val="0A7E8C"/>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FINDING 04</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04775"/>
              <a:ext cx="21945600" cy="2299335"/>
            </a:xfrm>
            <a:prstGeom prst="rect">
              <a:avLst/>
            </a:prstGeom>
          </p:spPr>
          <p:txBody>
            <a:bodyPr anchor="ctr" rtlCol="false" tIns="0" lIns="0" bIns="0" rIns="0"/>
            <a:lstStyle/>
            <a:p>
              <a:pPr algn="l">
                <a:lnSpc>
                  <a:spcPts val="6048"/>
                </a:lnSpc>
              </a:pPr>
              <a:r>
                <a:rPr lang="en-US" sz="4200" b="true">
                  <a:solidFill>
                    <a:srgbClr val="FFFFFF"/>
                  </a:solidFill>
                  <a:latin typeface="Trebuchet MS Bold"/>
                  <a:ea typeface="Trebuchet MS Bold"/>
                  <a:cs typeface="Trebuchet MS Bold"/>
                  <a:sym typeface="Trebuchet MS Bold"/>
                </a:rPr>
                <a:t>April 2026 — a black hole event</a:t>
              </a:r>
            </a:p>
            <a:p>
              <a:pPr algn="l">
                <a:lnSpc>
                  <a:spcPts val="6048"/>
                </a:lnSpc>
              </a:pPr>
              <a:r>
                <a:rPr lang="en-US" sz="4200" b="true">
                  <a:solidFill>
                    <a:srgbClr val="FFFFFF"/>
                  </a:solidFill>
                  <a:latin typeface="Trebuchet MS Bold"/>
                  <a:ea typeface="Trebuchet MS Bold"/>
                  <a:cs typeface="Trebuchet MS Bold"/>
                  <a:sym typeface="Trebuchet MS Bold"/>
                </a:rPr>
                <a:t>that broke the 5-year pattern.</a:t>
              </a:r>
            </a:p>
          </p:txBody>
        </p:sp>
      </p:grpSp>
      <p:pic>
        <p:nvPicPr>
          <p:cNvPr name="Picture 12" id="12"/>
          <p:cNvPicPr>
            <a:picLocks noChangeAspect="true"/>
          </p:cNvPicPr>
          <p:nvPr/>
        </p:nvPicPr>
        <p:blipFill>
          <a:blip r:embed="rId4"/>
          <a:stretch>
            <a:fillRect/>
          </a:stretch>
        </p:blipFill>
        <p:spPr>
          <a:xfrm rot="0">
            <a:off x="-658048" y="1483574"/>
            <a:ext cx="14109674" cy="8318072"/>
          </a:xfrm>
          <a:prstGeom prst="rect">
            <a:avLst/>
          </a:prstGeom>
        </p:spPr>
      </p:pic>
      <p:grpSp>
        <p:nvGrpSpPr>
          <p:cNvPr name="Group 13" id="13"/>
          <p:cNvGrpSpPr/>
          <p:nvPr/>
        </p:nvGrpSpPr>
        <p:grpSpPr>
          <a:xfrm rot="0">
            <a:off x="12978127" y="3102607"/>
            <a:ext cx="4767577" cy="1622041"/>
            <a:chOff x="0" y="0"/>
            <a:chExt cx="6356769" cy="2162721"/>
          </a:xfrm>
        </p:grpSpPr>
        <p:sp>
          <p:nvSpPr>
            <p:cNvPr name="Freeform 14" id="14"/>
            <p:cNvSpPr/>
            <p:nvPr/>
          </p:nvSpPr>
          <p:spPr>
            <a:xfrm flipH="false" flipV="false" rot="0">
              <a:off x="0" y="0"/>
              <a:ext cx="6356731" cy="2162683"/>
            </a:xfrm>
            <a:custGeom>
              <a:avLst/>
              <a:gdLst/>
              <a:ahLst/>
              <a:cxnLst/>
              <a:rect r="r" b="b" t="t" l="l"/>
              <a:pathLst>
                <a:path h="2162683" w="6356731">
                  <a:moveTo>
                    <a:pt x="0" y="0"/>
                  </a:moveTo>
                  <a:lnTo>
                    <a:pt x="6356731" y="0"/>
                  </a:lnTo>
                  <a:lnTo>
                    <a:pt x="6356731" y="2162683"/>
                  </a:lnTo>
                  <a:lnTo>
                    <a:pt x="0" y="2162683"/>
                  </a:lnTo>
                  <a:close/>
                </a:path>
              </a:pathLst>
            </a:custGeom>
            <a:solidFill>
              <a:srgbClr val="FFFFFF">
                <a:alpha val="392"/>
              </a:srgbClr>
            </a:solidFill>
            <a:ln w="12700" cap="sq">
              <a:solidFill>
                <a:srgbClr val="0A7E8C"/>
              </a:solidFill>
              <a:prstDash val="solid"/>
              <a:miter/>
            </a:ln>
          </p:spPr>
        </p:sp>
      </p:grpSp>
      <p:grpSp>
        <p:nvGrpSpPr>
          <p:cNvPr name="Group 15" id="15"/>
          <p:cNvGrpSpPr/>
          <p:nvPr/>
        </p:nvGrpSpPr>
        <p:grpSpPr>
          <a:xfrm rot="0">
            <a:off x="12984480" y="3200400"/>
            <a:ext cx="4754880" cy="877824"/>
            <a:chOff x="0" y="0"/>
            <a:chExt cx="6339840" cy="1170432"/>
          </a:xfrm>
        </p:grpSpPr>
        <p:sp>
          <p:nvSpPr>
            <p:cNvPr name="Freeform 16" id="16"/>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17" id="17"/>
            <p:cNvSpPr txBox="true"/>
            <p:nvPr/>
          </p:nvSpPr>
          <p:spPr>
            <a:xfrm>
              <a:off x="0" y="-9525"/>
              <a:ext cx="6339840" cy="1179957"/>
            </a:xfrm>
            <a:prstGeom prst="rect">
              <a:avLst/>
            </a:prstGeom>
          </p:spPr>
          <p:txBody>
            <a:bodyPr anchor="ctr" rtlCol="false" tIns="0" lIns="0" bIns="0" rIns="0"/>
            <a:lstStyle/>
            <a:p>
              <a:pPr algn="ctr">
                <a:lnSpc>
                  <a:spcPts val="6240"/>
                </a:lnSpc>
              </a:pPr>
              <a:r>
                <a:rPr lang="en-US" sz="5200" b="true">
                  <a:solidFill>
                    <a:srgbClr val="E05C45"/>
                  </a:solidFill>
                  <a:latin typeface="Trebuchet MS Bold"/>
                  <a:ea typeface="Trebuchet MS Bold"/>
                  <a:cs typeface="Trebuchet MS Bold"/>
                  <a:sym typeface="Trebuchet MS Bold"/>
                </a:rPr>
                <a:t>3×</a:t>
              </a:r>
            </a:p>
          </p:txBody>
        </p:sp>
      </p:grpSp>
      <p:grpSp>
        <p:nvGrpSpPr>
          <p:cNvPr name="Group 18" id="18"/>
          <p:cNvGrpSpPr/>
          <p:nvPr/>
        </p:nvGrpSpPr>
        <p:grpSpPr>
          <a:xfrm rot="0">
            <a:off x="13167360" y="3986784"/>
            <a:ext cx="4389120" cy="640080"/>
            <a:chOff x="0" y="0"/>
            <a:chExt cx="5852160" cy="853440"/>
          </a:xfrm>
        </p:grpSpPr>
        <p:sp>
          <p:nvSpPr>
            <p:cNvPr name="Freeform 19" id="19"/>
            <p:cNvSpPr/>
            <p:nvPr/>
          </p:nvSpPr>
          <p:spPr>
            <a:xfrm flipH="false" flipV="false" rot="0">
              <a:off x="0" y="0"/>
              <a:ext cx="5852160" cy="853440"/>
            </a:xfrm>
            <a:custGeom>
              <a:avLst/>
              <a:gdLst/>
              <a:ahLst/>
              <a:cxnLst/>
              <a:rect r="r" b="b" t="t" l="l"/>
              <a:pathLst>
                <a:path h="853440" w="5852160">
                  <a:moveTo>
                    <a:pt x="0" y="0"/>
                  </a:moveTo>
                  <a:lnTo>
                    <a:pt x="5852160" y="0"/>
                  </a:lnTo>
                  <a:lnTo>
                    <a:pt x="5852160" y="853440"/>
                  </a:lnTo>
                  <a:lnTo>
                    <a:pt x="0" y="853440"/>
                  </a:lnTo>
                  <a:close/>
                </a:path>
              </a:pathLst>
            </a:custGeom>
            <a:blipFill>
              <a:blip r:embed="rId3">
                <a:alphaModFix amt="0"/>
              </a:blip>
              <a:stretch>
                <a:fillRect l="0" t="-83611" r="0" b="-83611"/>
              </a:stretch>
            </a:blipFill>
          </p:spPr>
        </p:sp>
        <p:sp>
          <p:nvSpPr>
            <p:cNvPr name="TextBox 20" id="20"/>
            <p:cNvSpPr txBox="true"/>
            <p:nvPr/>
          </p:nvSpPr>
          <p:spPr>
            <a:xfrm>
              <a:off x="0" y="-76200"/>
              <a:ext cx="5852160" cy="929640"/>
            </a:xfrm>
            <a:prstGeom prst="rect">
              <a:avLst/>
            </a:prstGeom>
          </p:spPr>
          <p:txBody>
            <a:bodyPr anchor="ctr" rtlCol="false" tIns="0" lIns="0" bIns="0" rIns="0"/>
            <a:lstStyle/>
            <a:p>
              <a:pPr algn="ctr">
                <a:lnSpc>
                  <a:spcPts val="2592"/>
                </a:lnSpc>
              </a:pPr>
              <a:r>
                <a:rPr lang="en-US" sz="1800">
                  <a:solidFill>
                    <a:srgbClr val="A8C4CC"/>
                  </a:solidFill>
                  <a:latin typeface="Calibri (MS)"/>
                  <a:ea typeface="Calibri (MS)"/>
                  <a:cs typeface="Calibri (MS)"/>
                  <a:sym typeface="Calibri (MS)"/>
                </a:rPr>
                <a:t>above 5-yr baseline</a:t>
              </a:r>
            </a:p>
            <a:p>
              <a:pPr algn="ctr">
                <a:lnSpc>
                  <a:spcPts val="2592"/>
                </a:lnSpc>
              </a:pPr>
              <a:r>
                <a:rPr lang="en-US" sz="1800">
                  <a:solidFill>
                    <a:srgbClr val="A8C4CC"/>
                  </a:solidFill>
                  <a:latin typeface="Calibri (MS)"/>
                  <a:ea typeface="Calibri (MS)"/>
                  <a:cs typeface="Calibri (MS)"/>
                  <a:sym typeface="Calibri (MS)"/>
                </a:rPr>
                <a:t>(100 vs avg 32)</a:t>
              </a:r>
            </a:p>
          </p:txBody>
        </p:sp>
      </p:grpSp>
      <p:grpSp>
        <p:nvGrpSpPr>
          <p:cNvPr name="Group 21" id="21"/>
          <p:cNvGrpSpPr/>
          <p:nvPr/>
        </p:nvGrpSpPr>
        <p:grpSpPr>
          <a:xfrm rot="0">
            <a:off x="12978127" y="4931407"/>
            <a:ext cx="4767577" cy="1622041"/>
            <a:chOff x="0" y="0"/>
            <a:chExt cx="6356769" cy="2162721"/>
          </a:xfrm>
        </p:grpSpPr>
        <p:sp>
          <p:nvSpPr>
            <p:cNvPr name="Freeform 22" id="22"/>
            <p:cNvSpPr/>
            <p:nvPr/>
          </p:nvSpPr>
          <p:spPr>
            <a:xfrm flipH="false" flipV="false" rot="0">
              <a:off x="0" y="0"/>
              <a:ext cx="6356731" cy="2162683"/>
            </a:xfrm>
            <a:custGeom>
              <a:avLst/>
              <a:gdLst/>
              <a:ahLst/>
              <a:cxnLst/>
              <a:rect r="r" b="b" t="t" l="l"/>
              <a:pathLst>
                <a:path h="2162683" w="6356731">
                  <a:moveTo>
                    <a:pt x="0" y="0"/>
                  </a:moveTo>
                  <a:lnTo>
                    <a:pt x="6356731" y="0"/>
                  </a:lnTo>
                  <a:lnTo>
                    <a:pt x="6356731" y="2162683"/>
                  </a:lnTo>
                  <a:lnTo>
                    <a:pt x="0" y="2162683"/>
                  </a:lnTo>
                  <a:close/>
                </a:path>
              </a:pathLst>
            </a:custGeom>
            <a:solidFill>
              <a:srgbClr val="FFFFFF">
                <a:alpha val="392"/>
              </a:srgbClr>
            </a:solidFill>
            <a:ln w="12700" cap="sq">
              <a:solidFill>
                <a:srgbClr val="0A7E8C"/>
              </a:solidFill>
              <a:prstDash val="solid"/>
              <a:miter/>
            </a:ln>
          </p:spPr>
        </p:sp>
      </p:grpSp>
      <p:grpSp>
        <p:nvGrpSpPr>
          <p:cNvPr name="Group 23" id="23"/>
          <p:cNvGrpSpPr/>
          <p:nvPr/>
        </p:nvGrpSpPr>
        <p:grpSpPr>
          <a:xfrm rot="0">
            <a:off x="12984480" y="5029200"/>
            <a:ext cx="4754880" cy="877824"/>
            <a:chOff x="0" y="0"/>
            <a:chExt cx="6339840" cy="1170432"/>
          </a:xfrm>
        </p:grpSpPr>
        <p:sp>
          <p:nvSpPr>
            <p:cNvPr name="Freeform 24" id="24"/>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25" id="25"/>
            <p:cNvSpPr txBox="true"/>
            <p:nvPr/>
          </p:nvSpPr>
          <p:spPr>
            <a:xfrm>
              <a:off x="0" y="-9525"/>
              <a:ext cx="6339840" cy="1179957"/>
            </a:xfrm>
            <a:prstGeom prst="rect">
              <a:avLst/>
            </a:prstGeom>
          </p:spPr>
          <p:txBody>
            <a:bodyPr anchor="ctr" rtlCol="false" tIns="0" lIns="0" bIns="0" rIns="0"/>
            <a:lstStyle/>
            <a:p>
              <a:pPr algn="ctr">
                <a:lnSpc>
                  <a:spcPts val="6240"/>
                </a:lnSpc>
              </a:pPr>
              <a:r>
                <a:rPr lang="en-US" sz="5200" b="true">
                  <a:solidFill>
                    <a:srgbClr val="E05C45"/>
                  </a:solidFill>
                  <a:latin typeface="Trebuchet MS Bold"/>
                  <a:ea typeface="Trebuchet MS Bold"/>
                  <a:cs typeface="Trebuchet MS Bold"/>
                  <a:sym typeface="Trebuchet MS Bold"/>
                </a:rPr>
                <a:t>15,000</a:t>
              </a:r>
            </a:p>
          </p:txBody>
        </p:sp>
      </p:grpSp>
      <p:grpSp>
        <p:nvGrpSpPr>
          <p:cNvPr name="Group 26" id="26"/>
          <p:cNvGrpSpPr/>
          <p:nvPr/>
        </p:nvGrpSpPr>
        <p:grpSpPr>
          <a:xfrm rot="0">
            <a:off x="13167360" y="5815584"/>
            <a:ext cx="4389120" cy="640080"/>
            <a:chOff x="0" y="0"/>
            <a:chExt cx="5852160" cy="853440"/>
          </a:xfrm>
        </p:grpSpPr>
        <p:sp>
          <p:nvSpPr>
            <p:cNvPr name="Freeform 27" id="27"/>
            <p:cNvSpPr/>
            <p:nvPr/>
          </p:nvSpPr>
          <p:spPr>
            <a:xfrm flipH="false" flipV="false" rot="0">
              <a:off x="0" y="0"/>
              <a:ext cx="5852160" cy="853440"/>
            </a:xfrm>
            <a:custGeom>
              <a:avLst/>
              <a:gdLst/>
              <a:ahLst/>
              <a:cxnLst/>
              <a:rect r="r" b="b" t="t" l="l"/>
              <a:pathLst>
                <a:path h="853440" w="5852160">
                  <a:moveTo>
                    <a:pt x="0" y="0"/>
                  </a:moveTo>
                  <a:lnTo>
                    <a:pt x="5852160" y="0"/>
                  </a:lnTo>
                  <a:lnTo>
                    <a:pt x="5852160" y="853440"/>
                  </a:lnTo>
                  <a:lnTo>
                    <a:pt x="0" y="853440"/>
                  </a:lnTo>
                  <a:close/>
                </a:path>
              </a:pathLst>
            </a:custGeom>
            <a:blipFill>
              <a:blip r:embed="rId3">
                <a:alphaModFix amt="0"/>
              </a:blip>
              <a:stretch>
                <a:fillRect l="0" t="-83611" r="0" b="-83611"/>
              </a:stretch>
            </a:blipFill>
          </p:spPr>
        </p:sp>
        <p:sp>
          <p:nvSpPr>
            <p:cNvPr name="TextBox 28" id="28"/>
            <p:cNvSpPr txBox="true"/>
            <p:nvPr/>
          </p:nvSpPr>
          <p:spPr>
            <a:xfrm>
              <a:off x="0" y="-76200"/>
              <a:ext cx="5852160" cy="929640"/>
            </a:xfrm>
            <a:prstGeom prst="rect">
              <a:avLst/>
            </a:prstGeom>
          </p:spPr>
          <p:txBody>
            <a:bodyPr anchor="ctr" rtlCol="false" tIns="0" lIns="0" bIns="0" rIns="0"/>
            <a:lstStyle/>
            <a:p>
              <a:pPr algn="ctr">
                <a:lnSpc>
                  <a:spcPts val="2592"/>
                </a:lnSpc>
              </a:pPr>
              <a:r>
                <a:rPr lang="en-US" sz="1800">
                  <a:solidFill>
                    <a:srgbClr val="A8C4CC"/>
                  </a:solidFill>
                  <a:latin typeface="Calibri (MS)"/>
                  <a:ea typeface="Calibri (MS)"/>
                  <a:cs typeface="Calibri (MS)"/>
                  <a:sym typeface="Calibri (MS)"/>
                </a:rPr>
                <a:t>weekly terms at peak</a:t>
              </a:r>
            </a:p>
            <a:p>
              <a:pPr algn="ctr">
                <a:lnSpc>
                  <a:spcPts val="2592"/>
                </a:lnSpc>
              </a:pPr>
              <a:r>
                <a:rPr lang="en-US" sz="1800">
                  <a:solidFill>
                    <a:srgbClr val="A8C4CC"/>
                  </a:solidFill>
                  <a:latin typeface="Calibri (MS)"/>
                  <a:ea typeface="Calibri (MS)"/>
                  <a:cs typeface="Calibri (MS)"/>
                  <a:sym typeface="Calibri (MS)"/>
                </a:rPr>
                <a:t>29 March 2026</a:t>
              </a:r>
            </a:p>
          </p:txBody>
        </p:sp>
      </p:grpSp>
      <p:grpSp>
        <p:nvGrpSpPr>
          <p:cNvPr name="Group 29" id="29"/>
          <p:cNvGrpSpPr/>
          <p:nvPr/>
        </p:nvGrpSpPr>
        <p:grpSpPr>
          <a:xfrm rot="0">
            <a:off x="12978127" y="6760207"/>
            <a:ext cx="4767577" cy="1622041"/>
            <a:chOff x="0" y="0"/>
            <a:chExt cx="6356769" cy="2162721"/>
          </a:xfrm>
        </p:grpSpPr>
        <p:sp>
          <p:nvSpPr>
            <p:cNvPr name="Freeform 30" id="30"/>
            <p:cNvSpPr/>
            <p:nvPr/>
          </p:nvSpPr>
          <p:spPr>
            <a:xfrm flipH="false" flipV="false" rot="0">
              <a:off x="0" y="0"/>
              <a:ext cx="6356731" cy="2162683"/>
            </a:xfrm>
            <a:custGeom>
              <a:avLst/>
              <a:gdLst/>
              <a:ahLst/>
              <a:cxnLst/>
              <a:rect r="r" b="b" t="t" l="l"/>
              <a:pathLst>
                <a:path h="2162683" w="6356731">
                  <a:moveTo>
                    <a:pt x="0" y="0"/>
                  </a:moveTo>
                  <a:lnTo>
                    <a:pt x="6356731" y="0"/>
                  </a:lnTo>
                  <a:lnTo>
                    <a:pt x="6356731" y="2162683"/>
                  </a:lnTo>
                  <a:lnTo>
                    <a:pt x="0" y="2162683"/>
                  </a:lnTo>
                  <a:close/>
                </a:path>
              </a:pathLst>
            </a:custGeom>
            <a:solidFill>
              <a:srgbClr val="FFFFFF">
                <a:alpha val="392"/>
              </a:srgbClr>
            </a:solidFill>
            <a:ln w="12700" cap="sq">
              <a:solidFill>
                <a:srgbClr val="0A7E8C"/>
              </a:solidFill>
              <a:prstDash val="solid"/>
              <a:miter/>
            </a:ln>
          </p:spPr>
        </p:sp>
      </p:grpSp>
      <p:grpSp>
        <p:nvGrpSpPr>
          <p:cNvPr name="Group 31" id="31"/>
          <p:cNvGrpSpPr/>
          <p:nvPr/>
        </p:nvGrpSpPr>
        <p:grpSpPr>
          <a:xfrm rot="0">
            <a:off x="12984480" y="6858000"/>
            <a:ext cx="4754880" cy="877824"/>
            <a:chOff x="0" y="0"/>
            <a:chExt cx="6339840" cy="1170432"/>
          </a:xfrm>
        </p:grpSpPr>
        <p:sp>
          <p:nvSpPr>
            <p:cNvPr name="Freeform 32" id="32"/>
            <p:cNvSpPr/>
            <p:nvPr/>
          </p:nvSpPr>
          <p:spPr>
            <a:xfrm flipH="false" flipV="false" rot="0">
              <a:off x="0" y="0"/>
              <a:ext cx="6339840" cy="1170432"/>
            </a:xfrm>
            <a:custGeom>
              <a:avLst/>
              <a:gdLst/>
              <a:ahLst/>
              <a:cxnLst/>
              <a:rect r="r" b="b" t="t" l="l"/>
              <a:pathLst>
                <a:path h="1170432" w="6339840">
                  <a:moveTo>
                    <a:pt x="0" y="0"/>
                  </a:moveTo>
                  <a:lnTo>
                    <a:pt x="6339840" y="0"/>
                  </a:lnTo>
                  <a:lnTo>
                    <a:pt x="6339840" y="1170432"/>
                  </a:lnTo>
                  <a:lnTo>
                    <a:pt x="0" y="1170432"/>
                  </a:lnTo>
                  <a:close/>
                </a:path>
              </a:pathLst>
            </a:custGeom>
            <a:blipFill>
              <a:blip r:embed="rId3">
                <a:alphaModFix amt="0"/>
              </a:blip>
              <a:stretch>
                <a:fillRect l="0" t="-55543" r="0" b="-55543"/>
              </a:stretch>
            </a:blipFill>
          </p:spPr>
        </p:sp>
        <p:sp>
          <p:nvSpPr>
            <p:cNvPr name="TextBox 33" id="33"/>
            <p:cNvSpPr txBox="true"/>
            <p:nvPr/>
          </p:nvSpPr>
          <p:spPr>
            <a:xfrm>
              <a:off x="0" y="-9525"/>
              <a:ext cx="6339840" cy="1179957"/>
            </a:xfrm>
            <a:prstGeom prst="rect">
              <a:avLst/>
            </a:prstGeom>
          </p:spPr>
          <p:txBody>
            <a:bodyPr anchor="ctr" rtlCol="false" tIns="0" lIns="0" bIns="0" rIns="0"/>
            <a:lstStyle/>
            <a:p>
              <a:pPr algn="ctr">
                <a:lnSpc>
                  <a:spcPts val="6240"/>
                </a:lnSpc>
              </a:pPr>
              <a:r>
                <a:rPr lang="en-US" sz="5200" b="true">
                  <a:solidFill>
                    <a:srgbClr val="E05C45"/>
                  </a:solidFill>
                  <a:latin typeface="Trebuchet MS Bold"/>
                  <a:ea typeface="Trebuchet MS Bold"/>
                  <a:cs typeface="Trebuchet MS Bold"/>
                  <a:sym typeface="Trebuchet MS Bold"/>
                </a:rPr>
                <a:t>−73%</a:t>
              </a:r>
            </a:p>
          </p:txBody>
        </p:sp>
      </p:grpSp>
      <p:grpSp>
        <p:nvGrpSpPr>
          <p:cNvPr name="Group 34" id="34"/>
          <p:cNvGrpSpPr/>
          <p:nvPr/>
        </p:nvGrpSpPr>
        <p:grpSpPr>
          <a:xfrm rot="0">
            <a:off x="13167360" y="7644384"/>
            <a:ext cx="4389120" cy="640080"/>
            <a:chOff x="0" y="0"/>
            <a:chExt cx="5852160" cy="853440"/>
          </a:xfrm>
        </p:grpSpPr>
        <p:sp>
          <p:nvSpPr>
            <p:cNvPr name="Freeform 35" id="35"/>
            <p:cNvSpPr/>
            <p:nvPr/>
          </p:nvSpPr>
          <p:spPr>
            <a:xfrm flipH="false" flipV="false" rot="0">
              <a:off x="0" y="0"/>
              <a:ext cx="5852160" cy="853440"/>
            </a:xfrm>
            <a:custGeom>
              <a:avLst/>
              <a:gdLst/>
              <a:ahLst/>
              <a:cxnLst/>
              <a:rect r="r" b="b" t="t" l="l"/>
              <a:pathLst>
                <a:path h="853440" w="5852160">
                  <a:moveTo>
                    <a:pt x="0" y="0"/>
                  </a:moveTo>
                  <a:lnTo>
                    <a:pt x="5852160" y="0"/>
                  </a:lnTo>
                  <a:lnTo>
                    <a:pt x="5852160" y="853440"/>
                  </a:lnTo>
                  <a:lnTo>
                    <a:pt x="0" y="853440"/>
                  </a:lnTo>
                  <a:close/>
                </a:path>
              </a:pathLst>
            </a:custGeom>
            <a:blipFill>
              <a:blip r:embed="rId3">
                <a:alphaModFix amt="0"/>
              </a:blip>
              <a:stretch>
                <a:fillRect l="0" t="-83611" r="0" b="-83611"/>
              </a:stretch>
            </a:blipFill>
          </p:spPr>
        </p:sp>
        <p:sp>
          <p:nvSpPr>
            <p:cNvPr name="TextBox 36" id="36"/>
            <p:cNvSpPr txBox="true"/>
            <p:nvPr/>
          </p:nvSpPr>
          <p:spPr>
            <a:xfrm>
              <a:off x="0" y="-76200"/>
              <a:ext cx="5852160" cy="929640"/>
            </a:xfrm>
            <a:prstGeom prst="rect">
              <a:avLst/>
            </a:prstGeom>
          </p:spPr>
          <p:txBody>
            <a:bodyPr anchor="ctr" rtlCol="false" tIns="0" lIns="0" bIns="0" rIns="0"/>
            <a:lstStyle/>
            <a:p>
              <a:pPr algn="ctr">
                <a:lnSpc>
                  <a:spcPts val="2592"/>
                </a:lnSpc>
              </a:pPr>
              <a:r>
                <a:rPr lang="en-US" sz="1800">
                  <a:solidFill>
                    <a:srgbClr val="A8C4CC"/>
                  </a:solidFill>
                  <a:latin typeface="Calibri (MS)"/>
                  <a:ea typeface="Calibri (MS)"/>
                  <a:cs typeface="Calibri (MS)"/>
                  <a:sym typeface="Calibri (MS)"/>
                </a:rPr>
                <a:t>term volume collapse</a:t>
              </a:r>
            </a:p>
            <a:p>
              <a:pPr algn="ctr">
                <a:lnSpc>
                  <a:spcPts val="2592"/>
                </a:lnSpc>
              </a:pPr>
              <a:r>
                <a:rPr lang="en-US" sz="1800">
                  <a:solidFill>
                    <a:srgbClr val="A8C4CC"/>
                  </a:solidFill>
                  <a:latin typeface="Calibri (MS)"/>
                  <a:ea typeface="Calibri (MS)"/>
                  <a:cs typeface="Calibri (MS)"/>
                  <a:sym typeface="Calibri (MS)"/>
                </a:rPr>
                <a:t>by 26 April 2026</a:t>
              </a:r>
            </a:p>
          </p:txBody>
        </p:sp>
      </p:grpSp>
      <p:grpSp>
        <p:nvGrpSpPr>
          <p:cNvPr name="Group 37" id="37"/>
          <p:cNvGrpSpPr/>
          <p:nvPr/>
        </p:nvGrpSpPr>
        <p:grpSpPr>
          <a:xfrm rot="0">
            <a:off x="914400" y="8778240"/>
            <a:ext cx="16642080" cy="1005840"/>
            <a:chOff x="0" y="0"/>
            <a:chExt cx="22189440" cy="1341120"/>
          </a:xfrm>
        </p:grpSpPr>
        <p:sp>
          <p:nvSpPr>
            <p:cNvPr name="Freeform 38" id="38"/>
            <p:cNvSpPr/>
            <p:nvPr/>
          </p:nvSpPr>
          <p:spPr>
            <a:xfrm flipH="false" flipV="false" rot="0">
              <a:off x="0" y="0"/>
              <a:ext cx="22189439" cy="1341120"/>
            </a:xfrm>
            <a:custGeom>
              <a:avLst/>
              <a:gdLst/>
              <a:ahLst/>
              <a:cxnLst/>
              <a:rect r="r" b="b" t="t" l="l"/>
              <a:pathLst>
                <a:path h="1341120" w="22189439">
                  <a:moveTo>
                    <a:pt x="0" y="0"/>
                  </a:moveTo>
                  <a:lnTo>
                    <a:pt x="22189439" y="0"/>
                  </a:lnTo>
                  <a:lnTo>
                    <a:pt x="22189439" y="1341120"/>
                  </a:lnTo>
                  <a:lnTo>
                    <a:pt x="0" y="1341120"/>
                  </a:lnTo>
                  <a:close/>
                </a:path>
              </a:pathLst>
            </a:custGeom>
            <a:blipFill>
              <a:blip r:embed="rId3">
                <a:alphaModFix amt="0"/>
              </a:blip>
              <a:stretch>
                <a:fillRect l="0" t="-272388" r="0" b="-272388"/>
              </a:stretch>
            </a:blipFill>
          </p:spPr>
        </p:sp>
        <p:sp>
          <p:nvSpPr>
            <p:cNvPr name="TextBox 39" id="39"/>
            <p:cNvSpPr txBox="true"/>
            <p:nvPr/>
          </p:nvSpPr>
          <p:spPr>
            <a:xfrm>
              <a:off x="0" y="-133350"/>
              <a:ext cx="22189440" cy="1474470"/>
            </a:xfrm>
            <a:prstGeom prst="rect">
              <a:avLst/>
            </a:prstGeom>
          </p:spPr>
          <p:txBody>
            <a:bodyPr anchor="ctr" rtlCol="false" tIns="0" lIns="0" bIns="0" rIns="0"/>
            <a:lstStyle/>
            <a:p>
              <a:pPr algn="l">
                <a:lnSpc>
                  <a:spcPts val="3564"/>
                </a:lnSpc>
              </a:pPr>
              <a:r>
                <a:rPr lang="en-US" sz="2200" i="true">
                  <a:solidFill>
                    <a:srgbClr val="12B5C8"/>
                  </a:solidFill>
                  <a:latin typeface="Calibri (MS) Italics"/>
                  <a:ea typeface="Calibri (MS) Italics"/>
                  <a:cs typeface="Calibri (MS) Italics"/>
                  <a:sym typeface="Calibri (MS) Italics"/>
                </a:rPr>
                <a:t>Recommendation: When weekly term volume drops &gt;30% in 2 weeks while avg score exceeds 60,</a:t>
              </a:r>
            </a:p>
            <a:p>
              <a:pPr algn="l">
                <a:lnSpc>
                  <a:spcPts val="3564"/>
                </a:lnSpc>
              </a:pPr>
              <a:r>
                <a:rPr lang="en-US" sz="2200" i="true">
                  <a:solidFill>
                    <a:srgbClr val="12B5C8"/>
                  </a:solidFill>
                  <a:latin typeface="Calibri (MS) Italics"/>
                  <a:ea typeface="Calibri (MS) Italics"/>
                  <a:cs typeface="Calibri (MS) Italics"/>
                  <a:sym typeface="Calibri (MS) Italics"/>
                </a:rPr>
                <a:t>pause unrelated trend-led content — it cannot compete during a black hole event.</a:t>
              </a:r>
            </a:p>
          </p:txBody>
        </p:sp>
      </p:grpSp>
      <p:grpSp>
        <p:nvGrpSpPr>
          <p:cNvPr name="Group 40" id="40"/>
          <p:cNvGrpSpPr/>
          <p:nvPr/>
        </p:nvGrpSpPr>
        <p:grpSpPr>
          <a:xfrm rot="0">
            <a:off x="16093440" y="9692640"/>
            <a:ext cx="1828800" cy="365760"/>
            <a:chOff x="0" y="0"/>
            <a:chExt cx="2438400" cy="487680"/>
          </a:xfrm>
        </p:grpSpPr>
        <p:sp>
          <p:nvSpPr>
            <p:cNvPr name="Freeform 41" id="41"/>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42" id="42"/>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10 / 14</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D1B2A"/>
            </a:solidFill>
            <a:ln w="25400" cap="sq">
              <a:solidFill>
                <a:srgbClr val="0D1B2A"/>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12B5C8"/>
                  </a:solidFill>
                  <a:latin typeface="Calibri (MS) Bold"/>
                  <a:ea typeface="Calibri (MS) Bold"/>
                  <a:cs typeface="Calibri (MS) Bold"/>
                  <a:sym typeface="Calibri (MS) Bold"/>
                </a:rPr>
                <a:t>FINDING 05</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04775"/>
              <a:ext cx="21945600" cy="2299335"/>
            </a:xfrm>
            <a:prstGeom prst="rect">
              <a:avLst/>
            </a:prstGeom>
          </p:spPr>
          <p:txBody>
            <a:bodyPr anchor="ctr" rtlCol="false" tIns="0" lIns="0" bIns="0" rIns="0"/>
            <a:lstStyle/>
            <a:p>
              <a:pPr algn="l">
                <a:lnSpc>
                  <a:spcPts val="6048"/>
                </a:lnSpc>
              </a:pPr>
              <a:r>
                <a:rPr lang="en-US" sz="4200" b="true">
                  <a:solidFill>
                    <a:srgbClr val="1E293B"/>
                  </a:solidFill>
                  <a:latin typeface="Trebuchet MS Bold"/>
                  <a:ea typeface="Trebuchet MS Bold"/>
                  <a:cs typeface="Trebuchet MS Bold"/>
                  <a:sym typeface="Trebuchet MS Bold"/>
                </a:rPr>
                <a:t>High scores today signal decline.</a:t>
              </a:r>
            </a:p>
            <a:p>
              <a:pPr algn="l">
                <a:lnSpc>
                  <a:spcPts val="6048"/>
                </a:lnSpc>
              </a:pPr>
              <a:r>
                <a:rPr lang="en-US" sz="4200" b="true">
                  <a:solidFill>
                    <a:srgbClr val="1E293B"/>
                  </a:solidFill>
                  <a:latin typeface="Trebuchet MS Bold"/>
                  <a:ea typeface="Trebuchet MS Bold"/>
                  <a:cs typeface="Trebuchet MS Bold"/>
                  <a:sym typeface="Trebuchet MS Bold"/>
                </a:rPr>
                <a:t>Low scores signal the next opportunity.</a:t>
              </a:r>
            </a:p>
          </p:txBody>
        </p:sp>
      </p:grpSp>
      <p:grpSp>
        <p:nvGrpSpPr>
          <p:cNvPr name="Group 12" id="12"/>
          <p:cNvGrpSpPr/>
          <p:nvPr/>
        </p:nvGrpSpPr>
        <p:grpSpPr>
          <a:xfrm rot="0">
            <a:off x="1084583" y="3004823"/>
            <a:ext cx="7706363" cy="6243323"/>
            <a:chOff x="0" y="0"/>
            <a:chExt cx="10275151" cy="8324431"/>
          </a:xfrm>
        </p:grpSpPr>
        <p:sp>
          <p:nvSpPr>
            <p:cNvPr name="Freeform 13" id="13"/>
            <p:cNvSpPr/>
            <p:nvPr/>
          </p:nvSpPr>
          <p:spPr>
            <a:xfrm flipH="false" flipV="false" rot="0">
              <a:off x="0" y="0"/>
              <a:ext cx="10275189" cy="8324469"/>
            </a:xfrm>
            <a:custGeom>
              <a:avLst/>
              <a:gdLst/>
              <a:ahLst/>
              <a:cxnLst/>
              <a:rect r="r" b="b" t="t" l="l"/>
              <a:pathLst>
                <a:path h="8324469" w="10275189">
                  <a:moveTo>
                    <a:pt x="0" y="0"/>
                  </a:moveTo>
                  <a:lnTo>
                    <a:pt x="10275189" y="0"/>
                  </a:lnTo>
                  <a:lnTo>
                    <a:pt x="10275189" y="8324469"/>
                  </a:lnTo>
                  <a:lnTo>
                    <a:pt x="0" y="8324469"/>
                  </a:lnTo>
                  <a:close/>
                </a:path>
              </a:pathLst>
            </a:custGeom>
            <a:solidFill>
              <a:srgbClr val="F4F7F8"/>
            </a:solidFill>
            <a:ln w="25400" cap="sq">
              <a:solidFill>
                <a:srgbClr val="E2E8F0"/>
              </a:solidFill>
              <a:prstDash val="solid"/>
              <a:miter/>
            </a:ln>
          </p:spPr>
        </p:sp>
      </p:grpSp>
      <p:grpSp>
        <p:nvGrpSpPr>
          <p:cNvPr name="Group 14" id="14"/>
          <p:cNvGrpSpPr/>
          <p:nvPr/>
        </p:nvGrpSpPr>
        <p:grpSpPr>
          <a:xfrm rot="0">
            <a:off x="4931407" y="3011167"/>
            <a:ext cx="12697" cy="6230617"/>
            <a:chOff x="0" y="0"/>
            <a:chExt cx="16929" cy="8307489"/>
          </a:xfrm>
        </p:grpSpPr>
        <p:sp>
          <p:nvSpPr>
            <p:cNvPr name="Freeform 15" id="15"/>
            <p:cNvSpPr/>
            <p:nvPr/>
          </p:nvSpPr>
          <p:spPr>
            <a:xfrm flipH="false" flipV="false" rot="0">
              <a:off x="0" y="0"/>
              <a:ext cx="16891" cy="8307451"/>
            </a:xfrm>
            <a:custGeom>
              <a:avLst/>
              <a:gdLst/>
              <a:ahLst/>
              <a:cxnLst/>
              <a:rect r="r" b="b" t="t" l="l"/>
              <a:pathLst>
                <a:path h="8307451" w="16891">
                  <a:moveTo>
                    <a:pt x="0" y="0"/>
                  </a:moveTo>
                  <a:lnTo>
                    <a:pt x="16891" y="8307451"/>
                  </a:lnTo>
                </a:path>
              </a:pathLst>
            </a:custGeom>
            <a:blipFill>
              <a:blip r:embed="rId3">
                <a:alphaModFix amt="0"/>
              </a:blip>
              <a:stretch>
                <a:fillRect l="-63053343" t="0" r="-63053569" b="0"/>
              </a:stretch>
            </a:blipFill>
            <a:ln w="12700" cap="sq">
              <a:solidFill>
                <a:srgbClr val="E2E8F0"/>
              </a:solidFill>
              <a:prstDash val="dash"/>
              <a:miter/>
            </a:ln>
          </p:spPr>
        </p:sp>
      </p:grpSp>
      <p:grpSp>
        <p:nvGrpSpPr>
          <p:cNvPr name="Group 16" id="16"/>
          <p:cNvGrpSpPr/>
          <p:nvPr/>
        </p:nvGrpSpPr>
        <p:grpSpPr>
          <a:xfrm rot="0">
            <a:off x="1090927" y="6120127"/>
            <a:ext cx="7693657" cy="12697"/>
            <a:chOff x="0" y="0"/>
            <a:chExt cx="10258209" cy="16929"/>
          </a:xfrm>
        </p:grpSpPr>
        <p:sp>
          <p:nvSpPr>
            <p:cNvPr name="Freeform 17" id="17"/>
            <p:cNvSpPr/>
            <p:nvPr/>
          </p:nvSpPr>
          <p:spPr>
            <a:xfrm flipH="false" flipV="false" rot="0">
              <a:off x="0" y="0"/>
              <a:ext cx="10258171" cy="16891"/>
            </a:xfrm>
            <a:custGeom>
              <a:avLst/>
              <a:gdLst/>
              <a:ahLst/>
              <a:cxnLst/>
              <a:rect r="r" b="b" t="t" l="l"/>
              <a:pathLst>
                <a:path h="16891" w="10258171">
                  <a:moveTo>
                    <a:pt x="0" y="0"/>
                  </a:moveTo>
                  <a:lnTo>
                    <a:pt x="10258171" y="16891"/>
                  </a:lnTo>
                </a:path>
              </a:pathLst>
            </a:custGeom>
            <a:blipFill>
              <a:blip r:embed="rId3">
                <a:alphaModFix amt="0"/>
              </a:blip>
              <a:stretch>
                <a:fillRect l="0" t="-11783502" r="0" b="-11783727"/>
              </a:stretch>
            </a:blipFill>
            <a:ln w="12700" cap="sq">
              <a:solidFill>
                <a:srgbClr val="E2E8F0"/>
              </a:solidFill>
              <a:prstDash val="dash"/>
              <a:miter/>
            </a:ln>
          </p:spPr>
        </p:sp>
      </p:grpSp>
      <p:grpSp>
        <p:nvGrpSpPr>
          <p:cNvPr name="Group 18" id="18"/>
          <p:cNvGrpSpPr/>
          <p:nvPr/>
        </p:nvGrpSpPr>
        <p:grpSpPr>
          <a:xfrm rot="0">
            <a:off x="1097280" y="3017520"/>
            <a:ext cx="7680960" cy="457200"/>
            <a:chOff x="0" y="0"/>
            <a:chExt cx="10241280" cy="609600"/>
          </a:xfrm>
        </p:grpSpPr>
        <p:sp>
          <p:nvSpPr>
            <p:cNvPr name="Freeform 19" id="19"/>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20" id="20"/>
            <p:cNvSpPr txBox="true"/>
            <p:nvPr/>
          </p:nvSpPr>
          <p:spPr>
            <a:xfrm>
              <a:off x="0" y="-38100"/>
              <a:ext cx="10241280" cy="647700"/>
            </a:xfrm>
            <a:prstGeom prst="rect">
              <a:avLst/>
            </a:prstGeom>
          </p:spPr>
          <p:txBody>
            <a:bodyPr anchor="ctr" rtlCol="false" tIns="0" lIns="0" bIns="0" rIns="0"/>
            <a:lstStyle/>
            <a:p>
              <a:pPr algn="ctr">
                <a:lnSpc>
                  <a:spcPts val="2160"/>
                </a:lnSpc>
              </a:pPr>
              <a:r>
                <a:rPr lang="en-US" sz="1800">
                  <a:solidFill>
                    <a:srgbClr val="2E7D52"/>
                  </a:solidFill>
                  <a:latin typeface="Calibri (MS)"/>
                  <a:ea typeface="Calibri (MS)"/>
                  <a:cs typeface="Calibri (MS)"/>
                  <a:sym typeface="Calibri (MS)"/>
                </a:rPr>
                <a:t>↑ Growth +</a:t>
              </a:r>
            </a:p>
          </p:txBody>
        </p:sp>
      </p:grpSp>
      <p:grpSp>
        <p:nvGrpSpPr>
          <p:cNvPr name="Group 21" id="21"/>
          <p:cNvGrpSpPr/>
          <p:nvPr/>
        </p:nvGrpSpPr>
        <p:grpSpPr>
          <a:xfrm rot="0">
            <a:off x="1097280" y="8778240"/>
            <a:ext cx="7680960" cy="457200"/>
            <a:chOff x="0" y="0"/>
            <a:chExt cx="10241280" cy="609600"/>
          </a:xfrm>
        </p:grpSpPr>
        <p:sp>
          <p:nvSpPr>
            <p:cNvPr name="Freeform 22" id="22"/>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23" id="23"/>
            <p:cNvSpPr txBox="true"/>
            <p:nvPr/>
          </p:nvSpPr>
          <p:spPr>
            <a:xfrm>
              <a:off x="0" y="-38100"/>
              <a:ext cx="10241280" cy="647700"/>
            </a:xfrm>
            <a:prstGeom prst="rect">
              <a:avLst/>
            </a:prstGeom>
          </p:spPr>
          <p:txBody>
            <a:bodyPr anchor="ctr" rtlCol="false" tIns="0" lIns="0" bIns="0" rIns="0"/>
            <a:lstStyle/>
            <a:p>
              <a:pPr algn="ctr">
                <a:lnSpc>
                  <a:spcPts val="2160"/>
                </a:lnSpc>
              </a:pPr>
              <a:r>
                <a:rPr lang="en-US" sz="1800">
                  <a:solidFill>
                    <a:srgbClr val="E05C45"/>
                  </a:solidFill>
                  <a:latin typeface="Calibri (MS)"/>
                  <a:ea typeface="Calibri (MS)"/>
                  <a:cs typeface="Calibri (MS)"/>
                  <a:sym typeface="Calibri (MS)"/>
                </a:rPr>
                <a:t>↓ Growth −</a:t>
              </a:r>
            </a:p>
          </p:txBody>
        </p:sp>
      </p:grpSp>
      <p:grpSp>
        <p:nvGrpSpPr>
          <p:cNvPr name="Group 24" id="24"/>
          <p:cNvGrpSpPr/>
          <p:nvPr/>
        </p:nvGrpSpPr>
        <p:grpSpPr>
          <a:xfrm rot="0">
            <a:off x="1097280" y="6254496"/>
            <a:ext cx="3291840" cy="402336"/>
            <a:chOff x="0" y="0"/>
            <a:chExt cx="4389120" cy="536448"/>
          </a:xfrm>
        </p:grpSpPr>
        <p:sp>
          <p:nvSpPr>
            <p:cNvPr name="Freeform 25" id="25"/>
            <p:cNvSpPr/>
            <p:nvPr/>
          </p:nvSpPr>
          <p:spPr>
            <a:xfrm flipH="false" flipV="false" rot="0">
              <a:off x="0" y="0"/>
              <a:ext cx="4389120" cy="536448"/>
            </a:xfrm>
            <a:custGeom>
              <a:avLst/>
              <a:gdLst/>
              <a:ahLst/>
              <a:cxnLst/>
              <a:rect r="r" b="b" t="t" l="l"/>
              <a:pathLst>
                <a:path h="536448" w="4389120">
                  <a:moveTo>
                    <a:pt x="0" y="0"/>
                  </a:moveTo>
                  <a:lnTo>
                    <a:pt x="4389120" y="0"/>
                  </a:lnTo>
                  <a:lnTo>
                    <a:pt x="4389120" y="536448"/>
                  </a:lnTo>
                  <a:lnTo>
                    <a:pt x="0" y="536448"/>
                  </a:lnTo>
                  <a:close/>
                </a:path>
              </a:pathLst>
            </a:custGeom>
            <a:blipFill>
              <a:blip r:embed="rId3">
                <a:alphaModFix amt="0"/>
              </a:blip>
              <a:stretch>
                <a:fillRect l="0" t="-109423" r="0" b="-109423"/>
              </a:stretch>
            </a:blipFill>
          </p:spPr>
        </p:sp>
        <p:sp>
          <p:nvSpPr>
            <p:cNvPr name="TextBox 26" id="26"/>
            <p:cNvSpPr txBox="true"/>
            <p:nvPr/>
          </p:nvSpPr>
          <p:spPr>
            <a:xfrm>
              <a:off x="0" y="-38100"/>
              <a:ext cx="4389120" cy="57454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Score low →</a:t>
              </a:r>
            </a:p>
          </p:txBody>
        </p:sp>
      </p:grpSp>
      <p:grpSp>
        <p:nvGrpSpPr>
          <p:cNvPr name="Group 27" id="27"/>
          <p:cNvGrpSpPr/>
          <p:nvPr/>
        </p:nvGrpSpPr>
        <p:grpSpPr>
          <a:xfrm rot="0">
            <a:off x="5120640" y="6254496"/>
            <a:ext cx="3291840" cy="402336"/>
            <a:chOff x="0" y="0"/>
            <a:chExt cx="4389120" cy="536448"/>
          </a:xfrm>
        </p:grpSpPr>
        <p:sp>
          <p:nvSpPr>
            <p:cNvPr name="Freeform 28" id="28"/>
            <p:cNvSpPr/>
            <p:nvPr/>
          </p:nvSpPr>
          <p:spPr>
            <a:xfrm flipH="false" flipV="false" rot="0">
              <a:off x="0" y="0"/>
              <a:ext cx="4389120" cy="536448"/>
            </a:xfrm>
            <a:custGeom>
              <a:avLst/>
              <a:gdLst/>
              <a:ahLst/>
              <a:cxnLst/>
              <a:rect r="r" b="b" t="t" l="l"/>
              <a:pathLst>
                <a:path h="536448" w="4389120">
                  <a:moveTo>
                    <a:pt x="0" y="0"/>
                  </a:moveTo>
                  <a:lnTo>
                    <a:pt x="4389120" y="0"/>
                  </a:lnTo>
                  <a:lnTo>
                    <a:pt x="4389120" y="536448"/>
                  </a:lnTo>
                  <a:lnTo>
                    <a:pt x="0" y="536448"/>
                  </a:lnTo>
                  <a:close/>
                </a:path>
              </a:pathLst>
            </a:custGeom>
            <a:blipFill>
              <a:blip r:embed="rId3">
                <a:alphaModFix amt="0"/>
              </a:blip>
              <a:stretch>
                <a:fillRect l="0" t="-109423" r="0" b="-109423"/>
              </a:stretch>
            </a:blipFill>
          </p:spPr>
        </p:sp>
        <p:sp>
          <p:nvSpPr>
            <p:cNvPr name="TextBox 29" id="29"/>
            <p:cNvSpPr txBox="true"/>
            <p:nvPr/>
          </p:nvSpPr>
          <p:spPr>
            <a:xfrm>
              <a:off x="0" y="-38100"/>
              <a:ext cx="4389120" cy="57454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 Score high</a:t>
              </a:r>
            </a:p>
          </p:txBody>
        </p:sp>
      </p:grpSp>
      <p:grpSp>
        <p:nvGrpSpPr>
          <p:cNvPr name="Group 30" id="30"/>
          <p:cNvGrpSpPr/>
          <p:nvPr/>
        </p:nvGrpSpPr>
        <p:grpSpPr>
          <a:xfrm rot="0">
            <a:off x="1084583" y="3004823"/>
            <a:ext cx="3865883" cy="3134363"/>
            <a:chOff x="0" y="0"/>
            <a:chExt cx="5154511" cy="4179151"/>
          </a:xfrm>
        </p:grpSpPr>
        <p:sp>
          <p:nvSpPr>
            <p:cNvPr name="Freeform 31" id="31"/>
            <p:cNvSpPr/>
            <p:nvPr/>
          </p:nvSpPr>
          <p:spPr>
            <a:xfrm flipH="false" flipV="false" rot="0">
              <a:off x="0" y="0"/>
              <a:ext cx="5154549" cy="4179189"/>
            </a:xfrm>
            <a:custGeom>
              <a:avLst/>
              <a:gdLst/>
              <a:ahLst/>
              <a:cxnLst/>
              <a:rect r="r" b="b" t="t" l="l"/>
              <a:pathLst>
                <a:path h="4179189" w="5154549">
                  <a:moveTo>
                    <a:pt x="0" y="0"/>
                  </a:moveTo>
                  <a:lnTo>
                    <a:pt x="5154549" y="0"/>
                  </a:lnTo>
                  <a:lnTo>
                    <a:pt x="5154549" y="4179189"/>
                  </a:lnTo>
                  <a:lnTo>
                    <a:pt x="0" y="4179189"/>
                  </a:lnTo>
                  <a:close/>
                </a:path>
              </a:pathLst>
            </a:custGeom>
            <a:solidFill>
              <a:srgbClr val="D1FAE5">
                <a:alpha val="35686"/>
              </a:srgbClr>
            </a:solidFill>
            <a:ln w="25400" cap="sq">
              <a:solidFill>
                <a:srgbClr val="000000"/>
              </a:solidFill>
              <a:prstDash val="solid"/>
              <a:miter/>
            </a:ln>
          </p:spPr>
        </p:sp>
      </p:grpSp>
      <p:grpSp>
        <p:nvGrpSpPr>
          <p:cNvPr name="Group 32" id="32"/>
          <p:cNvGrpSpPr/>
          <p:nvPr/>
        </p:nvGrpSpPr>
        <p:grpSpPr>
          <a:xfrm rot="0">
            <a:off x="1188720" y="3108960"/>
            <a:ext cx="3657600" cy="2743200"/>
            <a:chOff x="0" y="0"/>
            <a:chExt cx="4876800" cy="3657600"/>
          </a:xfrm>
        </p:grpSpPr>
        <p:sp>
          <p:nvSpPr>
            <p:cNvPr name="Freeform 33" id="33"/>
            <p:cNvSpPr/>
            <p:nvPr/>
          </p:nvSpPr>
          <p:spPr>
            <a:xfrm flipH="false" flipV="false" rot="0">
              <a:off x="0" y="0"/>
              <a:ext cx="4876800" cy="3657600"/>
            </a:xfrm>
            <a:custGeom>
              <a:avLst/>
              <a:gdLst/>
              <a:ahLst/>
              <a:cxnLst/>
              <a:rect r="r" b="b" t="t" l="l"/>
              <a:pathLst>
                <a:path h="3657600" w="4876800">
                  <a:moveTo>
                    <a:pt x="0" y="0"/>
                  </a:moveTo>
                  <a:lnTo>
                    <a:pt x="4876800" y="0"/>
                  </a:lnTo>
                  <a:lnTo>
                    <a:pt x="4876800" y="3657600"/>
                  </a:lnTo>
                  <a:lnTo>
                    <a:pt x="0" y="3657600"/>
                  </a:lnTo>
                  <a:close/>
                </a:path>
              </a:pathLst>
            </a:custGeom>
            <a:blipFill>
              <a:blip r:embed="rId3">
                <a:alphaModFix amt="0"/>
              </a:blip>
              <a:stretch>
                <a:fillRect l="-46227" t="0" r="-46227" b="0"/>
              </a:stretch>
            </a:blipFill>
          </p:spPr>
        </p:sp>
        <p:sp>
          <p:nvSpPr>
            <p:cNvPr name="TextBox 34" id="34"/>
            <p:cNvSpPr txBox="true"/>
            <p:nvPr/>
          </p:nvSpPr>
          <p:spPr>
            <a:xfrm>
              <a:off x="0" y="-104775"/>
              <a:ext cx="4876800" cy="3762375"/>
            </a:xfrm>
            <a:prstGeom prst="rect">
              <a:avLst/>
            </a:prstGeom>
          </p:spPr>
          <p:txBody>
            <a:bodyPr anchor="ctr" rtlCol="false" tIns="0" lIns="0" bIns="0" rIns="0"/>
            <a:lstStyle/>
            <a:p>
              <a:pPr algn="l">
                <a:lnSpc>
                  <a:spcPts val="2808"/>
                </a:lnSpc>
              </a:pPr>
              <a:r>
                <a:rPr lang="en-US" sz="1800">
                  <a:solidFill>
                    <a:srgbClr val="2E7D52"/>
                  </a:solidFill>
                  <a:latin typeface="Calibri (MS)"/>
                  <a:ea typeface="Calibri (MS)"/>
                  <a:cs typeface="Calibri (MS)"/>
                  <a:sym typeface="Calibri (MS)"/>
                </a:rPr>
                <a:t>BUILD MODE</a:t>
              </a:r>
            </a:p>
            <a:p>
              <a:pPr algn="l">
                <a:lnSpc>
                  <a:spcPts val="2808"/>
                </a:lnSpc>
              </a:pPr>
              <a:r>
                <a:rPr lang="en-US" sz="1800">
                  <a:solidFill>
                    <a:srgbClr val="2E7D52"/>
                  </a:solidFill>
                  <a:latin typeface="Calibri (MS)"/>
                  <a:ea typeface="Calibri (MS)"/>
                  <a:cs typeface="Calibri (MS)"/>
                  <a:sym typeface="Calibri (MS)"/>
                </a:rPr>
                <a:t>UK · Germany · Belgium</a:t>
              </a:r>
            </a:p>
            <a:p>
              <a:pPr algn="l">
                <a:lnSpc>
                  <a:spcPts val="2808"/>
                </a:lnSpc>
              </a:pPr>
              <a:r>
                <a:rPr lang="en-US" sz="1800">
                  <a:solidFill>
                    <a:srgbClr val="2E7D52"/>
                  </a:solidFill>
                  <a:latin typeface="Calibri (MS)"/>
                  <a:ea typeface="Calibri (MS)"/>
                  <a:cs typeface="Calibri (MS)"/>
                  <a:sym typeface="Calibri (MS)"/>
                </a:rPr>
                <a:t>Score low, rising fast</a:t>
              </a:r>
            </a:p>
          </p:txBody>
        </p:sp>
      </p:grpSp>
      <p:grpSp>
        <p:nvGrpSpPr>
          <p:cNvPr name="Group 35" id="35"/>
          <p:cNvGrpSpPr/>
          <p:nvPr/>
        </p:nvGrpSpPr>
        <p:grpSpPr>
          <a:xfrm rot="0">
            <a:off x="4925063" y="6113783"/>
            <a:ext cx="3865883" cy="3134363"/>
            <a:chOff x="0" y="0"/>
            <a:chExt cx="5154511" cy="4179151"/>
          </a:xfrm>
        </p:grpSpPr>
        <p:sp>
          <p:nvSpPr>
            <p:cNvPr name="Freeform 36" id="36"/>
            <p:cNvSpPr/>
            <p:nvPr/>
          </p:nvSpPr>
          <p:spPr>
            <a:xfrm flipH="false" flipV="false" rot="0">
              <a:off x="0" y="0"/>
              <a:ext cx="5154549" cy="4179189"/>
            </a:xfrm>
            <a:custGeom>
              <a:avLst/>
              <a:gdLst/>
              <a:ahLst/>
              <a:cxnLst/>
              <a:rect r="r" b="b" t="t" l="l"/>
              <a:pathLst>
                <a:path h="4179189" w="5154549">
                  <a:moveTo>
                    <a:pt x="0" y="0"/>
                  </a:moveTo>
                  <a:lnTo>
                    <a:pt x="5154549" y="0"/>
                  </a:lnTo>
                  <a:lnTo>
                    <a:pt x="5154549" y="4179189"/>
                  </a:lnTo>
                  <a:lnTo>
                    <a:pt x="0" y="4179189"/>
                  </a:lnTo>
                  <a:close/>
                </a:path>
              </a:pathLst>
            </a:custGeom>
            <a:solidFill>
              <a:srgbClr val="FEE2E2">
                <a:alpha val="35686"/>
              </a:srgbClr>
            </a:solidFill>
            <a:ln w="25400" cap="sq">
              <a:solidFill>
                <a:srgbClr val="000000"/>
              </a:solidFill>
              <a:prstDash val="solid"/>
              <a:miter/>
            </a:ln>
          </p:spPr>
        </p:sp>
      </p:grpSp>
      <p:grpSp>
        <p:nvGrpSpPr>
          <p:cNvPr name="Group 37" id="37"/>
          <p:cNvGrpSpPr/>
          <p:nvPr/>
        </p:nvGrpSpPr>
        <p:grpSpPr>
          <a:xfrm rot="0">
            <a:off x="5029200" y="6217920"/>
            <a:ext cx="3657600" cy="2743200"/>
            <a:chOff x="0" y="0"/>
            <a:chExt cx="4876800" cy="3657600"/>
          </a:xfrm>
        </p:grpSpPr>
        <p:sp>
          <p:nvSpPr>
            <p:cNvPr name="Freeform 38" id="38"/>
            <p:cNvSpPr/>
            <p:nvPr/>
          </p:nvSpPr>
          <p:spPr>
            <a:xfrm flipH="false" flipV="false" rot="0">
              <a:off x="0" y="0"/>
              <a:ext cx="4876800" cy="3657600"/>
            </a:xfrm>
            <a:custGeom>
              <a:avLst/>
              <a:gdLst/>
              <a:ahLst/>
              <a:cxnLst/>
              <a:rect r="r" b="b" t="t" l="l"/>
              <a:pathLst>
                <a:path h="3657600" w="4876800">
                  <a:moveTo>
                    <a:pt x="0" y="0"/>
                  </a:moveTo>
                  <a:lnTo>
                    <a:pt x="4876800" y="0"/>
                  </a:lnTo>
                  <a:lnTo>
                    <a:pt x="4876800" y="3657600"/>
                  </a:lnTo>
                  <a:lnTo>
                    <a:pt x="0" y="3657600"/>
                  </a:lnTo>
                  <a:close/>
                </a:path>
              </a:pathLst>
            </a:custGeom>
            <a:blipFill>
              <a:blip r:embed="rId3">
                <a:alphaModFix amt="0"/>
              </a:blip>
              <a:stretch>
                <a:fillRect l="-46227" t="0" r="-46227" b="0"/>
              </a:stretch>
            </a:blipFill>
          </p:spPr>
        </p:sp>
        <p:sp>
          <p:nvSpPr>
            <p:cNvPr name="TextBox 39" id="39"/>
            <p:cNvSpPr txBox="true"/>
            <p:nvPr/>
          </p:nvSpPr>
          <p:spPr>
            <a:xfrm>
              <a:off x="0" y="-104775"/>
              <a:ext cx="4876800" cy="3762375"/>
            </a:xfrm>
            <a:prstGeom prst="rect">
              <a:avLst/>
            </a:prstGeom>
          </p:spPr>
          <p:txBody>
            <a:bodyPr anchor="ctr" rtlCol="false" tIns="0" lIns="0" bIns="0" rIns="0"/>
            <a:lstStyle/>
            <a:p>
              <a:pPr algn="l">
                <a:lnSpc>
                  <a:spcPts val="2808"/>
                </a:lnSpc>
              </a:pPr>
              <a:r>
                <a:rPr lang="en-US" sz="1800">
                  <a:solidFill>
                    <a:srgbClr val="B91C1C"/>
                  </a:solidFill>
                  <a:latin typeface="Calibri (MS)"/>
                  <a:ea typeface="Calibri (MS)"/>
                  <a:cs typeface="Calibri (MS)"/>
                  <a:sym typeface="Calibri (MS)"/>
                </a:rPr>
                <a:t>HARVEST MODE</a:t>
              </a:r>
            </a:p>
            <a:p>
              <a:pPr algn="l">
                <a:lnSpc>
                  <a:spcPts val="2808"/>
                </a:lnSpc>
              </a:pPr>
              <a:r>
                <a:rPr lang="en-US" sz="1800">
                  <a:solidFill>
                    <a:srgbClr val="B91C1C"/>
                  </a:solidFill>
                  <a:latin typeface="Calibri (MS)"/>
                  <a:ea typeface="Calibri (MS)"/>
                  <a:cs typeface="Calibri (MS)"/>
                  <a:sym typeface="Calibri (MS)"/>
                </a:rPr>
                <a:t>Thailand · Romania · NZ</a:t>
              </a:r>
            </a:p>
            <a:p>
              <a:pPr algn="l">
                <a:lnSpc>
                  <a:spcPts val="2808"/>
                </a:lnSpc>
              </a:pPr>
              <a:r>
                <a:rPr lang="en-US" sz="1800">
                  <a:solidFill>
                    <a:srgbClr val="B91C1C"/>
                  </a:solidFill>
                  <a:latin typeface="Calibri (MS)"/>
                  <a:ea typeface="Calibri (MS)"/>
                  <a:cs typeface="Calibri (MS)"/>
                  <a:sym typeface="Calibri (MS)"/>
                </a:rPr>
                <a:t>High score, now declining</a:t>
              </a:r>
            </a:p>
          </p:txBody>
        </p:sp>
      </p:grpSp>
      <p:grpSp>
        <p:nvGrpSpPr>
          <p:cNvPr name="Group 40" id="40"/>
          <p:cNvGrpSpPr/>
          <p:nvPr/>
        </p:nvGrpSpPr>
        <p:grpSpPr>
          <a:xfrm rot="0">
            <a:off x="9320527" y="2919727"/>
            <a:ext cx="8425177" cy="6413497"/>
            <a:chOff x="0" y="0"/>
            <a:chExt cx="11233569" cy="8551329"/>
          </a:xfrm>
        </p:grpSpPr>
        <p:sp>
          <p:nvSpPr>
            <p:cNvPr name="Freeform 41" id="41"/>
            <p:cNvSpPr/>
            <p:nvPr/>
          </p:nvSpPr>
          <p:spPr>
            <a:xfrm flipH="false" flipV="false" rot="0">
              <a:off x="0" y="0"/>
              <a:ext cx="11233531" cy="8551291"/>
            </a:xfrm>
            <a:custGeom>
              <a:avLst/>
              <a:gdLst/>
              <a:ahLst/>
              <a:cxnLst/>
              <a:rect r="r" b="b" t="t" l="l"/>
              <a:pathLst>
                <a:path h="8551291" w="11233531">
                  <a:moveTo>
                    <a:pt x="0" y="0"/>
                  </a:moveTo>
                  <a:lnTo>
                    <a:pt x="11233531" y="0"/>
                  </a:lnTo>
                  <a:lnTo>
                    <a:pt x="11233531" y="8551291"/>
                  </a:lnTo>
                  <a:lnTo>
                    <a:pt x="0" y="8551291"/>
                  </a:lnTo>
                  <a:close/>
                </a:path>
              </a:pathLst>
            </a:custGeom>
            <a:solidFill>
              <a:srgbClr val="FFFFFF"/>
            </a:solidFill>
            <a:ln w="12700" cap="sq">
              <a:solidFill>
                <a:srgbClr val="E2E8F0"/>
              </a:solidFill>
              <a:prstDash val="solid"/>
              <a:miter/>
            </a:ln>
          </p:spPr>
        </p:sp>
      </p:grpSp>
      <p:grpSp>
        <p:nvGrpSpPr>
          <p:cNvPr name="Group 42" id="42"/>
          <p:cNvGrpSpPr/>
          <p:nvPr/>
        </p:nvGrpSpPr>
        <p:grpSpPr>
          <a:xfrm rot="0">
            <a:off x="9509760" y="3108960"/>
            <a:ext cx="8046720" cy="548640"/>
            <a:chOff x="0" y="0"/>
            <a:chExt cx="10728960" cy="731520"/>
          </a:xfrm>
        </p:grpSpPr>
        <p:sp>
          <p:nvSpPr>
            <p:cNvPr name="Freeform 43" id="43"/>
            <p:cNvSpPr/>
            <p:nvPr/>
          </p:nvSpPr>
          <p:spPr>
            <a:xfrm flipH="false" flipV="false" rot="0">
              <a:off x="0" y="0"/>
              <a:ext cx="10728960" cy="731520"/>
            </a:xfrm>
            <a:custGeom>
              <a:avLst/>
              <a:gdLst/>
              <a:ahLst/>
              <a:cxnLst/>
              <a:rect r="r" b="b" t="t" l="l"/>
              <a:pathLst>
                <a:path h="731520" w="10728960">
                  <a:moveTo>
                    <a:pt x="0" y="0"/>
                  </a:moveTo>
                  <a:lnTo>
                    <a:pt x="10728960" y="0"/>
                  </a:lnTo>
                  <a:lnTo>
                    <a:pt x="10728960" y="731520"/>
                  </a:lnTo>
                  <a:lnTo>
                    <a:pt x="0" y="731520"/>
                  </a:lnTo>
                  <a:close/>
                </a:path>
              </a:pathLst>
            </a:custGeom>
            <a:blipFill>
              <a:blip r:embed="rId3">
                <a:alphaModFix amt="0"/>
              </a:blip>
              <a:stretch>
                <a:fillRect l="0" t="-235780" r="0" b="-235780"/>
              </a:stretch>
            </a:blipFill>
          </p:spPr>
        </p:sp>
        <p:sp>
          <p:nvSpPr>
            <p:cNvPr name="TextBox 44" id="44"/>
            <p:cNvSpPr txBox="true"/>
            <p:nvPr/>
          </p:nvSpPr>
          <p:spPr>
            <a:xfrm>
              <a:off x="0" y="-38100"/>
              <a:ext cx="10728960" cy="769620"/>
            </a:xfrm>
            <a:prstGeom prst="rect">
              <a:avLst/>
            </a:prstGeom>
          </p:spPr>
          <p:txBody>
            <a:bodyPr anchor="ctr" rtlCol="false" tIns="0" lIns="0" bIns="0" rIns="0"/>
            <a:lstStyle/>
            <a:p>
              <a:pPr algn="l">
                <a:lnSpc>
                  <a:spcPts val="2400"/>
                </a:lnSpc>
              </a:pPr>
              <a:r>
                <a:rPr lang="en-US" sz="2000" b="true">
                  <a:solidFill>
                    <a:srgbClr val="1E293B"/>
                  </a:solidFill>
                  <a:latin typeface="Calibri (MS) Bold"/>
                  <a:ea typeface="Calibri (MS) Bold"/>
                  <a:cs typeface="Calibri (MS) Bold"/>
                  <a:sym typeface="Calibri (MS) Bold"/>
                </a:rPr>
                <a:t>Lifecycle score vs weekly growth by country</a:t>
              </a:r>
            </a:p>
          </p:txBody>
        </p:sp>
      </p:grpSp>
      <p:grpSp>
        <p:nvGrpSpPr>
          <p:cNvPr name="Group 45" id="45"/>
          <p:cNvGrpSpPr/>
          <p:nvPr/>
        </p:nvGrpSpPr>
        <p:grpSpPr>
          <a:xfrm rot="0">
            <a:off x="9509760" y="3840480"/>
            <a:ext cx="3657600" cy="640080"/>
            <a:chOff x="0" y="0"/>
            <a:chExt cx="4876800" cy="853440"/>
          </a:xfrm>
        </p:grpSpPr>
        <p:sp>
          <p:nvSpPr>
            <p:cNvPr name="Freeform 46" id="46"/>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47" id="47"/>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United Kingdom</a:t>
              </a:r>
            </a:p>
          </p:txBody>
        </p:sp>
      </p:grpSp>
      <p:grpSp>
        <p:nvGrpSpPr>
          <p:cNvPr name="Group 48" id="48"/>
          <p:cNvGrpSpPr/>
          <p:nvPr/>
        </p:nvGrpSpPr>
        <p:grpSpPr>
          <a:xfrm rot="0">
            <a:off x="12893040" y="3840480"/>
            <a:ext cx="1645920" cy="640080"/>
            <a:chOff x="0" y="0"/>
            <a:chExt cx="2194560" cy="853440"/>
          </a:xfrm>
        </p:grpSpPr>
        <p:sp>
          <p:nvSpPr>
            <p:cNvPr name="Freeform 49" id="49"/>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50" id="50"/>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20.5</a:t>
              </a:r>
            </a:p>
          </p:txBody>
        </p:sp>
      </p:grpSp>
      <p:grpSp>
        <p:nvGrpSpPr>
          <p:cNvPr name="Group 51" id="51"/>
          <p:cNvGrpSpPr/>
          <p:nvPr/>
        </p:nvGrpSpPr>
        <p:grpSpPr>
          <a:xfrm rot="0">
            <a:off x="14630400" y="3840480"/>
            <a:ext cx="1097280" cy="640080"/>
            <a:chOff x="0" y="0"/>
            <a:chExt cx="1463040" cy="853440"/>
          </a:xfrm>
        </p:grpSpPr>
        <p:sp>
          <p:nvSpPr>
            <p:cNvPr name="Freeform 52" id="52"/>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53" id="53"/>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2E7D52"/>
                  </a:solidFill>
                  <a:latin typeface="Calibri (MS) Bold"/>
                  <a:ea typeface="Calibri (MS) Bold"/>
                  <a:cs typeface="Calibri (MS) Bold"/>
                  <a:sym typeface="Calibri (MS) Bold"/>
                </a:rPr>
                <a:t>+0.37</a:t>
              </a:r>
            </a:p>
          </p:txBody>
        </p:sp>
      </p:grpSp>
      <p:grpSp>
        <p:nvGrpSpPr>
          <p:cNvPr name="Group 54" id="54"/>
          <p:cNvGrpSpPr/>
          <p:nvPr/>
        </p:nvGrpSpPr>
        <p:grpSpPr>
          <a:xfrm rot="0">
            <a:off x="15727680" y="3913632"/>
            <a:ext cx="1792224" cy="475488"/>
            <a:chOff x="0" y="0"/>
            <a:chExt cx="2389632" cy="633984"/>
          </a:xfrm>
        </p:grpSpPr>
        <p:sp>
          <p:nvSpPr>
            <p:cNvPr name="Freeform 55" id="55"/>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56" id="56"/>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2E7D52"/>
                  </a:solidFill>
                  <a:latin typeface="Calibri (MS) Bold"/>
                  <a:ea typeface="Calibri (MS) Bold"/>
                  <a:cs typeface="Calibri (MS) Bold"/>
                  <a:sym typeface="Calibri (MS) Bold"/>
                </a:rPr>
                <a:t>BUILD</a:t>
              </a:r>
            </a:p>
          </p:txBody>
        </p:sp>
      </p:grpSp>
      <p:grpSp>
        <p:nvGrpSpPr>
          <p:cNvPr name="Group 57" id="57"/>
          <p:cNvGrpSpPr/>
          <p:nvPr/>
        </p:nvGrpSpPr>
        <p:grpSpPr>
          <a:xfrm rot="0">
            <a:off x="9509760" y="4718304"/>
            <a:ext cx="3657600" cy="640080"/>
            <a:chOff x="0" y="0"/>
            <a:chExt cx="4876800" cy="853440"/>
          </a:xfrm>
        </p:grpSpPr>
        <p:sp>
          <p:nvSpPr>
            <p:cNvPr name="Freeform 58" id="58"/>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59" id="59"/>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Germany</a:t>
              </a:r>
            </a:p>
          </p:txBody>
        </p:sp>
      </p:grpSp>
      <p:grpSp>
        <p:nvGrpSpPr>
          <p:cNvPr name="Group 60" id="60"/>
          <p:cNvGrpSpPr/>
          <p:nvPr/>
        </p:nvGrpSpPr>
        <p:grpSpPr>
          <a:xfrm rot="0">
            <a:off x="12893040" y="4718304"/>
            <a:ext cx="1645920" cy="640080"/>
            <a:chOff x="0" y="0"/>
            <a:chExt cx="2194560" cy="853440"/>
          </a:xfrm>
        </p:grpSpPr>
        <p:sp>
          <p:nvSpPr>
            <p:cNvPr name="Freeform 61" id="61"/>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62" id="62"/>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25.0</a:t>
              </a:r>
            </a:p>
          </p:txBody>
        </p:sp>
      </p:grpSp>
      <p:grpSp>
        <p:nvGrpSpPr>
          <p:cNvPr name="Group 63" id="63"/>
          <p:cNvGrpSpPr/>
          <p:nvPr/>
        </p:nvGrpSpPr>
        <p:grpSpPr>
          <a:xfrm rot="0">
            <a:off x="14630400" y="4718304"/>
            <a:ext cx="1097280" cy="640080"/>
            <a:chOff x="0" y="0"/>
            <a:chExt cx="1463040" cy="853440"/>
          </a:xfrm>
        </p:grpSpPr>
        <p:sp>
          <p:nvSpPr>
            <p:cNvPr name="Freeform 64" id="64"/>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65" id="65"/>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2E7D52"/>
                  </a:solidFill>
                  <a:latin typeface="Calibri (MS) Bold"/>
                  <a:ea typeface="Calibri (MS) Bold"/>
                  <a:cs typeface="Calibri (MS) Bold"/>
                  <a:sym typeface="Calibri (MS) Bold"/>
                </a:rPr>
                <a:t>+0.27</a:t>
              </a:r>
            </a:p>
          </p:txBody>
        </p:sp>
      </p:grpSp>
      <p:grpSp>
        <p:nvGrpSpPr>
          <p:cNvPr name="Group 66" id="66"/>
          <p:cNvGrpSpPr/>
          <p:nvPr/>
        </p:nvGrpSpPr>
        <p:grpSpPr>
          <a:xfrm rot="0">
            <a:off x="15727680" y="4791456"/>
            <a:ext cx="1792224" cy="475488"/>
            <a:chOff x="0" y="0"/>
            <a:chExt cx="2389632" cy="633984"/>
          </a:xfrm>
        </p:grpSpPr>
        <p:sp>
          <p:nvSpPr>
            <p:cNvPr name="Freeform 67" id="67"/>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68" id="68"/>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2E7D52"/>
                  </a:solidFill>
                  <a:latin typeface="Calibri (MS) Bold"/>
                  <a:ea typeface="Calibri (MS) Bold"/>
                  <a:cs typeface="Calibri (MS) Bold"/>
                  <a:sym typeface="Calibri (MS) Bold"/>
                </a:rPr>
                <a:t>BUILD</a:t>
              </a:r>
            </a:p>
          </p:txBody>
        </p:sp>
      </p:grpSp>
      <p:grpSp>
        <p:nvGrpSpPr>
          <p:cNvPr name="Group 69" id="69"/>
          <p:cNvGrpSpPr/>
          <p:nvPr/>
        </p:nvGrpSpPr>
        <p:grpSpPr>
          <a:xfrm rot="0">
            <a:off x="9509760" y="5596128"/>
            <a:ext cx="3657600" cy="640080"/>
            <a:chOff x="0" y="0"/>
            <a:chExt cx="4876800" cy="853440"/>
          </a:xfrm>
        </p:grpSpPr>
        <p:sp>
          <p:nvSpPr>
            <p:cNvPr name="Freeform 70" id="70"/>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71" id="71"/>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Australia</a:t>
              </a:r>
            </a:p>
          </p:txBody>
        </p:sp>
      </p:grpSp>
      <p:grpSp>
        <p:nvGrpSpPr>
          <p:cNvPr name="Group 72" id="72"/>
          <p:cNvGrpSpPr/>
          <p:nvPr/>
        </p:nvGrpSpPr>
        <p:grpSpPr>
          <a:xfrm rot="0">
            <a:off x="12893040" y="5596128"/>
            <a:ext cx="1645920" cy="640080"/>
            <a:chOff x="0" y="0"/>
            <a:chExt cx="2194560" cy="853440"/>
          </a:xfrm>
        </p:grpSpPr>
        <p:sp>
          <p:nvSpPr>
            <p:cNvPr name="Freeform 73" id="73"/>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74" id="74"/>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28.3</a:t>
              </a:r>
            </a:p>
          </p:txBody>
        </p:sp>
      </p:grpSp>
      <p:grpSp>
        <p:nvGrpSpPr>
          <p:cNvPr name="Group 75" id="75"/>
          <p:cNvGrpSpPr/>
          <p:nvPr/>
        </p:nvGrpSpPr>
        <p:grpSpPr>
          <a:xfrm rot="0">
            <a:off x="14630400" y="5596128"/>
            <a:ext cx="1097280" cy="640080"/>
            <a:chOff x="0" y="0"/>
            <a:chExt cx="1463040" cy="853440"/>
          </a:xfrm>
        </p:grpSpPr>
        <p:sp>
          <p:nvSpPr>
            <p:cNvPr name="Freeform 76" id="76"/>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77" id="77"/>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2E7D52"/>
                  </a:solidFill>
                  <a:latin typeface="Calibri (MS) Bold"/>
                  <a:ea typeface="Calibri (MS) Bold"/>
                  <a:cs typeface="Calibri (MS) Bold"/>
                  <a:sym typeface="Calibri (MS) Bold"/>
                </a:rPr>
                <a:t>+0.17</a:t>
              </a:r>
            </a:p>
          </p:txBody>
        </p:sp>
      </p:grpSp>
      <p:grpSp>
        <p:nvGrpSpPr>
          <p:cNvPr name="Group 78" id="78"/>
          <p:cNvGrpSpPr/>
          <p:nvPr/>
        </p:nvGrpSpPr>
        <p:grpSpPr>
          <a:xfrm rot="0">
            <a:off x="15727680" y="5669280"/>
            <a:ext cx="1792224" cy="475488"/>
            <a:chOff x="0" y="0"/>
            <a:chExt cx="2389632" cy="633984"/>
          </a:xfrm>
        </p:grpSpPr>
        <p:sp>
          <p:nvSpPr>
            <p:cNvPr name="Freeform 79" id="79"/>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80" id="80"/>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2E7D52"/>
                  </a:solidFill>
                  <a:latin typeface="Calibri (MS) Bold"/>
                  <a:ea typeface="Calibri (MS) Bold"/>
                  <a:cs typeface="Calibri (MS) Bold"/>
                  <a:sym typeface="Calibri (MS) Bold"/>
                </a:rPr>
                <a:t>BUILD</a:t>
              </a:r>
            </a:p>
          </p:txBody>
        </p:sp>
      </p:grpSp>
      <p:grpSp>
        <p:nvGrpSpPr>
          <p:cNvPr name="Group 81" id="81"/>
          <p:cNvGrpSpPr/>
          <p:nvPr/>
        </p:nvGrpSpPr>
        <p:grpSpPr>
          <a:xfrm rot="0">
            <a:off x="9509760" y="6473952"/>
            <a:ext cx="3657600" cy="640080"/>
            <a:chOff x="0" y="0"/>
            <a:chExt cx="4876800" cy="853440"/>
          </a:xfrm>
        </p:grpSpPr>
        <p:sp>
          <p:nvSpPr>
            <p:cNvPr name="Freeform 82" id="82"/>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83" id="83"/>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Thailand</a:t>
              </a:r>
            </a:p>
          </p:txBody>
        </p:sp>
      </p:grpSp>
      <p:grpSp>
        <p:nvGrpSpPr>
          <p:cNvPr name="Group 84" id="84"/>
          <p:cNvGrpSpPr/>
          <p:nvPr/>
        </p:nvGrpSpPr>
        <p:grpSpPr>
          <a:xfrm rot="0">
            <a:off x="12893040" y="6473952"/>
            <a:ext cx="1645920" cy="640080"/>
            <a:chOff x="0" y="0"/>
            <a:chExt cx="2194560" cy="853440"/>
          </a:xfrm>
        </p:grpSpPr>
        <p:sp>
          <p:nvSpPr>
            <p:cNvPr name="Freeform 85" id="85"/>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86" id="86"/>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52.0</a:t>
              </a:r>
            </a:p>
          </p:txBody>
        </p:sp>
      </p:grpSp>
      <p:grpSp>
        <p:nvGrpSpPr>
          <p:cNvPr name="Group 87" id="87"/>
          <p:cNvGrpSpPr/>
          <p:nvPr/>
        </p:nvGrpSpPr>
        <p:grpSpPr>
          <a:xfrm rot="0">
            <a:off x="14630400" y="6473952"/>
            <a:ext cx="1097280" cy="640080"/>
            <a:chOff x="0" y="0"/>
            <a:chExt cx="1463040" cy="853440"/>
          </a:xfrm>
        </p:grpSpPr>
        <p:sp>
          <p:nvSpPr>
            <p:cNvPr name="Freeform 88" id="88"/>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89" id="89"/>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B91C1C"/>
                  </a:solidFill>
                  <a:latin typeface="Calibri (MS) Bold"/>
                  <a:ea typeface="Calibri (MS) Bold"/>
                  <a:cs typeface="Calibri (MS) Bold"/>
                  <a:sym typeface="Calibri (MS) Bold"/>
                </a:rPr>
                <a:t>−0.17</a:t>
              </a:r>
            </a:p>
          </p:txBody>
        </p:sp>
      </p:grpSp>
      <p:grpSp>
        <p:nvGrpSpPr>
          <p:cNvPr name="Group 90" id="90"/>
          <p:cNvGrpSpPr/>
          <p:nvPr/>
        </p:nvGrpSpPr>
        <p:grpSpPr>
          <a:xfrm rot="0">
            <a:off x="15727680" y="6547104"/>
            <a:ext cx="1792224" cy="475488"/>
            <a:chOff x="0" y="0"/>
            <a:chExt cx="2389632" cy="633984"/>
          </a:xfrm>
        </p:grpSpPr>
        <p:sp>
          <p:nvSpPr>
            <p:cNvPr name="Freeform 91" id="91"/>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92" id="92"/>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B91C1C"/>
                  </a:solidFill>
                  <a:latin typeface="Calibri (MS) Bold"/>
                  <a:ea typeface="Calibri (MS) Bold"/>
                  <a:cs typeface="Calibri (MS) Bold"/>
                  <a:sym typeface="Calibri (MS) Bold"/>
                </a:rPr>
                <a:t>HARVEST</a:t>
              </a:r>
            </a:p>
          </p:txBody>
        </p:sp>
      </p:grpSp>
      <p:grpSp>
        <p:nvGrpSpPr>
          <p:cNvPr name="Group 93" id="93"/>
          <p:cNvGrpSpPr/>
          <p:nvPr/>
        </p:nvGrpSpPr>
        <p:grpSpPr>
          <a:xfrm rot="0">
            <a:off x="9509760" y="7351776"/>
            <a:ext cx="3657600" cy="640080"/>
            <a:chOff x="0" y="0"/>
            <a:chExt cx="4876800" cy="853440"/>
          </a:xfrm>
        </p:grpSpPr>
        <p:sp>
          <p:nvSpPr>
            <p:cNvPr name="Freeform 94" id="94"/>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95" id="95"/>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Romania</a:t>
              </a:r>
            </a:p>
          </p:txBody>
        </p:sp>
      </p:grpSp>
      <p:grpSp>
        <p:nvGrpSpPr>
          <p:cNvPr name="Group 96" id="96"/>
          <p:cNvGrpSpPr/>
          <p:nvPr/>
        </p:nvGrpSpPr>
        <p:grpSpPr>
          <a:xfrm rot="0">
            <a:off x="12893040" y="7351776"/>
            <a:ext cx="1645920" cy="640080"/>
            <a:chOff x="0" y="0"/>
            <a:chExt cx="2194560" cy="853440"/>
          </a:xfrm>
        </p:grpSpPr>
        <p:sp>
          <p:nvSpPr>
            <p:cNvPr name="Freeform 97" id="97"/>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98" id="98"/>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50.8</a:t>
              </a:r>
            </a:p>
          </p:txBody>
        </p:sp>
      </p:grpSp>
      <p:grpSp>
        <p:nvGrpSpPr>
          <p:cNvPr name="Group 99" id="99"/>
          <p:cNvGrpSpPr/>
          <p:nvPr/>
        </p:nvGrpSpPr>
        <p:grpSpPr>
          <a:xfrm rot="0">
            <a:off x="14630400" y="7351776"/>
            <a:ext cx="1097280" cy="640080"/>
            <a:chOff x="0" y="0"/>
            <a:chExt cx="1463040" cy="853440"/>
          </a:xfrm>
        </p:grpSpPr>
        <p:sp>
          <p:nvSpPr>
            <p:cNvPr name="Freeform 100" id="100"/>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101" id="101"/>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B91C1C"/>
                  </a:solidFill>
                  <a:latin typeface="Calibri (MS) Bold"/>
                  <a:ea typeface="Calibri (MS) Bold"/>
                  <a:cs typeface="Calibri (MS) Bold"/>
                  <a:sym typeface="Calibri (MS) Bold"/>
                </a:rPr>
                <a:t>−0.23</a:t>
              </a:r>
            </a:p>
          </p:txBody>
        </p:sp>
      </p:grpSp>
      <p:grpSp>
        <p:nvGrpSpPr>
          <p:cNvPr name="Group 102" id="102"/>
          <p:cNvGrpSpPr/>
          <p:nvPr/>
        </p:nvGrpSpPr>
        <p:grpSpPr>
          <a:xfrm rot="0">
            <a:off x="15727680" y="7424928"/>
            <a:ext cx="1792224" cy="475488"/>
            <a:chOff x="0" y="0"/>
            <a:chExt cx="2389632" cy="633984"/>
          </a:xfrm>
        </p:grpSpPr>
        <p:sp>
          <p:nvSpPr>
            <p:cNvPr name="Freeform 103" id="103"/>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104" id="104"/>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B91C1C"/>
                  </a:solidFill>
                  <a:latin typeface="Calibri (MS) Bold"/>
                  <a:ea typeface="Calibri (MS) Bold"/>
                  <a:cs typeface="Calibri (MS) Bold"/>
                  <a:sym typeface="Calibri (MS) Bold"/>
                </a:rPr>
                <a:t>HARVEST</a:t>
              </a:r>
            </a:p>
          </p:txBody>
        </p:sp>
      </p:grpSp>
      <p:grpSp>
        <p:nvGrpSpPr>
          <p:cNvPr name="Group 105" id="105"/>
          <p:cNvGrpSpPr/>
          <p:nvPr/>
        </p:nvGrpSpPr>
        <p:grpSpPr>
          <a:xfrm rot="0">
            <a:off x="9509760" y="8229600"/>
            <a:ext cx="3657600" cy="640080"/>
            <a:chOff x="0" y="0"/>
            <a:chExt cx="4876800" cy="853440"/>
          </a:xfrm>
        </p:grpSpPr>
        <p:sp>
          <p:nvSpPr>
            <p:cNvPr name="Freeform 106" id="106"/>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107" id="107"/>
            <p:cNvSpPr txBox="true"/>
            <p:nvPr/>
          </p:nvSpPr>
          <p:spPr>
            <a:xfrm>
              <a:off x="0" y="-38100"/>
              <a:ext cx="4876800" cy="8915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New Zealand</a:t>
              </a:r>
            </a:p>
          </p:txBody>
        </p:sp>
      </p:grpSp>
      <p:grpSp>
        <p:nvGrpSpPr>
          <p:cNvPr name="Group 108" id="108"/>
          <p:cNvGrpSpPr/>
          <p:nvPr/>
        </p:nvGrpSpPr>
        <p:grpSpPr>
          <a:xfrm rot="0">
            <a:off x="12893040" y="8229600"/>
            <a:ext cx="1645920" cy="640080"/>
            <a:chOff x="0" y="0"/>
            <a:chExt cx="2194560" cy="853440"/>
          </a:xfrm>
        </p:grpSpPr>
        <p:sp>
          <p:nvSpPr>
            <p:cNvPr name="Freeform 109" id="109"/>
            <p:cNvSpPr/>
            <p:nvPr/>
          </p:nvSpPr>
          <p:spPr>
            <a:xfrm flipH="false" flipV="false" rot="0">
              <a:off x="0" y="0"/>
              <a:ext cx="2194560" cy="853440"/>
            </a:xfrm>
            <a:custGeom>
              <a:avLst/>
              <a:gdLst/>
              <a:ahLst/>
              <a:cxnLst/>
              <a:rect r="r" b="b" t="t" l="l"/>
              <a:pathLst>
                <a:path h="853440" w="2194560">
                  <a:moveTo>
                    <a:pt x="0" y="0"/>
                  </a:moveTo>
                  <a:lnTo>
                    <a:pt x="2194560" y="0"/>
                  </a:lnTo>
                  <a:lnTo>
                    <a:pt x="2194560" y="853440"/>
                  </a:lnTo>
                  <a:lnTo>
                    <a:pt x="0" y="853440"/>
                  </a:lnTo>
                  <a:close/>
                </a:path>
              </a:pathLst>
            </a:custGeom>
            <a:blipFill>
              <a:blip r:embed="rId3">
                <a:alphaModFix amt="0"/>
              </a:blip>
              <a:stretch>
                <a:fillRect l="0" t="-104" r="0" b="-104"/>
              </a:stretch>
            </a:blipFill>
          </p:spPr>
        </p:sp>
        <p:sp>
          <p:nvSpPr>
            <p:cNvPr name="TextBox 110" id="110"/>
            <p:cNvSpPr txBox="true"/>
            <p:nvPr/>
          </p:nvSpPr>
          <p:spPr>
            <a:xfrm>
              <a:off x="0" y="-38100"/>
              <a:ext cx="2194560" cy="891540"/>
            </a:xfrm>
            <a:prstGeom prst="rect">
              <a:avLst/>
            </a:prstGeom>
          </p:spPr>
          <p:txBody>
            <a:bodyPr anchor="ctr" rtlCol="false" tIns="0" lIns="0" bIns="0" rIns="0"/>
            <a:lstStyle/>
            <a:p>
              <a:pPr algn="r">
                <a:lnSpc>
                  <a:spcPts val="2400"/>
                </a:lnSpc>
              </a:pPr>
              <a:r>
                <a:rPr lang="en-US" sz="2000">
                  <a:solidFill>
                    <a:srgbClr val="64748B"/>
                  </a:solidFill>
                  <a:latin typeface="Calibri (MS)"/>
                  <a:ea typeface="Calibri (MS)"/>
                  <a:cs typeface="Calibri (MS)"/>
                  <a:sym typeface="Calibri (MS)"/>
                </a:rPr>
                <a:t>score 45.1</a:t>
              </a:r>
            </a:p>
          </p:txBody>
        </p:sp>
      </p:grpSp>
      <p:grpSp>
        <p:nvGrpSpPr>
          <p:cNvPr name="Group 111" id="111"/>
          <p:cNvGrpSpPr/>
          <p:nvPr/>
        </p:nvGrpSpPr>
        <p:grpSpPr>
          <a:xfrm rot="0">
            <a:off x="14630400" y="8229600"/>
            <a:ext cx="1097280" cy="640080"/>
            <a:chOff x="0" y="0"/>
            <a:chExt cx="1463040" cy="853440"/>
          </a:xfrm>
        </p:grpSpPr>
        <p:sp>
          <p:nvSpPr>
            <p:cNvPr name="Freeform 112" id="112"/>
            <p:cNvSpPr/>
            <p:nvPr/>
          </p:nvSpPr>
          <p:spPr>
            <a:xfrm flipH="false" flipV="false" rot="0">
              <a:off x="0" y="0"/>
              <a:ext cx="1463040" cy="853440"/>
            </a:xfrm>
            <a:custGeom>
              <a:avLst/>
              <a:gdLst/>
              <a:ahLst/>
              <a:cxnLst/>
              <a:rect r="r" b="b" t="t" l="l"/>
              <a:pathLst>
                <a:path h="853440" w="1463040">
                  <a:moveTo>
                    <a:pt x="0" y="0"/>
                  </a:moveTo>
                  <a:lnTo>
                    <a:pt x="1463040" y="0"/>
                  </a:lnTo>
                  <a:lnTo>
                    <a:pt x="1463040" y="853440"/>
                  </a:lnTo>
                  <a:lnTo>
                    <a:pt x="0" y="853440"/>
                  </a:lnTo>
                  <a:close/>
                </a:path>
              </a:pathLst>
            </a:custGeom>
            <a:blipFill>
              <a:blip r:embed="rId3">
                <a:alphaModFix amt="0"/>
              </a:blip>
              <a:stretch>
                <a:fillRect l="-24843" t="0" r="-24843" b="0"/>
              </a:stretch>
            </a:blipFill>
          </p:spPr>
        </p:sp>
        <p:sp>
          <p:nvSpPr>
            <p:cNvPr name="TextBox 113" id="113"/>
            <p:cNvSpPr txBox="true"/>
            <p:nvPr/>
          </p:nvSpPr>
          <p:spPr>
            <a:xfrm>
              <a:off x="0" y="-38100"/>
              <a:ext cx="1463040" cy="891540"/>
            </a:xfrm>
            <a:prstGeom prst="rect">
              <a:avLst/>
            </a:prstGeom>
          </p:spPr>
          <p:txBody>
            <a:bodyPr anchor="ctr" rtlCol="false" tIns="0" lIns="0" bIns="0" rIns="0"/>
            <a:lstStyle/>
            <a:p>
              <a:pPr algn="r">
                <a:lnSpc>
                  <a:spcPts val="2400"/>
                </a:lnSpc>
              </a:pPr>
              <a:r>
                <a:rPr lang="en-US" sz="2000" b="true">
                  <a:solidFill>
                    <a:srgbClr val="B91C1C"/>
                  </a:solidFill>
                  <a:latin typeface="Calibri (MS) Bold"/>
                  <a:ea typeface="Calibri (MS) Bold"/>
                  <a:cs typeface="Calibri (MS) Bold"/>
                  <a:sym typeface="Calibri (MS) Bold"/>
                </a:rPr>
                <a:t>−0.24</a:t>
              </a:r>
            </a:p>
          </p:txBody>
        </p:sp>
      </p:grpSp>
      <p:grpSp>
        <p:nvGrpSpPr>
          <p:cNvPr name="Group 114" id="114"/>
          <p:cNvGrpSpPr/>
          <p:nvPr/>
        </p:nvGrpSpPr>
        <p:grpSpPr>
          <a:xfrm rot="0">
            <a:off x="15727680" y="8302752"/>
            <a:ext cx="1792224" cy="475488"/>
            <a:chOff x="0" y="0"/>
            <a:chExt cx="2389632" cy="633984"/>
          </a:xfrm>
        </p:grpSpPr>
        <p:sp>
          <p:nvSpPr>
            <p:cNvPr name="Freeform 115" id="115"/>
            <p:cNvSpPr/>
            <p:nvPr/>
          </p:nvSpPr>
          <p:spPr>
            <a:xfrm flipH="false" flipV="false" rot="0">
              <a:off x="0" y="0"/>
              <a:ext cx="2389632" cy="633984"/>
            </a:xfrm>
            <a:custGeom>
              <a:avLst/>
              <a:gdLst/>
              <a:ahLst/>
              <a:cxnLst/>
              <a:rect r="r" b="b" t="t" l="l"/>
              <a:pathLst>
                <a:path h="633984" w="2389632">
                  <a:moveTo>
                    <a:pt x="0" y="0"/>
                  </a:moveTo>
                  <a:lnTo>
                    <a:pt x="2389632" y="0"/>
                  </a:lnTo>
                  <a:lnTo>
                    <a:pt x="2389632" y="633984"/>
                  </a:lnTo>
                  <a:lnTo>
                    <a:pt x="0" y="633984"/>
                  </a:lnTo>
                  <a:close/>
                </a:path>
              </a:pathLst>
            </a:custGeom>
            <a:blipFill>
              <a:blip r:embed="rId3">
                <a:alphaModFix amt="0"/>
              </a:blip>
              <a:stretch>
                <a:fillRect l="0" t="-23443" r="0" b="-23443"/>
              </a:stretch>
            </a:blipFill>
          </p:spPr>
        </p:sp>
        <p:sp>
          <p:nvSpPr>
            <p:cNvPr name="TextBox 116" id="116"/>
            <p:cNvSpPr txBox="true"/>
            <p:nvPr/>
          </p:nvSpPr>
          <p:spPr>
            <a:xfrm>
              <a:off x="0" y="-28575"/>
              <a:ext cx="2389632" cy="662559"/>
            </a:xfrm>
            <a:prstGeom prst="rect">
              <a:avLst/>
            </a:prstGeom>
          </p:spPr>
          <p:txBody>
            <a:bodyPr anchor="ctr" rtlCol="false" tIns="0" lIns="0" bIns="0" rIns="0"/>
            <a:lstStyle/>
            <a:p>
              <a:pPr algn="r">
                <a:lnSpc>
                  <a:spcPts val="1920"/>
                </a:lnSpc>
              </a:pPr>
              <a:r>
                <a:rPr lang="en-US" sz="1600" b="true">
                  <a:solidFill>
                    <a:srgbClr val="B91C1C"/>
                  </a:solidFill>
                  <a:latin typeface="Calibri (MS) Bold"/>
                  <a:ea typeface="Calibri (MS) Bold"/>
                  <a:cs typeface="Calibri (MS) Bold"/>
                  <a:sym typeface="Calibri (MS) Bold"/>
                </a:rPr>
                <a:t>HARVEST</a:t>
              </a:r>
            </a:p>
          </p:txBody>
        </p:sp>
      </p:grpSp>
      <p:grpSp>
        <p:nvGrpSpPr>
          <p:cNvPr name="Group 117" id="117"/>
          <p:cNvGrpSpPr/>
          <p:nvPr/>
        </p:nvGrpSpPr>
        <p:grpSpPr>
          <a:xfrm rot="0">
            <a:off x="16093440" y="9692640"/>
            <a:ext cx="1828800" cy="365760"/>
            <a:chOff x="0" y="0"/>
            <a:chExt cx="2438400" cy="487680"/>
          </a:xfrm>
        </p:grpSpPr>
        <p:sp>
          <p:nvSpPr>
            <p:cNvPr name="Freeform 118" id="118"/>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119" id="119"/>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11 / 14</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7F8"/>
        </a:solidFill>
      </p:bgPr>
    </p:bg>
    <p:spTree>
      <p:nvGrpSpPr>
        <p:cNvPr id="1" name=""/>
        <p:cNvGrpSpPr/>
        <p:nvPr/>
      </p:nvGrpSpPr>
      <p:grpSpPr>
        <a:xfrm>
          <a:off x="0" y="0"/>
          <a:ext cx="0" cy="0"/>
          <a:chOff x="0" y="0"/>
          <a:chExt cx="0" cy="0"/>
        </a:xfrm>
      </p:grpSpPr>
      <p:grpSp>
        <p:nvGrpSpPr>
          <p:cNvPr name="Group 2" id="2"/>
          <p:cNvGrpSpPr/>
          <p:nvPr/>
        </p:nvGrpSpPr>
        <p:grpSpPr>
          <a:xfrm rot="0">
            <a:off x="1084583" y="535943"/>
            <a:ext cx="2402843" cy="574043"/>
            <a:chOff x="0" y="0"/>
            <a:chExt cx="3203791" cy="765391"/>
          </a:xfrm>
        </p:grpSpPr>
        <p:sp>
          <p:nvSpPr>
            <p:cNvPr name="Freeform 3" id="3"/>
            <p:cNvSpPr/>
            <p:nvPr/>
          </p:nvSpPr>
          <p:spPr>
            <a:xfrm flipH="false" flipV="false" rot="0">
              <a:off x="0" y="0"/>
              <a:ext cx="3203702" cy="765302"/>
            </a:xfrm>
            <a:custGeom>
              <a:avLst/>
              <a:gdLst/>
              <a:ahLst/>
              <a:cxnLst/>
              <a:rect r="r" b="b" t="t" l="l"/>
              <a:pathLst>
                <a:path h="765302" w="3203702">
                  <a:moveTo>
                    <a:pt x="0" y="127508"/>
                  </a:moveTo>
                  <a:cubicBezTo>
                    <a:pt x="0" y="57150"/>
                    <a:pt x="57150" y="0"/>
                    <a:pt x="127508" y="0"/>
                  </a:cubicBezTo>
                  <a:lnTo>
                    <a:pt x="3076194" y="0"/>
                  </a:lnTo>
                  <a:cubicBezTo>
                    <a:pt x="3146679" y="0"/>
                    <a:pt x="3203702" y="57150"/>
                    <a:pt x="3203702" y="127508"/>
                  </a:cubicBezTo>
                  <a:lnTo>
                    <a:pt x="3203702" y="637794"/>
                  </a:lnTo>
                  <a:cubicBezTo>
                    <a:pt x="3203702" y="708279"/>
                    <a:pt x="3146552" y="765302"/>
                    <a:pt x="3076194" y="765302"/>
                  </a:cubicBezTo>
                  <a:lnTo>
                    <a:pt x="127508" y="765302"/>
                  </a:lnTo>
                  <a:cubicBezTo>
                    <a:pt x="57150" y="765429"/>
                    <a:pt x="0" y="708279"/>
                    <a:pt x="0" y="637794"/>
                  </a:cubicBezTo>
                  <a:close/>
                </a:path>
              </a:pathLst>
            </a:custGeom>
            <a:solidFill>
              <a:srgbClr val="0D1B2A"/>
            </a:solidFill>
            <a:ln w="25400" cap="sq">
              <a:solidFill>
                <a:srgbClr val="0D1B2A"/>
              </a:solidFill>
              <a:prstDash val="solid"/>
              <a:miter/>
            </a:ln>
          </p:spPr>
        </p:sp>
      </p:grpSp>
      <p:grpSp>
        <p:nvGrpSpPr>
          <p:cNvPr name="Group 4" id="4"/>
          <p:cNvGrpSpPr/>
          <p:nvPr/>
        </p:nvGrpSpPr>
        <p:grpSpPr>
          <a:xfrm rot="0">
            <a:off x="1097280" y="548640"/>
            <a:ext cx="2377440" cy="548640"/>
            <a:chOff x="0" y="0"/>
            <a:chExt cx="3169920" cy="731520"/>
          </a:xfrm>
        </p:grpSpPr>
        <p:sp>
          <p:nvSpPr>
            <p:cNvPr name="Freeform 5" id="5"/>
            <p:cNvSpPr/>
            <p:nvPr/>
          </p:nvSpPr>
          <p:spPr>
            <a:xfrm flipH="false" flipV="false" rot="0">
              <a:off x="0" y="0"/>
              <a:ext cx="3169920" cy="731520"/>
            </a:xfrm>
            <a:custGeom>
              <a:avLst/>
              <a:gdLst/>
              <a:ahLst/>
              <a:cxnLst/>
              <a:rect r="r" b="b" t="t" l="l"/>
              <a:pathLst>
                <a:path h="731520" w="3169920">
                  <a:moveTo>
                    <a:pt x="0" y="0"/>
                  </a:moveTo>
                  <a:lnTo>
                    <a:pt x="3169920" y="0"/>
                  </a:lnTo>
                  <a:lnTo>
                    <a:pt x="3169920" y="731520"/>
                  </a:lnTo>
                  <a:lnTo>
                    <a:pt x="0" y="731520"/>
                  </a:lnTo>
                  <a:close/>
                </a:path>
              </a:pathLst>
            </a:custGeom>
            <a:blipFill>
              <a:blip r:embed="rId3">
                <a:alphaModFix amt="0"/>
              </a:blip>
              <a:stretch>
                <a:fillRect l="0" t="-34435" r="0" b="-34435"/>
              </a:stretch>
            </a:blipFill>
          </p:spPr>
        </p:sp>
        <p:sp>
          <p:nvSpPr>
            <p:cNvPr name="TextBox 6" id="6"/>
            <p:cNvSpPr txBox="true"/>
            <p:nvPr/>
          </p:nvSpPr>
          <p:spPr>
            <a:xfrm>
              <a:off x="0" y="-38100"/>
              <a:ext cx="3169920" cy="769620"/>
            </a:xfrm>
            <a:prstGeom prst="rect">
              <a:avLst/>
            </a:prstGeom>
          </p:spPr>
          <p:txBody>
            <a:bodyPr anchor="ctr" rtlCol="false" tIns="0" lIns="0" bIns="0" rIns="0"/>
            <a:lstStyle/>
            <a:p>
              <a:pPr algn="ctr">
                <a:lnSpc>
                  <a:spcPts val="2160"/>
                </a:lnSpc>
              </a:pPr>
              <a:r>
                <a:rPr lang="en-US" sz="1800" b="true">
                  <a:solidFill>
                    <a:srgbClr val="12B5C8"/>
                  </a:solidFill>
                  <a:latin typeface="Calibri (MS) Bold"/>
                  <a:ea typeface="Calibri (MS) Bold"/>
                  <a:cs typeface="Calibri (MS) Bold"/>
                  <a:sym typeface="Calibri (MS) Bold"/>
                </a:rPr>
                <a:t>FINDING 06</a:t>
              </a:r>
            </a:p>
          </p:txBody>
        </p:sp>
      </p:grpSp>
      <p:grpSp>
        <p:nvGrpSpPr>
          <p:cNvPr name="Group 7" id="7"/>
          <p:cNvGrpSpPr/>
          <p:nvPr/>
        </p:nvGrpSpPr>
        <p:grpSpPr>
          <a:xfrm rot="0">
            <a:off x="1084583" y="1304039"/>
            <a:ext cx="135131" cy="1214123"/>
            <a:chOff x="0" y="0"/>
            <a:chExt cx="180175" cy="1618831"/>
          </a:xfrm>
        </p:grpSpPr>
        <p:sp>
          <p:nvSpPr>
            <p:cNvPr name="Freeform 8" id="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0A7E8C"/>
            </a:solidFill>
            <a:ln w="25400" cap="sq">
              <a:solidFill>
                <a:srgbClr val="0A7E8C"/>
              </a:solidFill>
              <a:prstDash val="solid"/>
              <a:miter/>
            </a:ln>
          </p:spPr>
        </p:sp>
      </p:grpSp>
      <p:grpSp>
        <p:nvGrpSpPr>
          <p:cNvPr name="Group 9" id="9"/>
          <p:cNvGrpSpPr/>
          <p:nvPr/>
        </p:nvGrpSpPr>
        <p:grpSpPr>
          <a:xfrm rot="0">
            <a:off x="1371600" y="1188720"/>
            <a:ext cx="16459200" cy="1645920"/>
            <a:chOff x="0" y="0"/>
            <a:chExt cx="21945600" cy="2194560"/>
          </a:xfrm>
        </p:grpSpPr>
        <p:sp>
          <p:nvSpPr>
            <p:cNvPr name="Freeform 10" id="10"/>
            <p:cNvSpPr/>
            <p:nvPr/>
          </p:nvSpPr>
          <p:spPr>
            <a:xfrm flipH="false" flipV="false" rot="0">
              <a:off x="0" y="0"/>
              <a:ext cx="21945600" cy="2194560"/>
            </a:xfrm>
            <a:custGeom>
              <a:avLst/>
              <a:gdLst/>
              <a:ahLst/>
              <a:cxnLst/>
              <a:rect r="r" b="b" t="t" l="l"/>
              <a:pathLst>
                <a:path h="2194560" w="21945600">
                  <a:moveTo>
                    <a:pt x="0" y="0"/>
                  </a:moveTo>
                  <a:lnTo>
                    <a:pt x="21945600" y="0"/>
                  </a:lnTo>
                  <a:lnTo>
                    <a:pt x="21945600" y="2194560"/>
                  </a:lnTo>
                  <a:lnTo>
                    <a:pt x="0" y="2194560"/>
                  </a:lnTo>
                  <a:close/>
                </a:path>
              </a:pathLst>
            </a:custGeom>
            <a:blipFill>
              <a:blip r:embed="rId3">
                <a:alphaModFix amt="0"/>
              </a:blip>
              <a:stretch>
                <a:fillRect l="0" t="-144850" r="0" b="-144850"/>
              </a:stretch>
            </a:blipFill>
          </p:spPr>
        </p:sp>
        <p:sp>
          <p:nvSpPr>
            <p:cNvPr name="TextBox 11" id="11"/>
            <p:cNvSpPr txBox="true"/>
            <p:nvPr/>
          </p:nvSpPr>
          <p:spPr>
            <a:xfrm>
              <a:off x="0" y="-114300"/>
              <a:ext cx="21945600" cy="2308860"/>
            </a:xfrm>
            <a:prstGeom prst="rect">
              <a:avLst/>
            </a:prstGeom>
          </p:spPr>
          <p:txBody>
            <a:bodyPr anchor="ctr" rtlCol="false" tIns="0" lIns="0" bIns="0" rIns="0"/>
            <a:lstStyle/>
            <a:p>
              <a:pPr algn="l">
                <a:lnSpc>
                  <a:spcPts val="6336"/>
                </a:lnSpc>
              </a:pPr>
              <a:r>
                <a:rPr lang="en-US" sz="4400" b="true">
                  <a:solidFill>
                    <a:srgbClr val="1E293B"/>
                  </a:solidFill>
                  <a:latin typeface="Trebuchet MS Bold"/>
                  <a:ea typeface="Trebuchet MS Bold"/>
                  <a:cs typeface="Trebuchet MS Bold"/>
                  <a:sym typeface="Trebuchet MS Bold"/>
                </a:rPr>
                <a:t>Global content lives in exactly</a:t>
              </a:r>
            </a:p>
            <a:p>
              <a:pPr algn="l">
                <a:lnSpc>
                  <a:spcPts val="6336"/>
                </a:lnSpc>
              </a:pPr>
              <a:r>
                <a:rPr lang="en-US" sz="4400" b="true">
                  <a:solidFill>
                    <a:srgbClr val="1E293B"/>
                  </a:solidFill>
                  <a:latin typeface="Trebuchet MS Bold"/>
                  <a:ea typeface="Trebuchet MS Bold"/>
                  <a:cs typeface="Trebuchet MS Bold"/>
                  <a:sym typeface="Trebuchet MS Bold"/>
                </a:rPr>
                <a:t>four categories.</a:t>
              </a:r>
            </a:p>
          </p:txBody>
        </p:sp>
      </p:grpSp>
      <p:grpSp>
        <p:nvGrpSpPr>
          <p:cNvPr name="Group 12" id="12"/>
          <p:cNvGrpSpPr/>
          <p:nvPr/>
        </p:nvGrpSpPr>
        <p:grpSpPr>
          <a:xfrm rot="0">
            <a:off x="908047" y="2919727"/>
            <a:ext cx="8059417" cy="3158233"/>
            <a:chOff x="0" y="0"/>
            <a:chExt cx="10745889" cy="4210977"/>
          </a:xfrm>
        </p:grpSpPr>
        <p:sp>
          <p:nvSpPr>
            <p:cNvPr name="Freeform 13" id="13"/>
            <p:cNvSpPr/>
            <p:nvPr/>
          </p:nvSpPr>
          <p:spPr>
            <a:xfrm flipH="false" flipV="false" rot="0">
              <a:off x="0" y="0"/>
              <a:ext cx="10745851" cy="4210939"/>
            </a:xfrm>
            <a:custGeom>
              <a:avLst/>
              <a:gdLst/>
              <a:ahLst/>
              <a:cxnLst/>
              <a:rect r="r" b="b" t="t" l="l"/>
              <a:pathLst>
                <a:path h="4210939" w="10745851">
                  <a:moveTo>
                    <a:pt x="0" y="0"/>
                  </a:moveTo>
                  <a:lnTo>
                    <a:pt x="10745851" y="0"/>
                  </a:lnTo>
                  <a:lnTo>
                    <a:pt x="10745851" y="4210939"/>
                  </a:lnTo>
                  <a:lnTo>
                    <a:pt x="0" y="4210939"/>
                  </a:lnTo>
                  <a:close/>
                </a:path>
              </a:pathLst>
            </a:custGeom>
            <a:solidFill>
              <a:srgbClr val="FFFFFF"/>
            </a:solidFill>
            <a:ln w="12700" cap="sq">
              <a:solidFill>
                <a:srgbClr val="E2E8F0"/>
              </a:solidFill>
              <a:prstDash val="solid"/>
              <a:miter/>
            </a:ln>
          </p:spPr>
        </p:sp>
      </p:grpSp>
      <p:grpSp>
        <p:nvGrpSpPr>
          <p:cNvPr name="Group 14" id="14"/>
          <p:cNvGrpSpPr/>
          <p:nvPr/>
        </p:nvGrpSpPr>
        <p:grpSpPr>
          <a:xfrm rot="0">
            <a:off x="901703" y="2913383"/>
            <a:ext cx="8072123" cy="135131"/>
            <a:chOff x="0" y="0"/>
            <a:chExt cx="10762831" cy="180175"/>
          </a:xfrm>
        </p:grpSpPr>
        <p:sp>
          <p:nvSpPr>
            <p:cNvPr name="Freeform 15" id="15"/>
            <p:cNvSpPr/>
            <p:nvPr/>
          </p:nvSpPr>
          <p:spPr>
            <a:xfrm flipH="false" flipV="false" rot="0">
              <a:off x="0" y="0"/>
              <a:ext cx="10762869" cy="180213"/>
            </a:xfrm>
            <a:custGeom>
              <a:avLst/>
              <a:gdLst/>
              <a:ahLst/>
              <a:cxnLst/>
              <a:rect r="r" b="b" t="t" l="l"/>
              <a:pathLst>
                <a:path h="180213" w="10762869">
                  <a:moveTo>
                    <a:pt x="0" y="0"/>
                  </a:moveTo>
                  <a:lnTo>
                    <a:pt x="10762869" y="0"/>
                  </a:lnTo>
                  <a:lnTo>
                    <a:pt x="10762869" y="180213"/>
                  </a:lnTo>
                  <a:lnTo>
                    <a:pt x="0" y="180213"/>
                  </a:lnTo>
                  <a:close/>
                </a:path>
              </a:pathLst>
            </a:custGeom>
            <a:solidFill>
              <a:srgbClr val="0A7E8C"/>
            </a:solidFill>
            <a:ln w="25400" cap="sq">
              <a:solidFill>
                <a:srgbClr val="0A7E8C"/>
              </a:solidFill>
              <a:prstDash val="solid"/>
              <a:miter/>
            </a:ln>
          </p:spPr>
        </p:sp>
      </p:grpSp>
      <p:grpSp>
        <p:nvGrpSpPr>
          <p:cNvPr name="Group 16" id="16"/>
          <p:cNvGrpSpPr/>
          <p:nvPr/>
        </p:nvGrpSpPr>
        <p:grpSpPr>
          <a:xfrm rot="0">
            <a:off x="1188720" y="3200400"/>
            <a:ext cx="5486400" cy="640080"/>
            <a:chOff x="0" y="0"/>
            <a:chExt cx="7315200" cy="853440"/>
          </a:xfrm>
        </p:grpSpPr>
        <p:sp>
          <p:nvSpPr>
            <p:cNvPr name="Freeform 17" id="17"/>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18" id="18"/>
            <p:cNvSpPr txBox="true"/>
            <p:nvPr/>
          </p:nvSpPr>
          <p:spPr>
            <a:xfrm>
              <a:off x="0" y="-9525"/>
              <a:ext cx="7315200" cy="862965"/>
            </a:xfrm>
            <a:prstGeom prst="rect">
              <a:avLst/>
            </a:prstGeom>
          </p:spPr>
          <p:txBody>
            <a:bodyPr anchor="ctr" rtlCol="false" tIns="0" lIns="0" bIns="0" rIns="0"/>
            <a:lstStyle/>
            <a:p>
              <a:pPr algn="l">
                <a:lnSpc>
                  <a:spcPts val="3120"/>
                </a:lnSpc>
              </a:pPr>
              <a:r>
                <a:rPr lang="en-US" sz="2600" b="true">
                  <a:solidFill>
                    <a:srgbClr val="1E293B"/>
                  </a:solidFill>
                  <a:latin typeface="Trebuchet MS Bold"/>
                  <a:ea typeface="Trebuchet MS Bold"/>
                  <a:cs typeface="Trebuchet MS Bold"/>
                  <a:sym typeface="Trebuchet MS Bold"/>
                </a:rPr>
                <a:t>International Football</a:t>
              </a:r>
            </a:p>
          </p:txBody>
        </p:sp>
      </p:grpSp>
      <p:grpSp>
        <p:nvGrpSpPr>
          <p:cNvPr name="Group 19" id="19"/>
          <p:cNvGrpSpPr/>
          <p:nvPr/>
        </p:nvGrpSpPr>
        <p:grpSpPr>
          <a:xfrm rot="0">
            <a:off x="6675120" y="3255264"/>
            <a:ext cx="2011680" cy="512064"/>
            <a:chOff x="0" y="0"/>
            <a:chExt cx="2682240" cy="682752"/>
          </a:xfrm>
        </p:grpSpPr>
        <p:sp>
          <p:nvSpPr>
            <p:cNvPr name="Freeform 20" id="20"/>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3">
                <a:alphaModFix amt="0"/>
              </a:blip>
              <a:stretch>
                <a:fillRect l="0" t="-26548" r="0" b="-26548"/>
              </a:stretch>
            </a:blipFill>
          </p:spPr>
        </p:sp>
        <p:sp>
          <p:nvSpPr>
            <p:cNvPr name="TextBox 21" id="21"/>
            <p:cNvSpPr txBox="true"/>
            <p:nvPr/>
          </p:nvSpPr>
          <p:spPr>
            <a:xfrm>
              <a:off x="0" y="-38100"/>
              <a:ext cx="2682240" cy="720852"/>
            </a:xfrm>
            <a:prstGeom prst="rect">
              <a:avLst/>
            </a:prstGeom>
          </p:spPr>
          <p:txBody>
            <a:bodyPr anchor="ctr" rtlCol="false" tIns="0" lIns="0" bIns="0" rIns="0"/>
            <a:lstStyle/>
            <a:p>
              <a:pPr algn="r">
                <a:lnSpc>
                  <a:spcPts val="2400"/>
                </a:lnSpc>
              </a:pPr>
              <a:r>
                <a:rPr lang="en-US" sz="2000" b="true">
                  <a:solidFill>
                    <a:srgbClr val="0A7E8C"/>
                  </a:solidFill>
                  <a:latin typeface="Calibri (MS) Bold"/>
                  <a:ea typeface="Calibri (MS) Bold"/>
                  <a:cs typeface="Calibri (MS) Bold"/>
                  <a:sym typeface="Calibri (MS) Bold"/>
                </a:rPr>
                <a:t>up to 33+ countries</a:t>
              </a:r>
            </a:p>
          </p:txBody>
        </p:sp>
      </p:grpSp>
      <p:grpSp>
        <p:nvGrpSpPr>
          <p:cNvPr name="Group 22" id="22"/>
          <p:cNvGrpSpPr/>
          <p:nvPr/>
        </p:nvGrpSpPr>
        <p:grpSpPr>
          <a:xfrm rot="0">
            <a:off x="1188720" y="3931920"/>
            <a:ext cx="7498080" cy="1828800"/>
            <a:chOff x="0" y="0"/>
            <a:chExt cx="9997440" cy="2438400"/>
          </a:xfrm>
        </p:grpSpPr>
        <p:sp>
          <p:nvSpPr>
            <p:cNvPr name="Freeform 23" id="23"/>
            <p:cNvSpPr/>
            <p:nvPr/>
          </p:nvSpPr>
          <p:spPr>
            <a:xfrm flipH="false" flipV="false" rot="0">
              <a:off x="0" y="0"/>
              <a:ext cx="9997440" cy="2438400"/>
            </a:xfrm>
            <a:custGeom>
              <a:avLst/>
              <a:gdLst/>
              <a:ahLst/>
              <a:cxnLst/>
              <a:rect r="r" b="b" t="t" l="l"/>
              <a:pathLst>
                <a:path h="2438400" w="9997440">
                  <a:moveTo>
                    <a:pt x="0" y="0"/>
                  </a:moveTo>
                  <a:lnTo>
                    <a:pt x="9997440" y="0"/>
                  </a:lnTo>
                  <a:lnTo>
                    <a:pt x="9997440" y="2438400"/>
                  </a:lnTo>
                  <a:lnTo>
                    <a:pt x="0" y="2438400"/>
                  </a:lnTo>
                  <a:close/>
                </a:path>
              </a:pathLst>
            </a:custGeom>
            <a:blipFill>
              <a:blip r:embed="rId3">
                <a:alphaModFix amt="0"/>
              </a:blip>
              <a:stretch>
                <a:fillRect l="0" t="-29888" r="0" b="-29888"/>
              </a:stretch>
            </a:blipFill>
          </p:spPr>
        </p:sp>
        <p:sp>
          <p:nvSpPr>
            <p:cNvPr name="TextBox 24" id="24"/>
            <p:cNvSpPr txBox="true"/>
            <p:nvPr/>
          </p:nvSpPr>
          <p:spPr>
            <a:xfrm>
              <a:off x="0" y="-114300"/>
              <a:ext cx="9997440" cy="2552700"/>
            </a:xfrm>
            <a:prstGeom prst="rect">
              <a:avLst/>
            </a:prstGeom>
          </p:spPr>
          <p:txBody>
            <a:bodyPr anchor="ctr" rtlCol="false" tIns="0" lIns="0" bIns="0" rIns="0"/>
            <a:lstStyle/>
            <a:p>
              <a:pPr algn="l">
                <a:lnSpc>
                  <a:spcPts val="3240"/>
                </a:lnSpc>
              </a:pPr>
              <a:r>
                <a:rPr lang="en-US" sz="2000">
                  <a:solidFill>
                    <a:srgbClr val="64748B"/>
                  </a:solidFill>
                  <a:latin typeface="Calibri (MS)"/>
                  <a:ea typeface="Calibri (MS)"/>
                  <a:cs typeface="Calibri (MS)"/>
                  <a:sym typeface="Calibri (MS)"/>
                </a:rPr>
                <a:t>PSG · Real Madrid · Barcelona · Bayern · F1</a:t>
              </a:r>
            </a:p>
          </p:txBody>
        </p:sp>
      </p:grpSp>
      <p:grpSp>
        <p:nvGrpSpPr>
          <p:cNvPr name="Group 25" id="25"/>
          <p:cNvGrpSpPr/>
          <p:nvPr/>
        </p:nvGrpSpPr>
        <p:grpSpPr>
          <a:xfrm rot="0">
            <a:off x="9503407" y="2919727"/>
            <a:ext cx="8059417" cy="3158233"/>
            <a:chOff x="0" y="0"/>
            <a:chExt cx="10745889" cy="4210977"/>
          </a:xfrm>
        </p:grpSpPr>
        <p:sp>
          <p:nvSpPr>
            <p:cNvPr name="Freeform 26" id="26"/>
            <p:cNvSpPr/>
            <p:nvPr/>
          </p:nvSpPr>
          <p:spPr>
            <a:xfrm flipH="false" flipV="false" rot="0">
              <a:off x="0" y="0"/>
              <a:ext cx="10745851" cy="4210939"/>
            </a:xfrm>
            <a:custGeom>
              <a:avLst/>
              <a:gdLst/>
              <a:ahLst/>
              <a:cxnLst/>
              <a:rect r="r" b="b" t="t" l="l"/>
              <a:pathLst>
                <a:path h="4210939" w="10745851">
                  <a:moveTo>
                    <a:pt x="0" y="0"/>
                  </a:moveTo>
                  <a:lnTo>
                    <a:pt x="10745851" y="0"/>
                  </a:lnTo>
                  <a:lnTo>
                    <a:pt x="10745851" y="4210939"/>
                  </a:lnTo>
                  <a:lnTo>
                    <a:pt x="0" y="4210939"/>
                  </a:lnTo>
                  <a:close/>
                </a:path>
              </a:pathLst>
            </a:custGeom>
            <a:solidFill>
              <a:srgbClr val="FFFFFF"/>
            </a:solidFill>
            <a:ln w="12700" cap="sq">
              <a:solidFill>
                <a:srgbClr val="E2E8F0"/>
              </a:solidFill>
              <a:prstDash val="solid"/>
              <a:miter/>
            </a:ln>
          </p:spPr>
        </p:sp>
      </p:grpSp>
      <p:grpSp>
        <p:nvGrpSpPr>
          <p:cNvPr name="Group 27" id="27"/>
          <p:cNvGrpSpPr/>
          <p:nvPr/>
        </p:nvGrpSpPr>
        <p:grpSpPr>
          <a:xfrm rot="0">
            <a:off x="9497063" y="2913383"/>
            <a:ext cx="8072123" cy="135131"/>
            <a:chOff x="0" y="0"/>
            <a:chExt cx="10762831" cy="180175"/>
          </a:xfrm>
        </p:grpSpPr>
        <p:sp>
          <p:nvSpPr>
            <p:cNvPr name="Freeform 28" id="28"/>
            <p:cNvSpPr/>
            <p:nvPr/>
          </p:nvSpPr>
          <p:spPr>
            <a:xfrm flipH="false" flipV="false" rot="0">
              <a:off x="0" y="0"/>
              <a:ext cx="10762869" cy="180213"/>
            </a:xfrm>
            <a:custGeom>
              <a:avLst/>
              <a:gdLst/>
              <a:ahLst/>
              <a:cxnLst/>
              <a:rect r="r" b="b" t="t" l="l"/>
              <a:pathLst>
                <a:path h="180213" w="10762869">
                  <a:moveTo>
                    <a:pt x="0" y="0"/>
                  </a:moveTo>
                  <a:lnTo>
                    <a:pt x="10762869" y="0"/>
                  </a:lnTo>
                  <a:lnTo>
                    <a:pt x="10762869" y="180213"/>
                  </a:lnTo>
                  <a:lnTo>
                    <a:pt x="0" y="180213"/>
                  </a:lnTo>
                  <a:close/>
                </a:path>
              </a:pathLst>
            </a:custGeom>
            <a:solidFill>
              <a:srgbClr val="E05C45"/>
            </a:solidFill>
            <a:ln w="25400" cap="sq">
              <a:solidFill>
                <a:srgbClr val="E05C45"/>
              </a:solidFill>
              <a:prstDash val="solid"/>
              <a:miter/>
            </a:ln>
          </p:spPr>
        </p:sp>
      </p:grpSp>
      <p:grpSp>
        <p:nvGrpSpPr>
          <p:cNvPr name="Group 29" id="29"/>
          <p:cNvGrpSpPr/>
          <p:nvPr/>
        </p:nvGrpSpPr>
        <p:grpSpPr>
          <a:xfrm rot="0">
            <a:off x="9784080" y="3200400"/>
            <a:ext cx="5486400" cy="640080"/>
            <a:chOff x="0" y="0"/>
            <a:chExt cx="7315200" cy="853440"/>
          </a:xfrm>
        </p:grpSpPr>
        <p:sp>
          <p:nvSpPr>
            <p:cNvPr name="Freeform 30" id="30"/>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31" id="31"/>
            <p:cNvSpPr txBox="true"/>
            <p:nvPr/>
          </p:nvSpPr>
          <p:spPr>
            <a:xfrm>
              <a:off x="0" y="-9525"/>
              <a:ext cx="7315200" cy="862965"/>
            </a:xfrm>
            <a:prstGeom prst="rect">
              <a:avLst/>
            </a:prstGeom>
          </p:spPr>
          <p:txBody>
            <a:bodyPr anchor="ctr" rtlCol="false" tIns="0" lIns="0" bIns="0" rIns="0"/>
            <a:lstStyle/>
            <a:p>
              <a:pPr algn="l">
                <a:lnSpc>
                  <a:spcPts val="3120"/>
                </a:lnSpc>
              </a:pPr>
              <a:r>
                <a:rPr lang="en-US" sz="2600" b="true">
                  <a:solidFill>
                    <a:srgbClr val="1E293B"/>
                  </a:solidFill>
                  <a:latin typeface="Trebuchet MS Bold"/>
                  <a:ea typeface="Trebuchet MS Bold"/>
                  <a:cs typeface="Trebuchet MS Bold"/>
                  <a:sym typeface="Trebuchet MS Bold"/>
                </a:rPr>
                <a:t>Global Political Figures</a:t>
              </a:r>
            </a:p>
          </p:txBody>
        </p:sp>
      </p:grpSp>
      <p:grpSp>
        <p:nvGrpSpPr>
          <p:cNvPr name="Group 32" id="32"/>
          <p:cNvGrpSpPr/>
          <p:nvPr/>
        </p:nvGrpSpPr>
        <p:grpSpPr>
          <a:xfrm rot="0">
            <a:off x="15270480" y="3255264"/>
            <a:ext cx="2011680" cy="512064"/>
            <a:chOff x="0" y="0"/>
            <a:chExt cx="2682240" cy="682752"/>
          </a:xfrm>
        </p:grpSpPr>
        <p:sp>
          <p:nvSpPr>
            <p:cNvPr name="Freeform 33" id="33"/>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3">
                <a:alphaModFix amt="0"/>
              </a:blip>
              <a:stretch>
                <a:fillRect l="0" t="-26548" r="0" b="-26548"/>
              </a:stretch>
            </a:blipFill>
          </p:spPr>
        </p:sp>
        <p:sp>
          <p:nvSpPr>
            <p:cNvPr name="TextBox 34" id="34"/>
            <p:cNvSpPr txBox="true"/>
            <p:nvPr/>
          </p:nvSpPr>
          <p:spPr>
            <a:xfrm>
              <a:off x="0" y="-38100"/>
              <a:ext cx="2682240" cy="720852"/>
            </a:xfrm>
            <a:prstGeom prst="rect">
              <a:avLst/>
            </a:prstGeom>
          </p:spPr>
          <p:txBody>
            <a:bodyPr anchor="ctr" rtlCol="false" tIns="0" lIns="0" bIns="0" rIns="0"/>
            <a:lstStyle/>
            <a:p>
              <a:pPr algn="r">
                <a:lnSpc>
                  <a:spcPts val="2400"/>
                </a:lnSpc>
              </a:pPr>
              <a:r>
                <a:rPr lang="en-US" sz="2000" b="true">
                  <a:solidFill>
                    <a:srgbClr val="E05C45"/>
                  </a:solidFill>
                  <a:latin typeface="Calibri (MS) Bold"/>
                  <a:ea typeface="Calibri (MS) Bold"/>
                  <a:cs typeface="Calibri (MS) Bold"/>
                  <a:sym typeface="Calibri (MS) Bold"/>
                </a:rPr>
                <a:t>up to 34 countries</a:t>
              </a:r>
            </a:p>
          </p:txBody>
        </p:sp>
      </p:grpSp>
      <p:grpSp>
        <p:nvGrpSpPr>
          <p:cNvPr name="Group 35" id="35"/>
          <p:cNvGrpSpPr/>
          <p:nvPr/>
        </p:nvGrpSpPr>
        <p:grpSpPr>
          <a:xfrm rot="0">
            <a:off x="9784080" y="3931920"/>
            <a:ext cx="7498080" cy="1828800"/>
            <a:chOff x="0" y="0"/>
            <a:chExt cx="9997440" cy="2438400"/>
          </a:xfrm>
        </p:grpSpPr>
        <p:sp>
          <p:nvSpPr>
            <p:cNvPr name="Freeform 36" id="36"/>
            <p:cNvSpPr/>
            <p:nvPr/>
          </p:nvSpPr>
          <p:spPr>
            <a:xfrm flipH="false" flipV="false" rot="0">
              <a:off x="0" y="0"/>
              <a:ext cx="9997440" cy="2438400"/>
            </a:xfrm>
            <a:custGeom>
              <a:avLst/>
              <a:gdLst/>
              <a:ahLst/>
              <a:cxnLst/>
              <a:rect r="r" b="b" t="t" l="l"/>
              <a:pathLst>
                <a:path h="2438400" w="9997440">
                  <a:moveTo>
                    <a:pt x="0" y="0"/>
                  </a:moveTo>
                  <a:lnTo>
                    <a:pt x="9997440" y="0"/>
                  </a:lnTo>
                  <a:lnTo>
                    <a:pt x="9997440" y="2438400"/>
                  </a:lnTo>
                  <a:lnTo>
                    <a:pt x="0" y="2438400"/>
                  </a:lnTo>
                  <a:close/>
                </a:path>
              </a:pathLst>
            </a:custGeom>
            <a:blipFill>
              <a:blip r:embed="rId3">
                <a:alphaModFix amt="0"/>
              </a:blip>
              <a:stretch>
                <a:fillRect l="0" t="-29888" r="0" b="-29888"/>
              </a:stretch>
            </a:blipFill>
          </p:spPr>
        </p:sp>
        <p:sp>
          <p:nvSpPr>
            <p:cNvPr name="TextBox 37" id="37"/>
            <p:cNvSpPr txBox="true"/>
            <p:nvPr/>
          </p:nvSpPr>
          <p:spPr>
            <a:xfrm>
              <a:off x="0" y="-114300"/>
              <a:ext cx="9997440" cy="2552700"/>
            </a:xfrm>
            <a:prstGeom prst="rect">
              <a:avLst/>
            </a:prstGeom>
          </p:spPr>
          <p:txBody>
            <a:bodyPr anchor="ctr" rtlCol="false" tIns="0" lIns="0" bIns="0" rIns="0"/>
            <a:lstStyle/>
            <a:p>
              <a:pPr algn="l">
                <a:lnSpc>
                  <a:spcPts val="3240"/>
                </a:lnSpc>
              </a:pPr>
              <a:r>
                <a:rPr lang="en-US" sz="2000">
                  <a:solidFill>
                    <a:srgbClr val="64748B"/>
                  </a:solidFill>
                  <a:latin typeface="Calibri (MS)"/>
                  <a:ea typeface="Calibri (MS)"/>
                  <a:cs typeface="Calibri (MS)"/>
                  <a:sym typeface="Calibri (MS)"/>
                </a:rPr>
                <a:t>P</a:t>
              </a:r>
              <a:r>
                <a:rPr lang="en-US" sz="2000">
                  <a:solidFill>
                    <a:srgbClr val="64748B"/>
                  </a:solidFill>
                  <a:latin typeface="Calibri (MS)"/>
                  <a:ea typeface="Calibri (MS)"/>
                  <a:cs typeface="Calibri (MS)"/>
                  <a:sym typeface="Calibri (MS)"/>
                </a:rPr>
                <a:t>am Bondi (34 countries. Widest in dataset)</a:t>
              </a:r>
            </a:p>
            <a:p>
              <a:pPr algn="l">
                <a:lnSpc>
                  <a:spcPts val="3240"/>
                </a:lnSpc>
              </a:pPr>
              <a:r>
                <a:rPr lang="en-US" sz="2000">
                  <a:solidFill>
                    <a:srgbClr val="64748B"/>
                  </a:solidFill>
                  <a:latin typeface="Calibri (MS)"/>
                  <a:ea typeface="Calibri (MS)"/>
                  <a:cs typeface="Calibri (MS)"/>
                  <a:sym typeface="Calibri (MS)"/>
                </a:rPr>
                <a:t>Trump (26 countries)</a:t>
              </a:r>
            </a:p>
          </p:txBody>
        </p:sp>
      </p:grpSp>
      <p:grpSp>
        <p:nvGrpSpPr>
          <p:cNvPr name="Group 38" id="38"/>
          <p:cNvGrpSpPr/>
          <p:nvPr/>
        </p:nvGrpSpPr>
        <p:grpSpPr>
          <a:xfrm rot="0">
            <a:off x="908047" y="6357871"/>
            <a:ext cx="8059417" cy="3158233"/>
            <a:chOff x="0" y="0"/>
            <a:chExt cx="10745889" cy="4210977"/>
          </a:xfrm>
        </p:grpSpPr>
        <p:sp>
          <p:nvSpPr>
            <p:cNvPr name="Freeform 39" id="39"/>
            <p:cNvSpPr/>
            <p:nvPr/>
          </p:nvSpPr>
          <p:spPr>
            <a:xfrm flipH="false" flipV="false" rot="0">
              <a:off x="0" y="0"/>
              <a:ext cx="10745851" cy="4210939"/>
            </a:xfrm>
            <a:custGeom>
              <a:avLst/>
              <a:gdLst/>
              <a:ahLst/>
              <a:cxnLst/>
              <a:rect r="r" b="b" t="t" l="l"/>
              <a:pathLst>
                <a:path h="4210939" w="10745851">
                  <a:moveTo>
                    <a:pt x="0" y="0"/>
                  </a:moveTo>
                  <a:lnTo>
                    <a:pt x="10745851" y="0"/>
                  </a:lnTo>
                  <a:lnTo>
                    <a:pt x="10745851" y="4210939"/>
                  </a:lnTo>
                  <a:lnTo>
                    <a:pt x="0" y="4210939"/>
                  </a:lnTo>
                  <a:close/>
                </a:path>
              </a:pathLst>
            </a:custGeom>
            <a:solidFill>
              <a:srgbClr val="FFFFFF"/>
            </a:solidFill>
            <a:ln w="12700" cap="sq">
              <a:solidFill>
                <a:srgbClr val="E2E8F0"/>
              </a:solidFill>
              <a:prstDash val="solid"/>
              <a:miter/>
            </a:ln>
          </p:spPr>
        </p:sp>
      </p:grpSp>
      <p:grpSp>
        <p:nvGrpSpPr>
          <p:cNvPr name="Group 40" id="40"/>
          <p:cNvGrpSpPr/>
          <p:nvPr/>
        </p:nvGrpSpPr>
        <p:grpSpPr>
          <a:xfrm rot="0">
            <a:off x="901703" y="6351527"/>
            <a:ext cx="8072123" cy="135131"/>
            <a:chOff x="0" y="0"/>
            <a:chExt cx="10762831" cy="180175"/>
          </a:xfrm>
        </p:grpSpPr>
        <p:sp>
          <p:nvSpPr>
            <p:cNvPr name="Freeform 41" id="41"/>
            <p:cNvSpPr/>
            <p:nvPr/>
          </p:nvSpPr>
          <p:spPr>
            <a:xfrm flipH="false" flipV="false" rot="0">
              <a:off x="0" y="0"/>
              <a:ext cx="10762869" cy="180213"/>
            </a:xfrm>
            <a:custGeom>
              <a:avLst/>
              <a:gdLst/>
              <a:ahLst/>
              <a:cxnLst/>
              <a:rect r="r" b="b" t="t" l="l"/>
              <a:pathLst>
                <a:path h="180213" w="10762869">
                  <a:moveTo>
                    <a:pt x="0" y="0"/>
                  </a:moveTo>
                  <a:lnTo>
                    <a:pt x="10762869" y="0"/>
                  </a:lnTo>
                  <a:lnTo>
                    <a:pt x="10762869" y="180213"/>
                  </a:lnTo>
                  <a:lnTo>
                    <a:pt x="0" y="180213"/>
                  </a:lnTo>
                  <a:close/>
                </a:path>
              </a:pathLst>
            </a:custGeom>
            <a:solidFill>
              <a:srgbClr val="D4A017"/>
            </a:solidFill>
            <a:ln w="25400" cap="sq">
              <a:solidFill>
                <a:srgbClr val="D4A017"/>
              </a:solidFill>
              <a:prstDash val="solid"/>
              <a:miter/>
            </a:ln>
          </p:spPr>
        </p:sp>
      </p:grpSp>
      <p:grpSp>
        <p:nvGrpSpPr>
          <p:cNvPr name="Group 42" id="42"/>
          <p:cNvGrpSpPr/>
          <p:nvPr/>
        </p:nvGrpSpPr>
        <p:grpSpPr>
          <a:xfrm rot="0">
            <a:off x="1188720" y="6638544"/>
            <a:ext cx="5486400" cy="640080"/>
            <a:chOff x="0" y="0"/>
            <a:chExt cx="7315200" cy="853440"/>
          </a:xfrm>
        </p:grpSpPr>
        <p:sp>
          <p:nvSpPr>
            <p:cNvPr name="Freeform 43" id="43"/>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44" id="44"/>
            <p:cNvSpPr txBox="true"/>
            <p:nvPr/>
          </p:nvSpPr>
          <p:spPr>
            <a:xfrm>
              <a:off x="0" y="-9525"/>
              <a:ext cx="7315200" cy="862965"/>
            </a:xfrm>
            <a:prstGeom prst="rect">
              <a:avLst/>
            </a:prstGeom>
          </p:spPr>
          <p:txBody>
            <a:bodyPr anchor="ctr" rtlCol="false" tIns="0" lIns="0" bIns="0" rIns="0"/>
            <a:lstStyle/>
            <a:p>
              <a:pPr algn="l">
                <a:lnSpc>
                  <a:spcPts val="3120"/>
                </a:lnSpc>
              </a:pPr>
              <a:r>
                <a:rPr lang="en-US" sz="2600" b="true">
                  <a:solidFill>
                    <a:srgbClr val="1E293B"/>
                  </a:solidFill>
                  <a:latin typeface="Trebuchet MS Bold"/>
                  <a:ea typeface="Trebuchet MS Bold"/>
                  <a:cs typeface="Trebuchet MS Bold"/>
                  <a:sym typeface="Trebuchet MS Bold"/>
                </a:rPr>
                <a:t>Technology News</a:t>
              </a:r>
            </a:p>
          </p:txBody>
        </p:sp>
      </p:grpSp>
      <p:grpSp>
        <p:nvGrpSpPr>
          <p:cNvPr name="Group 45" id="45"/>
          <p:cNvGrpSpPr/>
          <p:nvPr/>
        </p:nvGrpSpPr>
        <p:grpSpPr>
          <a:xfrm rot="0">
            <a:off x="6675120" y="6693408"/>
            <a:ext cx="2011680" cy="512064"/>
            <a:chOff x="0" y="0"/>
            <a:chExt cx="2682240" cy="682752"/>
          </a:xfrm>
        </p:grpSpPr>
        <p:sp>
          <p:nvSpPr>
            <p:cNvPr name="Freeform 46" id="46"/>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3">
                <a:alphaModFix amt="0"/>
              </a:blip>
              <a:stretch>
                <a:fillRect l="0" t="-26548" r="0" b="-26548"/>
              </a:stretch>
            </a:blipFill>
          </p:spPr>
        </p:sp>
        <p:sp>
          <p:nvSpPr>
            <p:cNvPr name="TextBox 47" id="47"/>
            <p:cNvSpPr txBox="true"/>
            <p:nvPr/>
          </p:nvSpPr>
          <p:spPr>
            <a:xfrm>
              <a:off x="0" y="-38100"/>
              <a:ext cx="2682240" cy="720852"/>
            </a:xfrm>
            <a:prstGeom prst="rect">
              <a:avLst/>
            </a:prstGeom>
          </p:spPr>
          <p:txBody>
            <a:bodyPr anchor="ctr" rtlCol="false" tIns="0" lIns="0" bIns="0" rIns="0"/>
            <a:lstStyle/>
            <a:p>
              <a:pPr algn="r">
                <a:lnSpc>
                  <a:spcPts val="2400"/>
                </a:lnSpc>
              </a:pPr>
              <a:r>
                <a:rPr lang="en-US" sz="2000" b="true">
                  <a:solidFill>
                    <a:srgbClr val="D4A017"/>
                  </a:solidFill>
                  <a:latin typeface="Calibri (MS) Bold"/>
                  <a:ea typeface="Calibri (MS) Bold"/>
                  <a:cs typeface="Calibri (MS) Bold"/>
                  <a:sym typeface="Calibri (MS) Bold"/>
                </a:rPr>
                <a:t>up to 32 countries</a:t>
              </a:r>
            </a:p>
          </p:txBody>
        </p:sp>
      </p:grpSp>
      <p:grpSp>
        <p:nvGrpSpPr>
          <p:cNvPr name="Group 48" id="48"/>
          <p:cNvGrpSpPr/>
          <p:nvPr/>
        </p:nvGrpSpPr>
        <p:grpSpPr>
          <a:xfrm rot="0">
            <a:off x="1188720" y="7370064"/>
            <a:ext cx="7498080" cy="1828800"/>
            <a:chOff x="0" y="0"/>
            <a:chExt cx="9997440" cy="2438400"/>
          </a:xfrm>
        </p:grpSpPr>
        <p:sp>
          <p:nvSpPr>
            <p:cNvPr name="Freeform 49" id="49"/>
            <p:cNvSpPr/>
            <p:nvPr/>
          </p:nvSpPr>
          <p:spPr>
            <a:xfrm flipH="false" flipV="false" rot="0">
              <a:off x="0" y="0"/>
              <a:ext cx="9997440" cy="2438400"/>
            </a:xfrm>
            <a:custGeom>
              <a:avLst/>
              <a:gdLst/>
              <a:ahLst/>
              <a:cxnLst/>
              <a:rect r="r" b="b" t="t" l="l"/>
              <a:pathLst>
                <a:path h="2438400" w="9997440">
                  <a:moveTo>
                    <a:pt x="0" y="0"/>
                  </a:moveTo>
                  <a:lnTo>
                    <a:pt x="9997440" y="0"/>
                  </a:lnTo>
                  <a:lnTo>
                    <a:pt x="9997440" y="2438400"/>
                  </a:lnTo>
                  <a:lnTo>
                    <a:pt x="0" y="2438400"/>
                  </a:lnTo>
                  <a:close/>
                </a:path>
              </a:pathLst>
            </a:custGeom>
            <a:blipFill>
              <a:blip r:embed="rId3">
                <a:alphaModFix amt="0"/>
              </a:blip>
              <a:stretch>
                <a:fillRect l="0" t="-29888" r="0" b="-29888"/>
              </a:stretch>
            </a:blipFill>
          </p:spPr>
        </p:sp>
        <p:sp>
          <p:nvSpPr>
            <p:cNvPr name="TextBox 50" id="50"/>
            <p:cNvSpPr txBox="true"/>
            <p:nvPr/>
          </p:nvSpPr>
          <p:spPr>
            <a:xfrm>
              <a:off x="0" y="-114300"/>
              <a:ext cx="9997440" cy="2552700"/>
            </a:xfrm>
            <a:prstGeom prst="rect">
              <a:avLst/>
            </a:prstGeom>
          </p:spPr>
          <p:txBody>
            <a:bodyPr anchor="ctr" rtlCol="false" tIns="0" lIns="0" bIns="0" rIns="0"/>
            <a:lstStyle/>
            <a:p>
              <a:pPr algn="l">
                <a:lnSpc>
                  <a:spcPts val="3240"/>
                </a:lnSpc>
              </a:pPr>
              <a:r>
                <a:rPr lang="en-US" sz="2000">
                  <a:solidFill>
                    <a:srgbClr val="64748B"/>
                  </a:solidFill>
                  <a:latin typeface="Calibri (MS)"/>
                  <a:ea typeface="Calibri (MS)"/>
                  <a:cs typeface="Calibri (MS)"/>
                  <a:sym typeface="Calibri (MS)"/>
                </a:rPr>
                <a:t>J</a:t>
              </a:r>
              <a:r>
                <a:rPr lang="en-US" sz="2000">
                  <a:solidFill>
                    <a:srgbClr val="64748B"/>
                  </a:solidFill>
                  <a:latin typeface="Calibri (MS)"/>
                  <a:ea typeface="Calibri (MS)"/>
                  <a:cs typeface="Calibri (MS)"/>
                  <a:sym typeface="Calibri (MS)"/>
                </a:rPr>
                <a:t>ohn Ternus (Apple exec, 32 countries)</a:t>
              </a:r>
            </a:p>
            <a:p>
              <a:pPr algn="l">
                <a:lnSpc>
                  <a:spcPts val="3240"/>
                </a:lnSpc>
              </a:pPr>
              <a:r>
                <a:rPr lang="en-US" sz="2000">
                  <a:solidFill>
                    <a:srgbClr val="64748B"/>
                  </a:solidFill>
                  <a:latin typeface="Calibri (MS)"/>
                  <a:ea typeface="Calibri (MS)"/>
                  <a:cs typeface="Calibri (MS)"/>
                  <a:sym typeface="Calibri (MS)"/>
                </a:rPr>
                <a:t>Tech product launches &amp; announcements</a:t>
              </a:r>
            </a:p>
          </p:txBody>
        </p:sp>
      </p:grpSp>
      <p:grpSp>
        <p:nvGrpSpPr>
          <p:cNvPr name="Group 51" id="51"/>
          <p:cNvGrpSpPr/>
          <p:nvPr/>
        </p:nvGrpSpPr>
        <p:grpSpPr>
          <a:xfrm rot="0">
            <a:off x="9503407" y="6357871"/>
            <a:ext cx="8059417" cy="3158233"/>
            <a:chOff x="0" y="0"/>
            <a:chExt cx="10745889" cy="4210977"/>
          </a:xfrm>
        </p:grpSpPr>
        <p:sp>
          <p:nvSpPr>
            <p:cNvPr name="Freeform 52" id="52"/>
            <p:cNvSpPr/>
            <p:nvPr/>
          </p:nvSpPr>
          <p:spPr>
            <a:xfrm flipH="false" flipV="false" rot="0">
              <a:off x="0" y="0"/>
              <a:ext cx="10745851" cy="4210939"/>
            </a:xfrm>
            <a:custGeom>
              <a:avLst/>
              <a:gdLst/>
              <a:ahLst/>
              <a:cxnLst/>
              <a:rect r="r" b="b" t="t" l="l"/>
              <a:pathLst>
                <a:path h="4210939" w="10745851">
                  <a:moveTo>
                    <a:pt x="0" y="0"/>
                  </a:moveTo>
                  <a:lnTo>
                    <a:pt x="10745851" y="0"/>
                  </a:lnTo>
                  <a:lnTo>
                    <a:pt x="10745851" y="4210939"/>
                  </a:lnTo>
                  <a:lnTo>
                    <a:pt x="0" y="4210939"/>
                  </a:lnTo>
                  <a:close/>
                </a:path>
              </a:pathLst>
            </a:custGeom>
            <a:solidFill>
              <a:srgbClr val="FFFFFF"/>
            </a:solidFill>
            <a:ln w="12700" cap="sq">
              <a:solidFill>
                <a:srgbClr val="E2E8F0"/>
              </a:solidFill>
              <a:prstDash val="solid"/>
              <a:miter/>
            </a:ln>
          </p:spPr>
        </p:sp>
      </p:grpSp>
      <p:grpSp>
        <p:nvGrpSpPr>
          <p:cNvPr name="Group 53" id="53"/>
          <p:cNvGrpSpPr/>
          <p:nvPr/>
        </p:nvGrpSpPr>
        <p:grpSpPr>
          <a:xfrm rot="0">
            <a:off x="9497063" y="6351527"/>
            <a:ext cx="8072123" cy="135131"/>
            <a:chOff x="0" y="0"/>
            <a:chExt cx="10762831" cy="180175"/>
          </a:xfrm>
        </p:grpSpPr>
        <p:sp>
          <p:nvSpPr>
            <p:cNvPr name="Freeform 54" id="54"/>
            <p:cNvSpPr/>
            <p:nvPr/>
          </p:nvSpPr>
          <p:spPr>
            <a:xfrm flipH="false" flipV="false" rot="0">
              <a:off x="0" y="0"/>
              <a:ext cx="10762869" cy="180213"/>
            </a:xfrm>
            <a:custGeom>
              <a:avLst/>
              <a:gdLst/>
              <a:ahLst/>
              <a:cxnLst/>
              <a:rect r="r" b="b" t="t" l="l"/>
              <a:pathLst>
                <a:path h="180213" w="10762869">
                  <a:moveTo>
                    <a:pt x="0" y="0"/>
                  </a:moveTo>
                  <a:lnTo>
                    <a:pt x="10762869" y="0"/>
                  </a:lnTo>
                  <a:lnTo>
                    <a:pt x="10762869" y="180213"/>
                  </a:lnTo>
                  <a:lnTo>
                    <a:pt x="0" y="180213"/>
                  </a:lnTo>
                  <a:close/>
                </a:path>
              </a:pathLst>
            </a:custGeom>
            <a:solidFill>
              <a:srgbClr val="2E7D52"/>
            </a:solidFill>
            <a:ln w="25400" cap="sq">
              <a:solidFill>
                <a:srgbClr val="2E7D52"/>
              </a:solidFill>
              <a:prstDash val="solid"/>
              <a:miter/>
            </a:ln>
          </p:spPr>
        </p:sp>
      </p:grpSp>
      <p:grpSp>
        <p:nvGrpSpPr>
          <p:cNvPr name="Group 55" id="55"/>
          <p:cNvGrpSpPr/>
          <p:nvPr/>
        </p:nvGrpSpPr>
        <p:grpSpPr>
          <a:xfrm rot="0">
            <a:off x="9784080" y="6638544"/>
            <a:ext cx="5486400" cy="640080"/>
            <a:chOff x="0" y="0"/>
            <a:chExt cx="7315200" cy="853440"/>
          </a:xfrm>
        </p:grpSpPr>
        <p:sp>
          <p:nvSpPr>
            <p:cNvPr name="Freeform 56" id="56"/>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57" id="57"/>
            <p:cNvSpPr txBox="true"/>
            <p:nvPr/>
          </p:nvSpPr>
          <p:spPr>
            <a:xfrm>
              <a:off x="0" y="-9525"/>
              <a:ext cx="7315200" cy="862965"/>
            </a:xfrm>
            <a:prstGeom prst="rect">
              <a:avLst/>
            </a:prstGeom>
          </p:spPr>
          <p:txBody>
            <a:bodyPr anchor="ctr" rtlCol="false" tIns="0" lIns="0" bIns="0" rIns="0"/>
            <a:lstStyle/>
            <a:p>
              <a:pPr algn="l">
                <a:lnSpc>
                  <a:spcPts val="3120"/>
                </a:lnSpc>
              </a:pPr>
              <a:r>
                <a:rPr lang="en-US" sz="2600" b="true">
                  <a:solidFill>
                    <a:srgbClr val="1E293B"/>
                  </a:solidFill>
                  <a:latin typeface="Trebuchet MS Bold"/>
                  <a:ea typeface="Trebuchet MS Bold"/>
                  <a:cs typeface="Trebuchet MS Bold"/>
                  <a:sym typeface="Trebuchet MS Bold"/>
                </a:rPr>
                <a:t>Universal Calendar Events</a:t>
              </a:r>
            </a:p>
          </p:txBody>
        </p:sp>
      </p:grpSp>
      <p:grpSp>
        <p:nvGrpSpPr>
          <p:cNvPr name="Group 58" id="58"/>
          <p:cNvGrpSpPr/>
          <p:nvPr/>
        </p:nvGrpSpPr>
        <p:grpSpPr>
          <a:xfrm rot="0">
            <a:off x="15270480" y="6693408"/>
            <a:ext cx="2011680" cy="512064"/>
            <a:chOff x="0" y="0"/>
            <a:chExt cx="2682240" cy="682752"/>
          </a:xfrm>
        </p:grpSpPr>
        <p:sp>
          <p:nvSpPr>
            <p:cNvPr name="Freeform 59" id="59"/>
            <p:cNvSpPr/>
            <p:nvPr/>
          </p:nvSpPr>
          <p:spPr>
            <a:xfrm flipH="false" flipV="false" rot="0">
              <a:off x="0" y="0"/>
              <a:ext cx="2682240" cy="682752"/>
            </a:xfrm>
            <a:custGeom>
              <a:avLst/>
              <a:gdLst/>
              <a:ahLst/>
              <a:cxnLst/>
              <a:rect r="r" b="b" t="t" l="l"/>
              <a:pathLst>
                <a:path h="682752" w="2682240">
                  <a:moveTo>
                    <a:pt x="0" y="0"/>
                  </a:moveTo>
                  <a:lnTo>
                    <a:pt x="2682240" y="0"/>
                  </a:lnTo>
                  <a:lnTo>
                    <a:pt x="2682240" y="682752"/>
                  </a:lnTo>
                  <a:lnTo>
                    <a:pt x="0" y="682752"/>
                  </a:lnTo>
                  <a:close/>
                </a:path>
              </a:pathLst>
            </a:custGeom>
            <a:blipFill>
              <a:blip r:embed="rId3">
                <a:alphaModFix amt="0"/>
              </a:blip>
              <a:stretch>
                <a:fillRect l="0" t="-26548" r="0" b="-26548"/>
              </a:stretch>
            </a:blipFill>
          </p:spPr>
        </p:sp>
        <p:sp>
          <p:nvSpPr>
            <p:cNvPr name="TextBox 60" id="60"/>
            <p:cNvSpPr txBox="true"/>
            <p:nvPr/>
          </p:nvSpPr>
          <p:spPr>
            <a:xfrm>
              <a:off x="0" y="-38100"/>
              <a:ext cx="2682240" cy="720852"/>
            </a:xfrm>
            <a:prstGeom prst="rect">
              <a:avLst/>
            </a:prstGeom>
          </p:spPr>
          <p:txBody>
            <a:bodyPr anchor="ctr" rtlCol="false" tIns="0" lIns="0" bIns="0" rIns="0"/>
            <a:lstStyle/>
            <a:p>
              <a:pPr algn="r">
                <a:lnSpc>
                  <a:spcPts val="2400"/>
                </a:lnSpc>
              </a:pPr>
              <a:r>
                <a:rPr lang="en-US" sz="2000" b="true">
                  <a:solidFill>
                    <a:srgbClr val="2E7D52"/>
                  </a:solidFill>
                  <a:latin typeface="Calibri (MS) Bold"/>
                  <a:ea typeface="Calibri (MS) Bold"/>
                  <a:cs typeface="Calibri (MS) Bold"/>
                  <a:sym typeface="Calibri (MS) Bold"/>
                </a:rPr>
                <a:t>up to 26 countries</a:t>
              </a:r>
            </a:p>
          </p:txBody>
        </p:sp>
      </p:grpSp>
      <p:grpSp>
        <p:nvGrpSpPr>
          <p:cNvPr name="Group 61" id="61"/>
          <p:cNvGrpSpPr/>
          <p:nvPr/>
        </p:nvGrpSpPr>
        <p:grpSpPr>
          <a:xfrm rot="0">
            <a:off x="9784080" y="7370064"/>
            <a:ext cx="7498080" cy="1828800"/>
            <a:chOff x="0" y="0"/>
            <a:chExt cx="9997440" cy="2438400"/>
          </a:xfrm>
        </p:grpSpPr>
        <p:sp>
          <p:nvSpPr>
            <p:cNvPr name="Freeform 62" id="62"/>
            <p:cNvSpPr/>
            <p:nvPr/>
          </p:nvSpPr>
          <p:spPr>
            <a:xfrm flipH="false" flipV="false" rot="0">
              <a:off x="0" y="0"/>
              <a:ext cx="9997440" cy="2438400"/>
            </a:xfrm>
            <a:custGeom>
              <a:avLst/>
              <a:gdLst/>
              <a:ahLst/>
              <a:cxnLst/>
              <a:rect r="r" b="b" t="t" l="l"/>
              <a:pathLst>
                <a:path h="2438400" w="9997440">
                  <a:moveTo>
                    <a:pt x="0" y="0"/>
                  </a:moveTo>
                  <a:lnTo>
                    <a:pt x="9997440" y="0"/>
                  </a:lnTo>
                  <a:lnTo>
                    <a:pt x="9997440" y="2438400"/>
                  </a:lnTo>
                  <a:lnTo>
                    <a:pt x="0" y="2438400"/>
                  </a:lnTo>
                  <a:close/>
                </a:path>
              </a:pathLst>
            </a:custGeom>
            <a:blipFill>
              <a:blip r:embed="rId3">
                <a:alphaModFix amt="0"/>
              </a:blip>
              <a:stretch>
                <a:fillRect l="0" t="-29888" r="0" b="-29888"/>
              </a:stretch>
            </a:blipFill>
          </p:spPr>
        </p:sp>
        <p:sp>
          <p:nvSpPr>
            <p:cNvPr name="TextBox 63" id="63"/>
            <p:cNvSpPr txBox="true"/>
            <p:nvPr/>
          </p:nvSpPr>
          <p:spPr>
            <a:xfrm>
              <a:off x="0" y="-114300"/>
              <a:ext cx="9997440" cy="2552700"/>
            </a:xfrm>
            <a:prstGeom prst="rect">
              <a:avLst/>
            </a:prstGeom>
          </p:spPr>
          <p:txBody>
            <a:bodyPr anchor="ctr" rtlCol="false" tIns="0" lIns="0" bIns="0" rIns="0"/>
            <a:lstStyle/>
            <a:p>
              <a:pPr algn="l">
                <a:lnSpc>
                  <a:spcPts val="3240"/>
                </a:lnSpc>
              </a:pPr>
              <a:r>
                <a:rPr lang="en-US" sz="2000">
                  <a:solidFill>
                    <a:srgbClr val="64748B"/>
                  </a:solidFill>
                  <a:latin typeface="Calibri (MS)"/>
                  <a:ea typeface="Calibri (MS)"/>
                  <a:cs typeface="Calibri (MS)"/>
                  <a:sym typeface="Calibri (MS)"/>
                </a:rPr>
                <a:t>Easter 2026 · Labour Day</a:t>
              </a:r>
            </a:p>
            <a:p>
              <a:pPr algn="l">
                <a:lnSpc>
                  <a:spcPts val="3240"/>
                </a:lnSpc>
              </a:pPr>
              <a:r>
                <a:rPr lang="en-US" sz="2000">
                  <a:solidFill>
                    <a:srgbClr val="64748B"/>
                  </a:solidFill>
                  <a:latin typeface="Calibri (MS)"/>
                  <a:ea typeface="Calibri (MS)"/>
                  <a:cs typeface="Calibri (MS)"/>
                  <a:sym typeface="Calibri (MS)"/>
                </a:rPr>
                <a:t>Predictable, plannable, globally resonant</a:t>
              </a:r>
            </a:p>
          </p:txBody>
        </p:sp>
      </p:grpSp>
      <p:grpSp>
        <p:nvGrpSpPr>
          <p:cNvPr name="Group 64" id="64"/>
          <p:cNvGrpSpPr/>
          <p:nvPr/>
        </p:nvGrpSpPr>
        <p:grpSpPr>
          <a:xfrm rot="0">
            <a:off x="16093440" y="9692640"/>
            <a:ext cx="1828800" cy="365760"/>
            <a:chOff x="0" y="0"/>
            <a:chExt cx="2438400" cy="487680"/>
          </a:xfrm>
        </p:grpSpPr>
        <p:sp>
          <p:nvSpPr>
            <p:cNvPr name="Freeform 65" id="65"/>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66" id="66"/>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12 / 14</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097280" y="640080"/>
            <a:ext cx="16093440" cy="457200"/>
            <a:chOff x="0" y="0"/>
            <a:chExt cx="21457920" cy="609600"/>
          </a:xfrm>
        </p:grpSpPr>
        <p:sp>
          <p:nvSpPr>
            <p:cNvPr name="Freeform 3" id="3"/>
            <p:cNvSpPr/>
            <p:nvPr/>
          </p:nvSpPr>
          <p:spPr>
            <a:xfrm flipH="false" flipV="false" rot="0">
              <a:off x="0" y="0"/>
              <a:ext cx="21457920" cy="609600"/>
            </a:xfrm>
            <a:custGeom>
              <a:avLst/>
              <a:gdLst/>
              <a:ahLst/>
              <a:cxnLst/>
              <a:rect r="r" b="b" t="t" l="l"/>
              <a:pathLst>
                <a:path h="609600" w="21457920">
                  <a:moveTo>
                    <a:pt x="0" y="0"/>
                  </a:moveTo>
                  <a:lnTo>
                    <a:pt x="21457920" y="0"/>
                  </a:lnTo>
                  <a:lnTo>
                    <a:pt x="21457920" y="609600"/>
                  </a:lnTo>
                  <a:lnTo>
                    <a:pt x="0" y="609600"/>
                  </a:lnTo>
                  <a:close/>
                </a:path>
              </a:pathLst>
            </a:custGeom>
            <a:blipFill>
              <a:blip r:embed="rId3">
                <a:alphaModFix amt="0"/>
              </a:blip>
              <a:stretch>
                <a:fillRect l="0" t="-635873" r="0" b="-635873"/>
              </a:stretch>
            </a:blipFill>
          </p:spPr>
        </p:sp>
        <p:sp>
          <p:nvSpPr>
            <p:cNvPr name="TextBox 4" id="4"/>
            <p:cNvSpPr txBox="true"/>
            <p:nvPr/>
          </p:nvSpPr>
          <p:spPr>
            <a:xfrm>
              <a:off x="0" y="-38100"/>
              <a:ext cx="21457920" cy="647700"/>
            </a:xfrm>
            <a:prstGeom prst="rect">
              <a:avLst/>
            </a:prstGeom>
          </p:spPr>
          <p:txBody>
            <a:bodyPr anchor="ctr" rtlCol="false" tIns="0" lIns="0" bIns="0" rIns="0"/>
            <a:lstStyle/>
            <a:p>
              <a:pPr algn="l">
                <a:lnSpc>
                  <a:spcPts val="2160"/>
                </a:lnSpc>
              </a:pPr>
              <a:r>
                <a:rPr lang="en-US" b="true" sz="1800" spc="599">
                  <a:solidFill>
                    <a:srgbClr val="12B5C8"/>
                  </a:solidFill>
                  <a:latin typeface="Calibri (MS) Bold"/>
                  <a:ea typeface="Calibri (MS) Bold"/>
                  <a:cs typeface="Calibri (MS) Bold"/>
                  <a:sym typeface="Calibri (MS) Bold"/>
                </a:rPr>
                <a:t>ANSWER — SUMMARY</a:t>
              </a:r>
            </a:p>
          </p:txBody>
        </p:sp>
      </p:grpSp>
      <p:grpSp>
        <p:nvGrpSpPr>
          <p:cNvPr name="Group 5" id="5"/>
          <p:cNvGrpSpPr/>
          <p:nvPr/>
        </p:nvGrpSpPr>
        <p:grpSpPr>
          <a:xfrm rot="0">
            <a:off x="1097280" y="1188720"/>
            <a:ext cx="16093440" cy="1005840"/>
            <a:chOff x="0" y="0"/>
            <a:chExt cx="21457920" cy="1341120"/>
          </a:xfrm>
        </p:grpSpPr>
        <p:sp>
          <p:nvSpPr>
            <p:cNvPr name="Freeform 6" id="6"/>
            <p:cNvSpPr/>
            <p:nvPr/>
          </p:nvSpPr>
          <p:spPr>
            <a:xfrm flipH="false" flipV="false" rot="0">
              <a:off x="0" y="0"/>
              <a:ext cx="21457920" cy="1341120"/>
            </a:xfrm>
            <a:custGeom>
              <a:avLst/>
              <a:gdLst/>
              <a:ahLst/>
              <a:cxnLst/>
              <a:rect r="r" b="b" t="t" l="l"/>
              <a:pathLst>
                <a:path h="1341120" w="21457920">
                  <a:moveTo>
                    <a:pt x="0" y="0"/>
                  </a:moveTo>
                  <a:lnTo>
                    <a:pt x="21457920" y="0"/>
                  </a:lnTo>
                  <a:lnTo>
                    <a:pt x="21457920" y="1341120"/>
                  </a:lnTo>
                  <a:lnTo>
                    <a:pt x="0" y="1341120"/>
                  </a:lnTo>
                  <a:close/>
                </a:path>
              </a:pathLst>
            </a:custGeom>
            <a:blipFill>
              <a:blip r:embed="rId3">
                <a:alphaModFix amt="0"/>
              </a:blip>
              <a:stretch>
                <a:fillRect l="0" t="-261760" r="0" b="-261760"/>
              </a:stretch>
            </a:blipFill>
          </p:spPr>
        </p:sp>
        <p:sp>
          <p:nvSpPr>
            <p:cNvPr name="TextBox 7" id="7"/>
            <p:cNvSpPr txBox="true"/>
            <p:nvPr/>
          </p:nvSpPr>
          <p:spPr>
            <a:xfrm>
              <a:off x="0" y="-9525"/>
              <a:ext cx="21457920" cy="1350645"/>
            </a:xfrm>
            <a:prstGeom prst="rect">
              <a:avLst/>
            </a:prstGeom>
          </p:spPr>
          <p:txBody>
            <a:bodyPr anchor="ctr" rtlCol="false" tIns="0" lIns="0" bIns="0" rIns="0"/>
            <a:lstStyle/>
            <a:p>
              <a:pPr algn="l">
                <a:lnSpc>
                  <a:spcPts val="6240"/>
                </a:lnSpc>
              </a:pPr>
              <a:r>
                <a:rPr lang="en-US" sz="5200" b="true">
                  <a:solidFill>
                    <a:srgbClr val="FFFFFF"/>
                  </a:solidFill>
                  <a:latin typeface="Trebuchet MS Bold"/>
                  <a:ea typeface="Trebuchet MS Bold"/>
                  <a:cs typeface="Trebuchet MS Bold"/>
                  <a:sym typeface="Trebuchet MS Bold"/>
                </a:rPr>
                <a:t>Six findings. Six imperatives.</a:t>
              </a:r>
            </a:p>
          </p:txBody>
        </p:sp>
      </p:grpSp>
      <p:grpSp>
        <p:nvGrpSpPr>
          <p:cNvPr name="Group 8" id="8"/>
          <p:cNvGrpSpPr/>
          <p:nvPr/>
        </p:nvGrpSpPr>
        <p:grpSpPr>
          <a:xfrm rot="0">
            <a:off x="901703" y="2511047"/>
            <a:ext cx="16667483" cy="1122683"/>
            <a:chOff x="0" y="0"/>
            <a:chExt cx="22223311" cy="1496911"/>
          </a:xfrm>
        </p:grpSpPr>
        <p:sp>
          <p:nvSpPr>
            <p:cNvPr name="Freeform 9" id="9"/>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solidFill>
              <a:srgbClr val="FFFFFF">
                <a:alpha val="0"/>
              </a:srgbClr>
            </a:solidFill>
            <a:ln w="25400" cap="sq">
              <a:solidFill>
                <a:srgbClr val="FFFFFF"/>
              </a:solidFill>
              <a:prstDash val="solid"/>
              <a:miter/>
            </a:ln>
          </p:spPr>
        </p:sp>
      </p:grpSp>
      <p:grpSp>
        <p:nvGrpSpPr>
          <p:cNvPr name="Group 10" id="10"/>
          <p:cNvGrpSpPr/>
          <p:nvPr/>
        </p:nvGrpSpPr>
        <p:grpSpPr>
          <a:xfrm rot="0">
            <a:off x="1005840" y="2743200"/>
            <a:ext cx="640080" cy="640080"/>
            <a:chOff x="0" y="0"/>
            <a:chExt cx="853440" cy="853440"/>
          </a:xfrm>
        </p:grpSpPr>
        <p:sp>
          <p:nvSpPr>
            <p:cNvPr name="Freeform 11" id="11"/>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12" id="12"/>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01</a:t>
              </a:r>
            </a:p>
          </p:txBody>
        </p:sp>
      </p:grpSp>
      <p:grpSp>
        <p:nvGrpSpPr>
          <p:cNvPr name="Group 13" id="13"/>
          <p:cNvGrpSpPr/>
          <p:nvPr/>
        </p:nvGrpSpPr>
        <p:grpSpPr>
          <a:xfrm rot="0">
            <a:off x="1737360" y="2670048"/>
            <a:ext cx="5303520" cy="804672"/>
            <a:chOff x="0" y="0"/>
            <a:chExt cx="7071360" cy="1072896"/>
          </a:xfrm>
        </p:grpSpPr>
        <p:sp>
          <p:nvSpPr>
            <p:cNvPr name="Freeform 14" id="14"/>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15" id="15"/>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99.3% of trends are local</a:t>
              </a:r>
            </a:p>
          </p:txBody>
        </p:sp>
      </p:grpSp>
      <p:grpSp>
        <p:nvGrpSpPr>
          <p:cNvPr name="Group 16" id="16"/>
          <p:cNvGrpSpPr/>
          <p:nvPr/>
        </p:nvGrpSpPr>
        <p:grpSpPr>
          <a:xfrm rot="0">
            <a:off x="7132320" y="2670048"/>
            <a:ext cx="7863840" cy="804672"/>
            <a:chOff x="0" y="0"/>
            <a:chExt cx="10485120" cy="1072896"/>
          </a:xfrm>
        </p:grpSpPr>
        <p:sp>
          <p:nvSpPr>
            <p:cNvPr name="Freeform 17" id="17"/>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18" id="18"/>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Add a scope filter to content planning. Only Global terms drive multi-market campaigns.</a:t>
              </a:r>
            </a:p>
          </p:txBody>
        </p:sp>
      </p:grpSp>
      <p:grpSp>
        <p:nvGrpSpPr>
          <p:cNvPr name="Group 19" id="19"/>
          <p:cNvGrpSpPr/>
          <p:nvPr/>
        </p:nvGrpSpPr>
        <p:grpSpPr>
          <a:xfrm rot="0">
            <a:off x="15087600" y="2743200"/>
            <a:ext cx="2194560" cy="640080"/>
            <a:chOff x="0" y="0"/>
            <a:chExt cx="2926080" cy="853440"/>
          </a:xfrm>
        </p:grpSpPr>
        <p:sp>
          <p:nvSpPr>
            <p:cNvPr name="Freeform 20" id="20"/>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21" id="21"/>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0.7% global</a:t>
              </a:r>
            </a:p>
          </p:txBody>
        </p:sp>
      </p:grpSp>
      <p:grpSp>
        <p:nvGrpSpPr>
          <p:cNvPr name="Group 22" id="22"/>
          <p:cNvGrpSpPr/>
          <p:nvPr/>
        </p:nvGrpSpPr>
        <p:grpSpPr>
          <a:xfrm rot="0">
            <a:off x="901703" y="3736343"/>
            <a:ext cx="16667483" cy="1122683"/>
            <a:chOff x="0" y="0"/>
            <a:chExt cx="22223311" cy="1496911"/>
          </a:xfrm>
        </p:grpSpPr>
        <p:sp>
          <p:nvSpPr>
            <p:cNvPr name="Freeform 23" id="23"/>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blipFill>
              <a:blip r:embed="rId3">
                <a:alphaModFix amt="0"/>
              </a:blip>
              <a:stretch>
                <a:fillRect l="0" t="-239271" r="0" b="-239268"/>
              </a:stretch>
            </a:blipFill>
            <a:ln w="25400" cap="sq">
              <a:solidFill>
                <a:srgbClr val="FFFFFF"/>
              </a:solidFill>
              <a:prstDash val="solid"/>
              <a:miter/>
            </a:ln>
          </p:spPr>
        </p:sp>
      </p:grpSp>
      <p:grpSp>
        <p:nvGrpSpPr>
          <p:cNvPr name="Group 24" id="24"/>
          <p:cNvGrpSpPr/>
          <p:nvPr/>
        </p:nvGrpSpPr>
        <p:grpSpPr>
          <a:xfrm rot="0">
            <a:off x="1005840" y="3968496"/>
            <a:ext cx="640080" cy="640080"/>
            <a:chOff x="0" y="0"/>
            <a:chExt cx="853440" cy="853440"/>
          </a:xfrm>
        </p:grpSpPr>
        <p:sp>
          <p:nvSpPr>
            <p:cNvPr name="Freeform 25" id="25"/>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26" id="26"/>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02</a:t>
              </a:r>
            </a:p>
          </p:txBody>
        </p:sp>
      </p:grpSp>
      <p:grpSp>
        <p:nvGrpSpPr>
          <p:cNvPr name="Group 27" id="27"/>
          <p:cNvGrpSpPr/>
          <p:nvPr/>
        </p:nvGrpSpPr>
        <p:grpSpPr>
          <a:xfrm rot="0">
            <a:off x="1737360" y="3895344"/>
            <a:ext cx="5303520" cy="804672"/>
            <a:chOff x="0" y="0"/>
            <a:chExt cx="7071360" cy="1072896"/>
          </a:xfrm>
        </p:grpSpPr>
        <p:sp>
          <p:nvSpPr>
            <p:cNvPr name="Freeform 28" id="28"/>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29" id="29"/>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Breakout events are unmeasurable</a:t>
              </a:r>
            </a:p>
          </p:txBody>
        </p:sp>
      </p:grpSp>
      <p:grpSp>
        <p:nvGrpSpPr>
          <p:cNvPr name="Group 30" id="30"/>
          <p:cNvGrpSpPr/>
          <p:nvPr/>
        </p:nvGrpSpPr>
        <p:grpSpPr>
          <a:xfrm rot="0">
            <a:off x="7132320" y="3895344"/>
            <a:ext cx="7863840" cy="804672"/>
            <a:chOff x="0" y="0"/>
            <a:chExt cx="10485120" cy="1072896"/>
          </a:xfrm>
        </p:grpSpPr>
        <p:sp>
          <p:nvSpPr>
            <p:cNvPr name="Freeform 31" id="31"/>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32" id="32"/>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Build an Explosive-term alert at 1,000% WoW gain. Breakout = reactive only.</a:t>
              </a:r>
            </a:p>
          </p:txBody>
        </p:sp>
      </p:grpSp>
      <p:grpSp>
        <p:nvGrpSpPr>
          <p:cNvPr name="Group 33" id="33"/>
          <p:cNvGrpSpPr/>
          <p:nvPr/>
        </p:nvGrpSpPr>
        <p:grpSpPr>
          <a:xfrm rot="0">
            <a:off x="15087600" y="3968496"/>
            <a:ext cx="2194560" cy="640080"/>
            <a:chOff x="0" y="0"/>
            <a:chExt cx="2926080" cy="853440"/>
          </a:xfrm>
        </p:grpSpPr>
        <p:sp>
          <p:nvSpPr>
            <p:cNvPr name="Freeform 34" id="34"/>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35" id="35"/>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280 at cap</a:t>
              </a:r>
            </a:p>
          </p:txBody>
        </p:sp>
      </p:grpSp>
      <p:grpSp>
        <p:nvGrpSpPr>
          <p:cNvPr name="Group 36" id="36"/>
          <p:cNvGrpSpPr/>
          <p:nvPr/>
        </p:nvGrpSpPr>
        <p:grpSpPr>
          <a:xfrm rot="0">
            <a:off x="901703" y="4961639"/>
            <a:ext cx="16667483" cy="1122683"/>
            <a:chOff x="0" y="0"/>
            <a:chExt cx="22223311" cy="1496911"/>
          </a:xfrm>
        </p:grpSpPr>
        <p:sp>
          <p:nvSpPr>
            <p:cNvPr name="Freeform 37" id="37"/>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solidFill>
              <a:srgbClr val="FFFFFF">
                <a:alpha val="0"/>
              </a:srgbClr>
            </a:solidFill>
            <a:ln w="25400" cap="sq">
              <a:solidFill>
                <a:srgbClr val="FFFFFF"/>
              </a:solidFill>
              <a:prstDash val="solid"/>
              <a:miter/>
            </a:ln>
          </p:spPr>
        </p:sp>
      </p:grpSp>
      <p:grpSp>
        <p:nvGrpSpPr>
          <p:cNvPr name="Group 38" id="38"/>
          <p:cNvGrpSpPr/>
          <p:nvPr/>
        </p:nvGrpSpPr>
        <p:grpSpPr>
          <a:xfrm rot="0">
            <a:off x="1005840" y="5193792"/>
            <a:ext cx="640080" cy="640080"/>
            <a:chOff x="0" y="0"/>
            <a:chExt cx="853440" cy="853440"/>
          </a:xfrm>
        </p:grpSpPr>
        <p:sp>
          <p:nvSpPr>
            <p:cNvPr name="Freeform 39" id="39"/>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40" id="40"/>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03</a:t>
              </a:r>
            </a:p>
          </p:txBody>
        </p:sp>
      </p:grpSp>
      <p:grpSp>
        <p:nvGrpSpPr>
          <p:cNvPr name="Group 41" id="41"/>
          <p:cNvGrpSpPr/>
          <p:nvPr/>
        </p:nvGrpSpPr>
        <p:grpSpPr>
          <a:xfrm rot="0">
            <a:off x="1737360" y="5120640"/>
            <a:ext cx="5303520" cy="804672"/>
            <a:chOff x="0" y="0"/>
            <a:chExt cx="7071360" cy="1072896"/>
          </a:xfrm>
        </p:grpSpPr>
        <p:sp>
          <p:nvSpPr>
            <p:cNvPr name="Freeform 42" id="42"/>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43" id="43"/>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Thailand, India, Turkey dominate</a:t>
              </a:r>
            </a:p>
          </p:txBody>
        </p:sp>
      </p:grpSp>
      <p:grpSp>
        <p:nvGrpSpPr>
          <p:cNvPr name="Group 44" id="44"/>
          <p:cNvGrpSpPr/>
          <p:nvPr/>
        </p:nvGrpSpPr>
        <p:grpSpPr>
          <a:xfrm rot="0">
            <a:off x="7132320" y="5120640"/>
            <a:ext cx="7863840" cy="804672"/>
            <a:chOff x="0" y="0"/>
            <a:chExt cx="10485120" cy="1072896"/>
          </a:xfrm>
        </p:grpSpPr>
        <p:sp>
          <p:nvSpPr>
            <p:cNvPr name="Freeform 45" id="45"/>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46" id="46"/>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Prioritise these three for trend monitoring and localisation investment.</a:t>
              </a:r>
            </a:p>
          </p:txBody>
        </p:sp>
      </p:grpSp>
      <p:grpSp>
        <p:nvGrpSpPr>
          <p:cNvPr name="Group 47" id="47"/>
          <p:cNvGrpSpPr/>
          <p:nvPr/>
        </p:nvGrpSpPr>
        <p:grpSpPr>
          <a:xfrm rot="0">
            <a:off x="15087600" y="5193792"/>
            <a:ext cx="2194560" cy="640080"/>
            <a:chOff x="0" y="0"/>
            <a:chExt cx="2926080" cy="853440"/>
          </a:xfrm>
        </p:grpSpPr>
        <p:sp>
          <p:nvSpPr>
            <p:cNvPr name="Freeform 48" id="48"/>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49" id="49"/>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99.1 avg score</a:t>
              </a:r>
            </a:p>
          </p:txBody>
        </p:sp>
      </p:grpSp>
      <p:grpSp>
        <p:nvGrpSpPr>
          <p:cNvPr name="Group 50" id="50"/>
          <p:cNvGrpSpPr/>
          <p:nvPr/>
        </p:nvGrpSpPr>
        <p:grpSpPr>
          <a:xfrm rot="0">
            <a:off x="901703" y="6186935"/>
            <a:ext cx="16667483" cy="1122683"/>
            <a:chOff x="0" y="0"/>
            <a:chExt cx="22223311" cy="1496911"/>
          </a:xfrm>
        </p:grpSpPr>
        <p:sp>
          <p:nvSpPr>
            <p:cNvPr name="Freeform 51" id="51"/>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blipFill>
              <a:blip r:embed="rId3">
                <a:alphaModFix amt="0"/>
              </a:blip>
              <a:stretch>
                <a:fillRect l="0" t="-239271" r="0" b="-239268"/>
              </a:stretch>
            </a:blipFill>
            <a:ln w="25400" cap="sq">
              <a:solidFill>
                <a:srgbClr val="FFFFFF"/>
              </a:solidFill>
              <a:prstDash val="solid"/>
              <a:miter/>
            </a:ln>
          </p:spPr>
        </p:sp>
      </p:grpSp>
      <p:grpSp>
        <p:nvGrpSpPr>
          <p:cNvPr name="Group 52" id="52"/>
          <p:cNvGrpSpPr/>
          <p:nvPr/>
        </p:nvGrpSpPr>
        <p:grpSpPr>
          <a:xfrm rot="0">
            <a:off x="1005840" y="6419088"/>
            <a:ext cx="640080" cy="640080"/>
            <a:chOff x="0" y="0"/>
            <a:chExt cx="853440" cy="853440"/>
          </a:xfrm>
        </p:grpSpPr>
        <p:sp>
          <p:nvSpPr>
            <p:cNvPr name="Freeform 53" id="53"/>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54" id="54"/>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04</a:t>
              </a:r>
            </a:p>
          </p:txBody>
        </p:sp>
      </p:grpSp>
      <p:grpSp>
        <p:nvGrpSpPr>
          <p:cNvPr name="Group 55" id="55"/>
          <p:cNvGrpSpPr/>
          <p:nvPr/>
        </p:nvGrpSpPr>
        <p:grpSpPr>
          <a:xfrm rot="0">
            <a:off x="1737360" y="6345936"/>
            <a:ext cx="5303520" cy="804672"/>
            <a:chOff x="0" y="0"/>
            <a:chExt cx="7071360" cy="1072896"/>
          </a:xfrm>
        </p:grpSpPr>
        <p:sp>
          <p:nvSpPr>
            <p:cNvPr name="Freeform 56" id="56"/>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57" id="57"/>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April 2026 was a black hole event</a:t>
              </a:r>
            </a:p>
          </p:txBody>
        </p:sp>
      </p:grpSp>
      <p:grpSp>
        <p:nvGrpSpPr>
          <p:cNvPr name="Group 58" id="58"/>
          <p:cNvGrpSpPr/>
          <p:nvPr/>
        </p:nvGrpSpPr>
        <p:grpSpPr>
          <a:xfrm rot="0">
            <a:off x="7132320" y="6345936"/>
            <a:ext cx="7863840" cy="804672"/>
            <a:chOff x="0" y="0"/>
            <a:chExt cx="10485120" cy="1072896"/>
          </a:xfrm>
        </p:grpSpPr>
        <p:sp>
          <p:nvSpPr>
            <p:cNvPr name="Freeform 59" id="59"/>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60" id="60"/>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Pause unrelated content when volume drops &gt;30% + avg score &gt;60 simultaneously.</a:t>
              </a:r>
            </a:p>
          </p:txBody>
        </p:sp>
      </p:grpSp>
      <p:grpSp>
        <p:nvGrpSpPr>
          <p:cNvPr name="Group 61" id="61"/>
          <p:cNvGrpSpPr/>
          <p:nvPr/>
        </p:nvGrpSpPr>
        <p:grpSpPr>
          <a:xfrm rot="0">
            <a:off x="15087600" y="6419088"/>
            <a:ext cx="2194560" cy="640080"/>
            <a:chOff x="0" y="0"/>
            <a:chExt cx="2926080" cy="853440"/>
          </a:xfrm>
        </p:grpSpPr>
        <p:sp>
          <p:nvSpPr>
            <p:cNvPr name="Freeform 62" id="62"/>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63" id="63"/>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3× baseline</a:t>
              </a:r>
            </a:p>
          </p:txBody>
        </p:sp>
      </p:grpSp>
      <p:grpSp>
        <p:nvGrpSpPr>
          <p:cNvPr name="Group 64" id="64"/>
          <p:cNvGrpSpPr/>
          <p:nvPr/>
        </p:nvGrpSpPr>
        <p:grpSpPr>
          <a:xfrm rot="0">
            <a:off x="901703" y="7412231"/>
            <a:ext cx="16667483" cy="1122683"/>
            <a:chOff x="0" y="0"/>
            <a:chExt cx="22223311" cy="1496911"/>
          </a:xfrm>
        </p:grpSpPr>
        <p:sp>
          <p:nvSpPr>
            <p:cNvPr name="Freeform 65" id="65"/>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solidFill>
              <a:srgbClr val="FFFFFF">
                <a:alpha val="0"/>
              </a:srgbClr>
            </a:solidFill>
            <a:ln w="25400" cap="sq">
              <a:solidFill>
                <a:srgbClr val="FFFFFF"/>
              </a:solidFill>
              <a:prstDash val="solid"/>
              <a:miter/>
            </a:ln>
          </p:spPr>
        </p:sp>
      </p:grpSp>
      <p:grpSp>
        <p:nvGrpSpPr>
          <p:cNvPr name="Group 66" id="66"/>
          <p:cNvGrpSpPr/>
          <p:nvPr/>
        </p:nvGrpSpPr>
        <p:grpSpPr>
          <a:xfrm rot="0">
            <a:off x="1005840" y="7644384"/>
            <a:ext cx="640080" cy="640080"/>
            <a:chOff x="0" y="0"/>
            <a:chExt cx="853440" cy="853440"/>
          </a:xfrm>
        </p:grpSpPr>
        <p:sp>
          <p:nvSpPr>
            <p:cNvPr name="Freeform 67" id="67"/>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68" id="68"/>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05</a:t>
              </a:r>
            </a:p>
          </p:txBody>
        </p:sp>
      </p:grpSp>
      <p:grpSp>
        <p:nvGrpSpPr>
          <p:cNvPr name="Group 69" id="69"/>
          <p:cNvGrpSpPr/>
          <p:nvPr/>
        </p:nvGrpSpPr>
        <p:grpSpPr>
          <a:xfrm rot="0">
            <a:off x="1737360" y="7571232"/>
            <a:ext cx="5303520" cy="804672"/>
            <a:chOff x="0" y="0"/>
            <a:chExt cx="7071360" cy="1072896"/>
          </a:xfrm>
        </p:grpSpPr>
        <p:sp>
          <p:nvSpPr>
            <p:cNvPr name="Freeform 70" id="70"/>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71" id="71"/>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High score = past peak</a:t>
              </a:r>
            </a:p>
          </p:txBody>
        </p:sp>
      </p:grpSp>
      <p:grpSp>
        <p:nvGrpSpPr>
          <p:cNvPr name="Group 72" id="72"/>
          <p:cNvGrpSpPr/>
          <p:nvPr/>
        </p:nvGrpSpPr>
        <p:grpSpPr>
          <a:xfrm rot="0">
            <a:off x="7132320" y="7571232"/>
            <a:ext cx="7863840" cy="804672"/>
            <a:chOff x="0" y="0"/>
            <a:chExt cx="10485120" cy="1072896"/>
          </a:xfrm>
        </p:grpSpPr>
        <p:sp>
          <p:nvSpPr>
            <p:cNvPr name="Freeform 73" id="73"/>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74" id="74"/>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Invest in UK, Germany, Australia now — ascending lifecycle, not yet at peak.</a:t>
              </a:r>
            </a:p>
          </p:txBody>
        </p:sp>
      </p:grpSp>
      <p:grpSp>
        <p:nvGrpSpPr>
          <p:cNvPr name="Group 75" id="75"/>
          <p:cNvGrpSpPr/>
          <p:nvPr/>
        </p:nvGrpSpPr>
        <p:grpSpPr>
          <a:xfrm rot="0">
            <a:off x="15087600" y="7644384"/>
            <a:ext cx="2194560" cy="640080"/>
            <a:chOff x="0" y="0"/>
            <a:chExt cx="2926080" cy="853440"/>
          </a:xfrm>
        </p:grpSpPr>
        <p:sp>
          <p:nvSpPr>
            <p:cNvPr name="Freeform 76" id="76"/>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77" id="77"/>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+0.37 UK growth</a:t>
              </a:r>
            </a:p>
          </p:txBody>
        </p:sp>
      </p:grpSp>
      <p:grpSp>
        <p:nvGrpSpPr>
          <p:cNvPr name="Group 78" id="78"/>
          <p:cNvGrpSpPr/>
          <p:nvPr/>
        </p:nvGrpSpPr>
        <p:grpSpPr>
          <a:xfrm rot="0">
            <a:off x="901703" y="8637527"/>
            <a:ext cx="16667483" cy="1122683"/>
            <a:chOff x="0" y="0"/>
            <a:chExt cx="22223311" cy="1496911"/>
          </a:xfrm>
        </p:grpSpPr>
        <p:sp>
          <p:nvSpPr>
            <p:cNvPr name="Freeform 79" id="79"/>
            <p:cNvSpPr/>
            <p:nvPr/>
          </p:nvSpPr>
          <p:spPr>
            <a:xfrm flipH="false" flipV="false" rot="0">
              <a:off x="0" y="0"/>
              <a:ext cx="22223349" cy="1496949"/>
            </a:xfrm>
            <a:custGeom>
              <a:avLst/>
              <a:gdLst/>
              <a:ahLst/>
              <a:cxnLst/>
              <a:rect r="r" b="b" t="t" l="l"/>
              <a:pathLst>
                <a:path h="1496949" w="22223349">
                  <a:moveTo>
                    <a:pt x="0" y="0"/>
                  </a:moveTo>
                  <a:lnTo>
                    <a:pt x="22223349" y="0"/>
                  </a:lnTo>
                  <a:lnTo>
                    <a:pt x="22223349" y="1496949"/>
                  </a:lnTo>
                  <a:lnTo>
                    <a:pt x="0" y="1496949"/>
                  </a:lnTo>
                  <a:close/>
                </a:path>
              </a:pathLst>
            </a:custGeom>
            <a:blipFill>
              <a:blip r:embed="rId3">
                <a:alphaModFix amt="0"/>
              </a:blip>
              <a:stretch>
                <a:fillRect l="0" t="-239271" r="0" b="-239268"/>
              </a:stretch>
            </a:blipFill>
            <a:ln w="25400" cap="sq">
              <a:solidFill>
                <a:srgbClr val="FFFFFF"/>
              </a:solidFill>
              <a:prstDash val="solid"/>
              <a:miter/>
            </a:ln>
          </p:spPr>
        </p:sp>
      </p:grpSp>
      <p:grpSp>
        <p:nvGrpSpPr>
          <p:cNvPr name="Group 80" id="80"/>
          <p:cNvGrpSpPr/>
          <p:nvPr/>
        </p:nvGrpSpPr>
        <p:grpSpPr>
          <a:xfrm rot="0">
            <a:off x="1005840" y="8869680"/>
            <a:ext cx="640080" cy="640080"/>
            <a:chOff x="0" y="0"/>
            <a:chExt cx="853440" cy="853440"/>
          </a:xfrm>
        </p:grpSpPr>
        <p:sp>
          <p:nvSpPr>
            <p:cNvPr name="Freeform 81" id="81"/>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82" id="82"/>
            <p:cNvSpPr txBox="true"/>
            <p:nvPr/>
          </p:nvSpPr>
          <p:spPr>
            <a:xfrm>
              <a:off x="0" y="-38100"/>
              <a:ext cx="853440" cy="891540"/>
            </a:xfrm>
            <a:prstGeom prst="rect">
              <a:avLst/>
            </a:prstGeom>
          </p:spPr>
          <p:txBody>
            <a:bodyPr anchor="ctr" rtlCol="false" tIns="0" lIns="0" bIns="0" rIns="0"/>
            <a:lstStyle/>
            <a:p>
              <a:pPr algn="l">
                <a:lnSpc>
                  <a:spcPts val="2400"/>
                </a:lnSpc>
              </a:pPr>
              <a:r>
                <a:rPr lang="en-US" sz="2000" b="true">
                  <a:solidFill>
                    <a:srgbClr val="0A7E8C"/>
                  </a:solidFill>
                  <a:latin typeface="Calibri (MS) Bold"/>
                  <a:ea typeface="Calibri (MS) Bold"/>
                  <a:cs typeface="Calibri (MS) Bold"/>
                  <a:sym typeface="Calibri (MS) Bold"/>
                </a:rPr>
                <a:t>06</a:t>
              </a:r>
            </a:p>
          </p:txBody>
        </p:sp>
      </p:grpSp>
      <p:grpSp>
        <p:nvGrpSpPr>
          <p:cNvPr name="Group 83" id="83"/>
          <p:cNvGrpSpPr/>
          <p:nvPr/>
        </p:nvGrpSpPr>
        <p:grpSpPr>
          <a:xfrm rot="0">
            <a:off x="1737360" y="8796528"/>
            <a:ext cx="5303520" cy="804672"/>
            <a:chOff x="0" y="0"/>
            <a:chExt cx="7071360" cy="1072896"/>
          </a:xfrm>
        </p:grpSpPr>
        <p:sp>
          <p:nvSpPr>
            <p:cNvPr name="Freeform 84" id="84"/>
            <p:cNvSpPr/>
            <p:nvPr/>
          </p:nvSpPr>
          <p:spPr>
            <a:xfrm flipH="false" flipV="false" rot="0">
              <a:off x="0" y="0"/>
              <a:ext cx="7071360" cy="1072896"/>
            </a:xfrm>
            <a:custGeom>
              <a:avLst/>
              <a:gdLst/>
              <a:ahLst/>
              <a:cxnLst/>
              <a:rect r="r" b="b" t="t" l="l"/>
              <a:pathLst>
                <a:path h="1072896" w="7071360">
                  <a:moveTo>
                    <a:pt x="0" y="0"/>
                  </a:moveTo>
                  <a:lnTo>
                    <a:pt x="7071360" y="0"/>
                  </a:lnTo>
                  <a:lnTo>
                    <a:pt x="7071360" y="1072896"/>
                  </a:lnTo>
                  <a:lnTo>
                    <a:pt x="0" y="1072896"/>
                  </a:lnTo>
                  <a:close/>
                </a:path>
              </a:pathLst>
            </a:custGeom>
            <a:blipFill>
              <a:blip r:embed="rId3">
                <a:alphaModFix amt="0"/>
              </a:blip>
              <a:stretch>
                <a:fillRect l="0" t="-78424" r="0" b="-78424"/>
              </a:stretch>
            </a:blipFill>
          </p:spPr>
        </p:sp>
        <p:sp>
          <p:nvSpPr>
            <p:cNvPr name="TextBox 85" id="85"/>
            <p:cNvSpPr txBox="true"/>
            <p:nvPr/>
          </p:nvSpPr>
          <p:spPr>
            <a:xfrm>
              <a:off x="0" y="-47625"/>
              <a:ext cx="7071360" cy="1120521"/>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Global = 4 categories only</a:t>
              </a:r>
            </a:p>
          </p:txBody>
        </p:sp>
      </p:grpSp>
      <p:grpSp>
        <p:nvGrpSpPr>
          <p:cNvPr name="Group 86" id="86"/>
          <p:cNvGrpSpPr/>
          <p:nvPr/>
        </p:nvGrpSpPr>
        <p:grpSpPr>
          <a:xfrm rot="0">
            <a:off x="7132320" y="8796528"/>
            <a:ext cx="7863840" cy="804672"/>
            <a:chOff x="0" y="0"/>
            <a:chExt cx="10485120" cy="1072896"/>
          </a:xfrm>
        </p:grpSpPr>
        <p:sp>
          <p:nvSpPr>
            <p:cNvPr name="Freeform 87" id="87"/>
            <p:cNvSpPr/>
            <p:nvPr/>
          </p:nvSpPr>
          <p:spPr>
            <a:xfrm flipH="false" flipV="false" rot="0">
              <a:off x="0" y="0"/>
              <a:ext cx="10485120" cy="1072896"/>
            </a:xfrm>
            <a:custGeom>
              <a:avLst/>
              <a:gdLst/>
              <a:ahLst/>
              <a:cxnLst/>
              <a:rect r="r" b="b" t="t" l="l"/>
              <a:pathLst>
                <a:path h="1072896" w="10485120">
                  <a:moveTo>
                    <a:pt x="0" y="0"/>
                  </a:moveTo>
                  <a:lnTo>
                    <a:pt x="10485120" y="0"/>
                  </a:lnTo>
                  <a:lnTo>
                    <a:pt x="10485120" y="1072896"/>
                  </a:lnTo>
                  <a:lnTo>
                    <a:pt x="0" y="1072896"/>
                  </a:lnTo>
                  <a:close/>
                </a:path>
              </a:pathLst>
            </a:custGeom>
            <a:blipFill>
              <a:blip r:embed="rId3">
                <a:alphaModFix amt="0"/>
              </a:blip>
              <a:stretch>
                <a:fillRect l="0" t="-140421" r="0" b="-140421"/>
              </a:stretch>
            </a:blipFill>
          </p:spPr>
        </p:sp>
        <p:sp>
          <p:nvSpPr>
            <p:cNvPr name="TextBox 88" id="88"/>
            <p:cNvSpPr txBox="true"/>
            <p:nvPr/>
          </p:nvSpPr>
          <p:spPr>
            <a:xfrm>
              <a:off x="0" y="-76200"/>
              <a:ext cx="10485120" cy="1149096"/>
            </a:xfrm>
            <a:prstGeom prst="rect">
              <a:avLst/>
            </a:prstGeom>
          </p:spPr>
          <p:txBody>
            <a:bodyPr anchor="ctr" rtlCol="false" tIns="0" lIns="0" bIns="0" rIns="0"/>
            <a:lstStyle/>
            <a:p>
              <a:pPr algn="l">
                <a:lnSpc>
                  <a:spcPts val="2879"/>
                </a:lnSpc>
              </a:pPr>
              <a:r>
                <a:rPr lang="en-US" sz="2000">
                  <a:solidFill>
                    <a:srgbClr val="A8C4CC"/>
                  </a:solidFill>
                  <a:latin typeface="Calibri (MS)"/>
                  <a:ea typeface="Calibri (MS)"/>
                  <a:cs typeface="Calibri (MS)"/>
                  <a:sym typeface="Calibri (MS)"/>
                </a:rPr>
                <a:t>Map brand pillars to: football, politics, tech news, or calendar events. Otherwise go local.</a:t>
              </a:r>
            </a:p>
          </p:txBody>
        </p:sp>
      </p:grpSp>
      <p:grpSp>
        <p:nvGrpSpPr>
          <p:cNvPr name="Group 89" id="89"/>
          <p:cNvGrpSpPr/>
          <p:nvPr/>
        </p:nvGrpSpPr>
        <p:grpSpPr>
          <a:xfrm rot="0">
            <a:off x="15087600" y="8869680"/>
            <a:ext cx="2194560" cy="640080"/>
            <a:chOff x="0" y="0"/>
            <a:chExt cx="2926080" cy="853440"/>
          </a:xfrm>
        </p:grpSpPr>
        <p:sp>
          <p:nvSpPr>
            <p:cNvPr name="Freeform 90" id="90"/>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91" id="91"/>
            <p:cNvSpPr txBox="true"/>
            <p:nvPr/>
          </p:nvSpPr>
          <p:spPr>
            <a:xfrm>
              <a:off x="0" y="-38100"/>
              <a:ext cx="2926080" cy="891540"/>
            </a:xfrm>
            <a:prstGeom prst="rect">
              <a:avLst/>
            </a:prstGeom>
          </p:spPr>
          <p:txBody>
            <a:bodyPr anchor="ctr" rtlCol="false" tIns="0" lIns="0" bIns="0" rIns="0"/>
            <a:lstStyle/>
            <a:p>
              <a:pPr algn="r">
                <a:lnSpc>
                  <a:spcPts val="2400"/>
                </a:lnSpc>
              </a:pPr>
              <a:r>
                <a:rPr lang="en-US" sz="2000" b="true">
                  <a:solidFill>
                    <a:srgbClr val="12B5C8"/>
                  </a:solidFill>
                  <a:latin typeface="Calibri (MS) Bold"/>
                  <a:ea typeface="Calibri (MS) Bold"/>
                  <a:cs typeface="Calibri (MS) Bold"/>
                  <a:sym typeface="Calibri (MS) Bold"/>
                </a:rPr>
                <a:t>34 countries max</a:t>
              </a:r>
            </a:p>
          </p:txBody>
        </p:sp>
      </p:grpSp>
      <p:grpSp>
        <p:nvGrpSpPr>
          <p:cNvPr name="Group 92" id="92"/>
          <p:cNvGrpSpPr/>
          <p:nvPr/>
        </p:nvGrpSpPr>
        <p:grpSpPr>
          <a:xfrm rot="0">
            <a:off x="16184880" y="9760210"/>
            <a:ext cx="1828800" cy="365760"/>
            <a:chOff x="0" y="0"/>
            <a:chExt cx="2438400" cy="487680"/>
          </a:xfrm>
        </p:grpSpPr>
        <p:sp>
          <p:nvSpPr>
            <p:cNvPr name="Freeform 93" id="93"/>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94" id="94"/>
            <p:cNvSpPr txBox="true"/>
            <p:nvPr/>
          </p:nvSpPr>
          <p:spPr>
            <a:xfrm>
              <a:off x="0" y="-38100"/>
              <a:ext cx="2438400" cy="525780"/>
            </a:xfrm>
            <a:prstGeom prst="rect">
              <a:avLst/>
            </a:prstGeom>
          </p:spPr>
          <p:txBody>
            <a:bodyPr anchor="ctr" rtlCol="false" tIns="0" lIns="0" bIns="0" rIns="0"/>
            <a:lstStyle/>
            <a:p>
              <a:pPr algn="r">
                <a:lnSpc>
                  <a:spcPts val="2160"/>
                </a:lnSpc>
              </a:pPr>
              <a:r>
                <a:rPr lang="en-US" sz="1800">
                  <a:solidFill>
                    <a:srgbClr val="94A3B8"/>
                  </a:solidFill>
                  <a:latin typeface="Calibri (MS)"/>
                  <a:ea typeface="Calibri (MS)"/>
                  <a:cs typeface="Calibri (MS)"/>
                  <a:sym typeface="Calibri (MS)"/>
                </a:rPr>
                <a:t>13 / 14</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031243" cy="10312403"/>
            <a:chOff x="0" y="0"/>
            <a:chExt cx="1374991" cy="13749871"/>
          </a:xfrm>
        </p:grpSpPr>
        <p:sp>
          <p:nvSpPr>
            <p:cNvPr name="Freeform 3" id="3"/>
            <p:cNvSpPr/>
            <p:nvPr/>
          </p:nvSpPr>
          <p:spPr>
            <a:xfrm flipH="false" flipV="false" rot="0">
              <a:off x="0" y="0"/>
              <a:ext cx="1375029" cy="13749910"/>
            </a:xfrm>
            <a:custGeom>
              <a:avLst/>
              <a:gdLst/>
              <a:ahLst/>
              <a:cxnLst/>
              <a:rect r="r" b="b" t="t" l="l"/>
              <a:pathLst>
                <a:path h="13749910" w="1375029">
                  <a:moveTo>
                    <a:pt x="0" y="0"/>
                  </a:moveTo>
                  <a:lnTo>
                    <a:pt x="1375029" y="0"/>
                  </a:lnTo>
                  <a:lnTo>
                    <a:pt x="1375029" y="13749910"/>
                  </a:lnTo>
                  <a:lnTo>
                    <a:pt x="0" y="13749910"/>
                  </a:lnTo>
                  <a:close/>
                </a:path>
              </a:pathLst>
            </a:custGeom>
            <a:solidFill>
              <a:srgbClr val="0A7E8C"/>
            </a:solidFill>
            <a:ln w="25400" cap="sq">
              <a:solidFill>
                <a:srgbClr val="0A7E8C"/>
              </a:solidFill>
              <a:prstDash val="solid"/>
              <a:miter/>
            </a:ln>
          </p:spPr>
        </p:sp>
      </p:grpSp>
      <p:grpSp>
        <p:nvGrpSpPr>
          <p:cNvPr name="Group 4" id="4"/>
          <p:cNvGrpSpPr/>
          <p:nvPr/>
        </p:nvGrpSpPr>
        <p:grpSpPr>
          <a:xfrm rot="0">
            <a:off x="1554480" y="822960"/>
            <a:ext cx="15544800" cy="1371600"/>
            <a:chOff x="0" y="0"/>
            <a:chExt cx="20726400" cy="1828800"/>
          </a:xfrm>
        </p:grpSpPr>
        <p:sp>
          <p:nvSpPr>
            <p:cNvPr name="Freeform 5" id="5"/>
            <p:cNvSpPr/>
            <p:nvPr/>
          </p:nvSpPr>
          <p:spPr>
            <a:xfrm flipH="false" flipV="false" rot="0">
              <a:off x="0" y="0"/>
              <a:ext cx="20726400" cy="1828800"/>
            </a:xfrm>
            <a:custGeom>
              <a:avLst/>
              <a:gdLst/>
              <a:ahLst/>
              <a:cxnLst/>
              <a:rect r="r" b="b" t="t" l="l"/>
              <a:pathLst>
                <a:path h="1828800" w="20726400">
                  <a:moveTo>
                    <a:pt x="0" y="0"/>
                  </a:moveTo>
                  <a:lnTo>
                    <a:pt x="20726400" y="0"/>
                  </a:lnTo>
                  <a:lnTo>
                    <a:pt x="20726400" y="1828800"/>
                  </a:lnTo>
                  <a:lnTo>
                    <a:pt x="0" y="1828800"/>
                  </a:lnTo>
                  <a:close/>
                </a:path>
              </a:pathLst>
            </a:custGeom>
            <a:blipFill>
              <a:blip r:embed="rId3">
                <a:alphaModFix amt="0"/>
              </a:blip>
              <a:stretch>
                <a:fillRect l="0" t="-170830" r="0" b="-170830"/>
              </a:stretch>
            </a:blipFill>
          </p:spPr>
        </p:sp>
        <p:sp>
          <p:nvSpPr>
            <p:cNvPr name="TextBox 6" id="6"/>
            <p:cNvSpPr txBox="true"/>
            <p:nvPr/>
          </p:nvSpPr>
          <p:spPr>
            <a:xfrm>
              <a:off x="0" y="-114300"/>
              <a:ext cx="20726400" cy="1943100"/>
            </a:xfrm>
            <a:prstGeom prst="rect">
              <a:avLst/>
            </a:prstGeom>
          </p:spPr>
          <p:txBody>
            <a:bodyPr anchor="ctr" rtlCol="false" tIns="0" lIns="0" bIns="0" rIns="0"/>
            <a:lstStyle/>
            <a:p>
              <a:pPr algn="l">
                <a:lnSpc>
                  <a:spcPts val="6336"/>
                </a:lnSpc>
              </a:pPr>
              <a:r>
                <a:rPr lang="en-US" sz="4400" b="true">
                  <a:solidFill>
                    <a:srgbClr val="FFFFFF"/>
                  </a:solidFill>
                  <a:latin typeface="Trebuchet MS Bold"/>
                  <a:ea typeface="Trebuchet MS Bold"/>
                  <a:cs typeface="Trebuchet MS Bold"/>
                  <a:sym typeface="Trebuchet MS Bold"/>
                </a:rPr>
                <a:t>The difference between monitoring trends and acting on trend intelligence</a:t>
              </a:r>
            </a:p>
          </p:txBody>
        </p:sp>
      </p:grpSp>
      <p:grpSp>
        <p:nvGrpSpPr>
          <p:cNvPr name="Group 7" id="7"/>
          <p:cNvGrpSpPr/>
          <p:nvPr/>
        </p:nvGrpSpPr>
        <p:grpSpPr>
          <a:xfrm rot="0">
            <a:off x="1554480" y="2231136"/>
            <a:ext cx="15544800" cy="768096"/>
            <a:chOff x="0" y="0"/>
            <a:chExt cx="20726400" cy="1024128"/>
          </a:xfrm>
        </p:grpSpPr>
        <p:sp>
          <p:nvSpPr>
            <p:cNvPr name="Freeform 8" id="8"/>
            <p:cNvSpPr/>
            <p:nvPr/>
          </p:nvSpPr>
          <p:spPr>
            <a:xfrm flipH="false" flipV="false" rot="0">
              <a:off x="0" y="0"/>
              <a:ext cx="20726400" cy="1024128"/>
            </a:xfrm>
            <a:custGeom>
              <a:avLst/>
              <a:gdLst/>
              <a:ahLst/>
              <a:cxnLst/>
              <a:rect r="r" b="b" t="t" l="l"/>
              <a:pathLst>
                <a:path h="1024128" w="20726400">
                  <a:moveTo>
                    <a:pt x="0" y="0"/>
                  </a:moveTo>
                  <a:lnTo>
                    <a:pt x="20726400" y="0"/>
                  </a:lnTo>
                  <a:lnTo>
                    <a:pt x="20726400" y="1024128"/>
                  </a:lnTo>
                  <a:lnTo>
                    <a:pt x="0" y="1024128"/>
                  </a:lnTo>
                  <a:close/>
                </a:path>
              </a:pathLst>
            </a:custGeom>
            <a:blipFill>
              <a:blip r:embed="rId3">
                <a:alphaModFix amt="0"/>
              </a:blip>
              <a:stretch>
                <a:fillRect l="0" t="-344340" r="0" b="-344340"/>
              </a:stretch>
            </a:blipFill>
          </p:spPr>
        </p:sp>
        <p:sp>
          <p:nvSpPr>
            <p:cNvPr name="TextBox 9" id="9"/>
            <p:cNvSpPr txBox="true"/>
            <p:nvPr/>
          </p:nvSpPr>
          <p:spPr>
            <a:xfrm>
              <a:off x="0" y="-9525"/>
              <a:ext cx="20726400" cy="1033653"/>
            </a:xfrm>
            <a:prstGeom prst="rect">
              <a:avLst/>
            </a:prstGeom>
          </p:spPr>
          <p:txBody>
            <a:bodyPr anchor="ctr" rtlCol="false" tIns="0" lIns="0" bIns="0" rIns="0"/>
            <a:lstStyle/>
            <a:p>
              <a:pPr algn="l">
                <a:lnSpc>
                  <a:spcPts val="3600"/>
                </a:lnSpc>
              </a:pPr>
              <a:r>
                <a:rPr lang="en-US" sz="3000">
                  <a:solidFill>
                    <a:srgbClr val="12B5C8"/>
                  </a:solidFill>
                  <a:latin typeface="Trebuchet MS"/>
                  <a:ea typeface="Trebuchet MS"/>
                  <a:cs typeface="Trebuchet MS"/>
                  <a:sym typeface="Trebuchet MS"/>
                </a:rPr>
                <a:t>is the difference between a weather app and a meteorologist.</a:t>
              </a:r>
            </a:p>
          </p:txBody>
        </p:sp>
      </p:grpSp>
      <p:sp>
        <p:nvSpPr>
          <p:cNvPr name="TextBox 10" id="10"/>
          <p:cNvSpPr txBox="true"/>
          <p:nvPr/>
        </p:nvSpPr>
        <p:spPr>
          <a:xfrm rot="0">
            <a:off x="1645920" y="3139059"/>
            <a:ext cx="15466066" cy="4712208"/>
          </a:xfrm>
          <a:prstGeom prst="rect">
            <a:avLst/>
          </a:prstGeom>
        </p:spPr>
        <p:txBody>
          <a:bodyPr anchor="t" rtlCol="false" tIns="0" lIns="0" bIns="0" rIns="0">
            <a:spAutoFit/>
          </a:bodyPr>
          <a:lstStyle/>
          <a:p>
            <a:pPr algn="l">
              <a:lnSpc>
                <a:spcPts val="4176"/>
              </a:lnSpc>
            </a:pPr>
            <a:r>
              <a:rPr lang="en-US" sz="2400">
                <a:solidFill>
                  <a:srgbClr val="A8C4CC"/>
                </a:solidFill>
                <a:latin typeface="Calibri (MS)"/>
                <a:ea typeface="Calibri (MS)"/>
                <a:cs typeface="Calibri (MS)"/>
                <a:sym typeface="Calibri (MS)"/>
              </a:rPr>
              <a:t>The weather app tells you it is raining. The meteorologist tells you the storm peaks in 6 hours and clears by Thursday, so you move the event to Wednesday, not cancel it.</a:t>
            </a:r>
          </a:p>
          <a:p>
            <a:pPr algn="l">
              <a:lnSpc>
                <a:spcPts val="4176"/>
              </a:lnSpc>
            </a:pPr>
          </a:p>
          <a:p>
            <a:pPr algn="l">
              <a:lnSpc>
                <a:spcPts val="4176"/>
              </a:lnSpc>
            </a:pPr>
            <a:r>
              <a:rPr lang="en-US" sz="2400">
                <a:solidFill>
                  <a:srgbClr val="A8C4CC"/>
                </a:solidFill>
                <a:latin typeface="Calibri (MS)"/>
                <a:ea typeface="Calibri (MS)"/>
                <a:cs typeface="Calibri (MS)"/>
                <a:sym typeface="Calibri (MS)"/>
              </a:rPr>
              <a:t>This dashboard is the meteorologist. It shows where the signal is real vs noise, which markets are building vs declining, which terms have runway vs have peaked  and when the landscape is so concentrated that no unrelated content can compete.</a:t>
            </a:r>
          </a:p>
          <a:p>
            <a:pPr algn="l">
              <a:lnSpc>
                <a:spcPts val="4176"/>
              </a:lnSpc>
            </a:pPr>
          </a:p>
          <a:p>
            <a:pPr algn="l">
              <a:lnSpc>
                <a:spcPts val="4176"/>
              </a:lnSpc>
            </a:pPr>
            <a:r>
              <a:rPr lang="en-US" sz="2400">
                <a:solidFill>
                  <a:srgbClr val="A8C4CC"/>
                </a:solidFill>
                <a:latin typeface="Calibri (MS)"/>
                <a:ea typeface="Calibri (MS)"/>
                <a:cs typeface="Calibri (MS)"/>
                <a:sym typeface="Calibri (MS)"/>
              </a:rPr>
              <a:t>Organisations that build this into their weekly planning cycle consistently show up at the right moment, in the right market, with the right message.</a:t>
            </a:r>
          </a:p>
        </p:txBody>
      </p:sp>
      <p:grpSp>
        <p:nvGrpSpPr>
          <p:cNvPr name="Group 11" id="11"/>
          <p:cNvGrpSpPr/>
          <p:nvPr/>
        </p:nvGrpSpPr>
        <p:grpSpPr>
          <a:xfrm rot="0">
            <a:off x="1541783" y="9222743"/>
            <a:ext cx="15570203" cy="27232"/>
            <a:chOff x="0" y="0"/>
            <a:chExt cx="20760271" cy="36309"/>
          </a:xfrm>
        </p:grpSpPr>
        <p:sp>
          <p:nvSpPr>
            <p:cNvPr name="Freeform 12" id="12"/>
            <p:cNvSpPr/>
            <p:nvPr/>
          </p:nvSpPr>
          <p:spPr>
            <a:xfrm flipH="false" flipV="false" rot="0">
              <a:off x="0" y="0"/>
              <a:ext cx="20760310" cy="36322"/>
            </a:xfrm>
            <a:custGeom>
              <a:avLst/>
              <a:gdLst/>
              <a:ahLst/>
              <a:cxnLst/>
              <a:rect r="r" b="b" t="t" l="l"/>
              <a:pathLst>
                <a:path h="36322" w="20760310">
                  <a:moveTo>
                    <a:pt x="0" y="0"/>
                  </a:moveTo>
                  <a:lnTo>
                    <a:pt x="20760310" y="0"/>
                  </a:lnTo>
                  <a:lnTo>
                    <a:pt x="20760310" y="36322"/>
                  </a:lnTo>
                  <a:lnTo>
                    <a:pt x="0" y="36322"/>
                  </a:lnTo>
                  <a:close/>
                </a:path>
              </a:pathLst>
            </a:custGeom>
            <a:solidFill>
              <a:srgbClr val="0A7E8C"/>
            </a:solidFill>
            <a:ln w="25400" cap="sq">
              <a:solidFill>
                <a:srgbClr val="0A7E8C"/>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DAHKW957jQo</dc:identifier>
  <dcterms:modified xsi:type="dcterms:W3CDTF">2011-08-01T06:04:30Z</dcterms:modified>
  <cp:revision>1</cp:revision>
  <dc:title>global_trend_intelligence.pptx</dc:title>
</cp:coreProperties>
</file>